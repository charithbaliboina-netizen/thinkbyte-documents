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ThinkByte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B82F6"/>
                </a:solidFill>
                <a:latin typeface="Calibri"/>
              </a:defRPr>
            </a:pPr>
            <a:r>
              <a:t>Where AI Strategy Becomes AI in Production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017520"/>
            <a:ext cx="36576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329184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Managed AI Teams  |  DevByte Platform  |  Scope-Based Projects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20+ Production AI Systems Shipped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30+ Agent Orchestration Experts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BITS Pilani + XLRI Leadership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Silicon Valley Strategy  +  Bangalore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1417320"/>
            <a:ext cx="30175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COST 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20240"/>
            <a:ext cx="2834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70% lower than US-native rates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74320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2788920"/>
            <a:ext cx="30175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SPEED TO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91840"/>
            <a:ext cx="2834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2-3x faster delivery, guaranteed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11480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4160520"/>
            <a:ext cx="30175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PROVEN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663440"/>
            <a:ext cx="28346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860-3,080% growth in case studies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Every Enterprise Will Be AI-Native by 2028.</a:t>
            </a:r>
            <a:br/>
            <a:r>
              <a:t>The Only Question Is Who Gets There First.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828800"/>
            <a:ext cx="3840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The Platform Shift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Cloud defined the 2010s. Mobile defined the 2015s.</a:t>
            </a:r>
          </a:p>
          <a:p>
            <a:pPr>
              <a:spcAft>
                <a:spcPts val="48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AI Agents will define the rest of this decade.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400" b="0">
                <a:solidFill>
                  <a:srgbClr val="E5E7EB"/>
                </a:solidFill>
                <a:latin typeface="Calibri"/>
              </a:defRPr>
            </a:pPr>
            <a:r>
              <a:t>The enterprises that operationalize AI-native workflows</a:t>
            </a:r>
          </a:p>
          <a:p>
            <a:pPr>
              <a:spcAft>
                <a:spcPts val="480"/>
              </a:spcAft>
              <a:defRPr sz="1400" b="0">
                <a:solidFill>
                  <a:srgbClr val="E5E7EB"/>
                </a:solidFill>
                <a:latin typeface="Calibri"/>
              </a:defRPr>
            </a:pPr>
            <a:r>
              <a:t>first will compound advantages that late movers cannot</a:t>
            </a:r>
          </a:p>
          <a:p>
            <a:pPr>
              <a:spcAft>
                <a:spcPts val="480"/>
              </a:spcAft>
              <a:defRPr sz="1400" b="0">
                <a:solidFill>
                  <a:srgbClr val="E5E7EB"/>
                </a:solidFill>
                <a:latin typeface="Calibri"/>
              </a:defRPr>
            </a:pPr>
            <a:r>
              <a:t>replicate. This is not incremental improvement -</a:t>
            </a:r>
          </a:p>
          <a:p>
            <a:pPr>
              <a:spcAft>
                <a:spcPts val="480"/>
              </a:spcAft>
              <a:defRPr sz="1400" b="0">
                <a:solidFill>
                  <a:srgbClr val="E5E7EB"/>
                </a:solidFill>
                <a:latin typeface="Calibri"/>
              </a:defRPr>
            </a:pPr>
            <a:r>
              <a:t>it is a structural shift in how work gets done.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10312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0" y="2148839"/>
            <a:ext cx="4389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2286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ENTERPRISE AI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651760"/>
            <a:ext cx="42062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72% of Fortune 500 initiated AI agent projects in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20040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0" y="3246120"/>
            <a:ext cx="4389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3383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MARKET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749039"/>
            <a:ext cx="42062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 agent market projected to exceed $65B by 2028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29768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4343400"/>
            <a:ext cx="4389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44805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DEVELOPER 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846320"/>
            <a:ext cx="42062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26% increase in completed tasks with AI assistants (GitHub, 4K+ devs)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539496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0" y="5440680"/>
            <a:ext cx="4389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5577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ADOPTION VELOCITY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943600"/>
            <a:ext cx="42062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51% of enterprise developers now using AI code copilots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COMPLICATION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87% of AI Projects Die Before Production.</a:t>
            </a:r>
            <a:br/>
            <a:r>
              <a:t>The Implementation Gap Is the Real Competitive Threat.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01168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237744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31089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TALENT SCARCITY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92608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&lt; 5,000 production-grade LangGraph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engineers exist worldwide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4-6 months average hiring time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$180K-$250K/yr fully loaded (US)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37744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2423160"/>
            <a:ext cx="31089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EXECUTION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26080"/>
            <a:ext cx="292608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Solo freelancers ghost on complex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 projects ~60% of the time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Offshore shops deliver demos, not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production systems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37744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423160"/>
            <a:ext cx="31089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CAPITAL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80"/>
            <a:ext cx="292608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Average failed AI pilot costs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$500K - $2M in wasted resources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Time, talent, and opportunity cost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compound with every failed attempt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THE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How can enterprises operationalize AI at speed while mitigating technical and capital risk?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Three Interlocking Capabilities That Close</a:t>
            </a:r>
            <a:br/>
            <a:r>
              <a:t>the Implementation Gap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828800"/>
            <a:ext cx="3840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219456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40279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MANAGED AI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Solves: Talent Scarcity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India-US corridor advantage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70% cost reduction vs US rates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80% faster setup (2 weeks vs 4-6 mo)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PM + Architect + Tech Lead included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2x faster delivery guarantee</a:t>
            </a:r>
          </a:p>
          <a:p>
            <a:pPr>
              <a:spcAft>
                <a:spcPts val="359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or 15% refund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2240279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DEVBYTE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Solves: Execution Failure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AI-driven SDLC automation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2-3x faster delivery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90% one-shot success (routine tasks)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3-tier knowledge architecture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'Jira meets AI coding agents'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9456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240279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SCOPE-BASED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432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Solves: Capital Risk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Prove ROI in 2-4 weeks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$5K-$10K POC investment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860-3,080% growth case studies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100% IP ownership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50% POC fees credited to FTE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THE FLYWHEEL:  Scope projects validate  --&gt;  Managed teams scale  --&gt;  DevByte accelerates  --&gt;  Repeat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MANAGED AI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Managed AI Team Model Delivers a 70%</a:t>
            </a:r>
            <a:br/>
            <a:r>
              <a:t>Force Multiplier on Engineering Spend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46304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Cost Comparison: ThinkByte vs US Market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ThinkByte/mo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 Market/mo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AI/ML Engineer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$2,800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$13,000-15,000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78-81%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Backend Sr (Python)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$2,800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$12,000-14,000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77-80%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Frontend Engineer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$1,500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$10,000-12,000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85-88%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Full Stack (Mid-Sr)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$2,100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$11,000-13,000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81-84%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PM / Coordinator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$8,000-10,000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Tech Lead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$14,000-18,000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6459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1691640"/>
            <a:ext cx="3931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SAMPLE: 3-ENGINEER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194560"/>
            <a:ext cx="37490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ThinkByte: $5,500-$6,500/month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US Equivalent: $35,000-$45,000/month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926080"/>
            <a:ext cx="411480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297180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31089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WHAT'S INCLUDED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4747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Dedicated engineers + PM coordination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Code reviews + DevOps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Weekly reports + Slack/Teams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 agents working alongside engineers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297680"/>
            <a:ext cx="411480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4343400"/>
            <a:ext cx="39319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44805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GUARANTEES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846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2x faster delivery or 15% refund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7-day replacement SLA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12-month price lock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100% IP ownership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76072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806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  <a:latin typeface="Calibri"/>
              </a:defRPr>
            </a:pPr>
            <a:r>
              <a:t>LEADERSHIP:  Founded by BITS Pilani + XLRI alumni  |  12+ years enterprise experience  |  Previously VP at MediBuddy (15x growth)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MANAGED AI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From Discovery Call to First Sprint in 14 Days.</a:t>
            </a:r>
            <a:br/>
            <a:r>
              <a:t>Not 14 Weeks.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463040" y="173736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40" y="1965960"/>
            <a:ext cx="1783080" cy="0"/>
          </a:xfrm>
          <a:prstGeom prst="line">
            <a:avLst/>
          </a:prstGeom>
          <a:ln w="127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Day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Discovery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Calibri"/>
              </a:defRPr>
            </a:pPr>
            <a:r>
              <a:t>Project goals, team needs,</a:t>
            </a:r>
            <a:br/>
            <a:r>
              <a:t>constraints, ROI projection</a:t>
            </a:r>
          </a:p>
        </p:txBody>
      </p:sp>
      <p:sp>
        <p:nvSpPr>
          <p:cNvPr id="10" name="Oval 9"/>
          <p:cNvSpPr/>
          <p:nvPr/>
        </p:nvSpPr>
        <p:spPr>
          <a:xfrm>
            <a:off x="3703320" y="173736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0520" y="1965960"/>
            <a:ext cx="1783080" cy="0"/>
          </a:xfrm>
          <a:prstGeom prst="line">
            <a:avLst/>
          </a:prstGeom>
          <a:ln w="127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7180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Day 3-5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Team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Calibri"/>
              </a:defRPr>
            </a:pPr>
            <a:r>
              <a:t>Custom configuration,</a:t>
            </a:r>
            <a:br/>
            <a:r>
              <a:t>plan, pricing breakdown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173736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0" y="1965960"/>
            <a:ext cx="1783080" cy="0"/>
          </a:xfrm>
          <a:prstGeom prst="line">
            <a:avLst/>
          </a:prstGeom>
          <a:ln w="127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1208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Day 5-7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926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Calibri"/>
              </a:defRPr>
            </a:pPr>
            <a:r>
              <a:t>NDA, kick-off, repo setup,</a:t>
            </a:r>
            <a:br/>
            <a:r>
              <a:t>access provisioning</a:t>
            </a:r>
          </a:p>
        </p:txBody>
      </p:sp>
      <p:sp>
        <p:nvSpPr>
          <p:cNvPr id="20" name="Oval 19"/>
          <p:cNvSpPr/>
          <p:nvPr/>
        </p:nvSpPr>
        <p:spPr>
          <a:xfrm>
            <a:off x="8183880" y="173736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41080" y="1965960"/>
            <a:ext cx="1783080" cy="0"/>
          </a:xfrm>
          <a:prstGeom prst="line">
            <a:avLst/>
          </a:prstGeom>
          <a:ln w="127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5236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Sprint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926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Calibri"/>
              </a:defRPr>
            </a:pPr>
            <a:r>
              <a:t>Architecture planning,</a:t>
            </a:r>
            <a:br/>
            <a:r>
              <a:t>tooling setup, backlog</a:t>
            </a:r>
          </a:p>
        </p:txBody>
      </p:sp>
      <p:sp>
        <p:nvSpPr>
          <p:cNvPr id="25" name="Oval 24"/>
          <p:cNvSpPr/>
          <p:nvPr/>
        </p:nvSpPr>
        <p:spPr>
          <a:xfrm>
            <a:off x="10424160" y="17373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Week 2+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Full Velocity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926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Calibri"/>
              </a:defRPr>
            </a:pPr>
            <a:r>
              <a:t>Daily standups, sprints,</a:t>
            </a:r>
            <a:br/>
            <a:r>
              <a:t>weekly 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Engagement Models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9768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343400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Monthly FTE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46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Best for: Ongoing product development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Minimum: 6 months min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Payment: Monthly advance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429768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0559" y="4343400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Hourly Retainer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846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Best for: POC / exploration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Minimum: 10 hours min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Payment: Weekly prepaid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29768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4343400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Fixed Scope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8463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Best for: Defined deliverable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Minimum: $5K minimum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Payment: Milestone-based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Working Hours: Mon-Fri, 9-hour window within 09:00-21:00 IST  |  Overlaps US mornings + EU afternoons  |  Dedicated Slack/Teams channel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DEVBYTE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DevByte Turns Every Engineer into a 3x Engineer</a:t>
            </a:r>
            <a:br/>
            <a:r>
              <a:t>by Automating the Execution Layer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"Jira meets AI coding agents" - Project management + autonomous AI code execution in one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1.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Web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 planning agents create PRDs,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architecture docs, and stories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Agents: Analyst, PM, Architect,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Scrum Master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Output: Specs + knowledge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240280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2.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Desktop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8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 coding agents execute tasks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 isolated Git worktrees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90% one-shot success rate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Parallel story development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Real-time progress via MCP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9456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240280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377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3. REVIEW &amp; 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92608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Human review + approval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Merge conflict resolution agent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Push to GitHub, raise PR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Sequential merging ensures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code integrity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0D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440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KEY DIFFERENTIATOR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669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Humans focus on: Strategy, planning, architecture, complex logic, quality review</a:t>
            </a:r>
          </a:p>
          <a:p>
            <a:pPr>
              <a:spcAft>
                <a:spcPts val="480"/>
              </a:spcAft>
              <a:defRPr sz="1300" b="0">
                <a:solidFill>
                  <a:srgbClr val="E5E7EB"/>
                </a:solidFill>
                <a:latin typeface="Calibri"/>
              </a:defRPr>
            </a:pPr>
            <a:r>
              <a:t>AI agents handle: Boilerplate, CRUD, testing, documentation, routine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DEVBYTE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Context Engineering Is the New Competitive Moat.</a:t>
            </a:r>
            <a:br/>
            <a:r>
              <a:t>DevByte's 3-Tier Knowledge System Proves It.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645920"/>
            <a:ext cx="5029200" cy="8686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TIER 1: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Calibri"/>
              </a:defRPr>
            </a:pPr>
            <a:r>
              <a:t>Generic framework knowledge (LangGraph, Python, Supabase docs). Provided by ThinkByte.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97480"/>
            <a:ext cx="4754880" cy="8686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TIER 2: 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63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Calibri"/>
              </a:defRPr>
            </a:pPr>
            <a:r>
              <a:t>Company standards, tech preferences, coding conventions, PR guidelines. Shared across projects.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749039"/>
            <a:ext cx="4480560" cy="8686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7947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TIER 3: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  <a:latin typeface="Calibri"/>
              </a:defRPr>
            </a:pPr>
            <a:r>
              <a:t>PRDs, architecture docs, business rules, UI specs. Overrides org defaults when needed.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DevByte vs AI Coding Tools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0" y="201168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97280"/>
                <a:gridCol w="1097280"/>
                <a:gridCol w="155448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Cursor/Copilot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Code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DevByte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Context Hierarchy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Docs-based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3-Tier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Neo4j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Project Mgmt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Full SDLC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Parallel Exec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Worktrees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Collaboration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Individual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Individual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Multi-user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Human-in-Loop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731520" y="5029200"/>
            <a:ext cx="10698480" cy="1371600"/>
          </a:xfrm>
          <a:prstGeom prst="roundRect">
            <a:avLst>
              <a:gd name="adj" fmla="val 5000"/>
            </a:avLst>
          </a:prstGeom>
          <a:solidFill>
            <a:srgbClr val="0D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1206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THE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394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  <a:latin typeface="Calibri"/>
              </a:defRPr>
            </a:pPr>
            <a:r>
              <a:t>"Feed bad context, the output will be bad. A lot of data science problems start with data cleaning</a:t>
            </a:r>
            <a:br/>
            <a:r>
              <a:t>and data organization. Context quality = output quality."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9436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- Vinay Kovvuri, Co-Founder &amp; DevByte Product Lead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SCOPE-BASED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860-3,080% Growth Isn't a Promise. It's a Measured Outcome.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1887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46304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51206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SEOByte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937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Multi-Agent SEO Platform  |  5 months to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Keyword research:  1 week -&gt; 30 min (99.6% faster)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Traffic growth:  860-3,080% increases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API costs:  80%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59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Tech: LangGraph, GPT-4, Pinecone, 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508760"/>
            <a:ext cx="51206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0020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NinjaHire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74520"/>
            <a:ext cx="4937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AI Recruitment Platform  |  6 months to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9456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Screening:  2 days -&gt; 2 hours (90% faster)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Cost per hire:  60% reduction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Operations:  80% automated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37559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Tech: LangGraph, LangSmith, MS Teams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069080"/>
            <a:ext cx="51206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Anvayaa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34840"/>
            <a:ext cx="4937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Patent-Pending Dementia Care  |  6 months to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Caregiver stress:  40% reduction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Rating:  5/5 stars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Innovation:  Patent filed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9788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Tech: Flutter, LangGraph, TensorFlow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02336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4069080"/>
            <a:ext cx="512064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16052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Piaxis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434840"/>
            <a:ext cx="4937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Architectural AI Automation  |  4 months to production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75488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Detailing time:  80% reduction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Firms using:  5-20 in production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Hours saved:  500-1,000+ per firm/year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89788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Tech: LangGraph, .NET/C#, Weaviate, AWS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Four Specialized Brands. One Integrated AI Capability Stack.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188720"/>
            <a:ext cx="3840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46304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4864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ThinkByte.AI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thinkbyte.ai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 Consulting + Managed Teams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000" b="1">
                <a:solidFill>
                  <a:srgbClr val="E5E7EB"/>
                </a:solidFill>
                <a:latin typeface="Calibri"/>
              </a:defRPr>
            </a:pPr>
            <a:r>
              <a:t>Target: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Companies building AI products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000" b="1">
                <a:solidFill>
                  <a:srgbClr val="E5E7EB"/>
                </a:solidFill>
                <a:latin typeface="Calibri"/>
              </a:defRPr>
            </a:pPr>
            <a:r>
              <a:t>Proof:</a:t>
            </a:r>
          </a:p>
          <a:p>
            <a:pPr>
              <a:spcAft>
                <a:spcPts val="480"/>
              </a:spcAft>
              <a:defRPr sz="1100" b="0">
                <a:solidFill>
                  <a:srgbClr val="10B981"/>
                </a:solidFill>
                <a:latin typeface="Calibri"/>
              </a:defRPr>
            </a:pPr>
            <a:r>
              <a:t>20+ production deployments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59" y="146304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59" y="1463040"/>
            <a:ext cx="54864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DevByte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Coming Soon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2860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AI-Driven SDLC Automation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000" b="1">
                <a:solidFill>
                  <a:srgbClr val="E5E7EB"/>
                </a:solidFill>
                <a:latin typeface="Calibri"/>
              </a:defRPr>
            </a:pPr>
            <a:r>
              <a:t>Target: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Internal + B2B (embedded systems)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000" b="1">
                <a:solidFill>
                  <a:srgbClr val="E5E7EB"/>
                </a:solidFill>
                <a:latin typeface="Calibri"/>
              </a:defRPr>
            </a:pPr>
            <a:r>
              <a:t>Proof:</a:t>
            </a:r>
          </a:p>
          <a:p>
            <a:pPr>
              <a:spcAft>
                <a:spcPts val="480"/>
              </a:spcAft>
              <a:defRPr sz="1100" b="0">
                <a:solidFill>
                  <a:srgbClr val="10B981"/>
                </a:solidFill>
                <a:latin typeface="Calibri"/>
              </a:defRPr>
            </a:pPr>
            <a:r>
              <a:t>First paying client (GBS Tech)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799" y="146304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799" y="1463040"/>
            <a:ext cx="54864" cy="2926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SEOByte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app.seobyte.ai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2860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AI-Powered SEO Platform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000" b="1">
                <a:solidFill>
                  <a:srgbClr val="E5E7EB"/>
                </a:solidFill>
                <a:latin typeface="Calibri"/>
              </a:defRPr>
            </a:pPr>
            <a:r>
              <a:t>Target: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SEO agencies + brands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000" b="1">
                <a:solidFill>
                  <a:srgbClr val="E5E7EB"/>
                </a:solidFill>
                <a:latin typeface="Calibri"/>
              </a:defRPr>
            </a:pPr>
            <a:r>
              <a:t>Proof:</a:t>
            </a:r>
          </a:p>
          <a:p>
            <a:pPr>
              <a:spcAft>
                <a:spcPts val="480"/>
              </a:spcAft>
              <a:defRPr sz="1100" b="0">
                <a:solidFill>
                  <a:srgbClr val="10B981"/>
                </a:solidFill>
                <a:latin typeface="Calibri"/>
              </a:defRPr>
            </a:pPr>
            <a:r>
              <a:t>860-3,080% traffic growth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46304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463040"/>
            <a:ext cx="54864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19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GrowthByte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1920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growthbyte.ai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22860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AI-Powered Marketing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000" b="1">
                <a:solidFill>
                  <a:srgbClr val="E5E7EB"/>
                </a:solidFill>
                <a:latin typeface="Calibri"/>
              </a:defRPr>
            </a:pPr>
            <a:r>
              <a:t>Target: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Brands scaling growth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000" b="1">
                <a:solidFill>
                  <a:srgbClr val="E5E7EB"/>
                </a:solidFill>
                <a:latin typeface="Calibri"/>
              </a:defRPr>
            </a:pPr>
            <a:r>
              <a:t>Proof:</a:t>
            </a:r>
          </a:p>
          <a:p>
            <a:pPr>
              <a:spcAft>
                <a:spcPts val="480"/>
              </a:spcAft>
              <a:defRPr sz="1100" b="0">
                <a:solidFill>
                  <a:srgbClr val="10B981"/>
                </a:solidFill>
                <a:latin typeface="Calibri"/>
              </a:defRPr>
            </a:pPr>
            <a:r>
              <a:t>Data-driven marketing automation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6344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7091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WHY THIS MATTERS TO YOU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937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We don't just build AI for clients - we build AI for ourselves. DevByte powers our delivery.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SEOByte proves we can ship 20+ agent platforms. You benefit from our own production experience.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BITS Pilani Engineering. MediBuddy Scale.</a:t>
            </a:r>
            <a:br/>
            <a:r>
              <a:t>20+ Production AI Systems Shipped.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280160"/>
            <a:ext cx="3840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55448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SriHarsha Thota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Calibri"/>
              </a:defRPr>
            </a:pPr>
            <a:r>
              <a:t>Co-Founder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B.E., BITS Pilani (2009-2013)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VP Consumer Growth, MediBuddy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Delivered 15x business growth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Angel investor: Health, AI, Travel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12+ years tech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Vinay Kumar Kovvuri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Calibri"/>
              </a:defRPr>
            </a:pPr>
            <a:r>
              <a:t>Co-Founder &amp; DevByte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BITS Pilani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10+ years AI/ML product leadership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Shipped 20+ production AI systems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Leads DevByte platform development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Deep LangGraph expertise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Raghu Gorrela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Calibri"/>
              </a:defRPr>
            </a:pPr>
            <a:r>
              <a:t>Co-Founder, GrowthByte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BITS Pilani + XLRI Jamshedpur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Global client engagements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Go-to-market strategy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Growth + marketing expertise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Company Facts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Founded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475488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4800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HQ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Bangalore, Karnataka (Indiranagar)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75488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800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Global Presence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Silicon Valley + Bangalore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75488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4800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Funding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Bootstrapped (revenue-funded)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75488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4800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30+ members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475488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4800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Deployments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20+ production AI systems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ThinkByte Technologies Private Limited  |  CIN: U62013KA2023PTC179630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Start with Proof. Scale with Confidence.</a:t>
            </a:r>
            <a:br/>
            <a:r>
              <a:t>The First Step Takes 30 Minutes.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46304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73736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Discovery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Investment: 30 minutes of your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Timeline: This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Project assessment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Team proposal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ROI projection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No commitment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783080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Scope-Based 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Investment: $5K - $10K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Timeline: 2-4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26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Working proof-of-concept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Architecture blueprint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Go/no-go recommendation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50% credited to FTE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73736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783080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Managed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Investment: $5,500 - $6,500/mo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Timeline: Start in 2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926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Dedicated 3-engineer team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PM + Architect included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2x speed guarantee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12-month price lock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6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9834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BUILT-IN RISK MITIGATION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257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2x Faster or 15% Refund   |   7-Day Replacement SLA   |   12-Month Price Lock   |   100% IP Ownership   |   Standard NDA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thinkbyte.ai   |   linkedin.com/company/thinkbyte.ai   |   Schedule a call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