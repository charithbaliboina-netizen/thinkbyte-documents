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3716000" cy="8572500"/>
  <p:notesSz cx="6858000" cy="9144000"/>
  <p:embeddedFontLst>
    <p:embeddedFont>
      <p:font typeface="Montserrat Ultra-Bold" charset="1" panose="00000900000000000000"/>
      <p:regular r:id="rId13"/>
    </p:embeddedFont>
    <p:embeddedFont>
      <p:font typeface="Montserrat Medium" charset="1" panose="00000600000000000000"/>
      <p:regular r:id="rId14"/>
    </p:embeddedFont>
    <p:embeddedFont>
      <p:font typeface="Montserrat Bold" charset="1" panose="00000800000000000000"/>
      <p:regular r:id="rId15"/>
    </p:embeddedFont>
    <p:embeddedFont>
      <p:font typeface="Montserrat" charset="1" panose="00000500000000000000"/>
      <p:regular r:id="rId16"/>
    </p:embeddedFont>
    <p:embeddedFont>
      <p:font typeface="Montserrat Semi-Bold" charset="1" panose="000007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png" Type="http://schemas.openxmlformats.org/officeDocument/2006/relationships/image"/><Relationship Id="rId14" Target="../media/image12.pn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17" Target="../media/image15.png" Type="http://schemas.openxmlformats.org/officeDocument/2006/relationships/image"/><Relationship Id="rId18" Target="../media/image16.svg" Type="http://schemas.openxmlformats.org/officeDocument/2006/relationships/image"/><Relationship Id="rId19" Target="../media/image17.png" Type="http://schemas.openxmlformats.org/officeDocument/2006/relationships/image"/><Relationship Id="rId2" Target="../media/image1.png" Type="http://schemas.openxmlformats.org/officeDocument/2006/relationships/image"/><Relationship Id="rId20" Target="https://piaxis.ai" TargetMode="External" Type="http://schemas.openxmlformats.org/officeDocument/2006/relationships/hyperlink"/><Relationship Id="rId21" Target="https://piaxis.ai" TargetMode="External" Type="http://schemas.openxmlformats.org/officeDocument/2006/relationships/hyperlink"/><Relationship Id="rId3" Target="https://piaxis.ai" TargetMode="External" Type="http://schemas.openxmlformats.org/officeDocument/2006/relationships/hyperlink"/><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16" Target="../media/image30.png" Type="http://schemas.openxmlformats.org/officeDocument/2006/relationships/image"/><Relationship Id="rId17" Target="../media/image31.svg" Type="http://schemas.openxmlformats.org/officeDocument/2006/relationships/image"/><Relationship Id="rId18" Target="https://epirelief.co/home/" TargetMode="External" Type="http://schemas.openxmlformats.org/officeDocument/2006/relationships/hyperlink"/><Relationship Id="rId2" Target="../media/image18.png" Type="http://schemas.openxmlformats.org/officeDocument/2006/relationships/image"/><Relationship Id="rId3" Target="https://epirelief.co/home/" TargetMode="External" Type="http://schemas.openxmlformats.org/officeDocument/2006/relationships/hyperlink"/><Relationship Id="rId4" Target="../media/image19.png" Type="http://schemas.openxmlformats.org/officeDocument/2006/relationships/image"/><Relationship Id="rId5" Target="https://epirelief.co/home/" TargetMode="External" Type="http://schemas.openxmlformats.org/officeDocument/2006/relationships/hyperlink"/><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svg" Type="http://schemas.openxmlformats.org/officeDocument/2006/relationships/image"/><Relationship Id="rId12" Target="../media/image42.png" Type="http://schemas.openxmlformats.org/officeDocument/2006/relationships/image"/><Relationship Id="rId13" Target="../media/image43.svg" Type="http://schemas.openxmlformats.org/officeDocument/2006/relationships/image"/><Relationship Id="rId14" Target="../media/image44.png" Type="http://schemas.openxmlformats.org/officeDocument/2006/relationships/image"/><Relationship Id="rId15" Target="../media/image45.svg" Type="http://schemas.openxmlformats.org/officeDocument/2006/relationships/image"/><Relationship Id="rId16" Target="../media/image46.png" Type="http://schemas.openxmlformats.org/officeDocument/2006/relationships/image"/><Relationship Id="rId17" Target="../media/image47.svg" Type="http://schemas.openxmlformats.org/officeDocument/2006/relationships/image"/><Relationship Id="rId18" Target="../media/image48.png" Type="http://schemas.openxmlformats.org/officeDocument/2006/relationships/image"/><Relationship Id="rId19" Target="https://seobyte.ai" TargetMode="External" Type="http://schemas.openxmlformats.org/officeDocument/2006/relationships/hyperlink"/><Relationship Id="rId2" Target="../media/image32.png" Type="http://schemas.openxmlformats.org/officeDocument/2006/relationships/image"/><Relationship Id="rId20" Target="../media/image49.png" Type="http://schemas.openxmlformats.org/officeDocument/2006/relationships/image"/><Relationship Id="rId21" Target="https://seobyte.ai" TargetMode="External" Type="http://schemas.openxmlformats.org/officeDocument/2006/relationships/hyperlink"/><Relationship Id="rId22" Target="https://seobyte.ai" TargetMode="External" Type="http://schemas.openxmlformats.org/officeDocument/2006/relationships/hyperlink"/><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57.png" Type="http://schemas.openxmlformats.org/officeDocument/2006/relationships/image"/><Relationship Id="rId13" Target="../media/image58.svg" Type="http://schemas.openxmlformats.org/officeDocument/2006/relationships/image"/><Relationship Id="rId14" Target="../media/image59.png" Type="http://schemas.openxmlformats.org/officeDocument/2006/relationships/image"/><Relationship Id="rId15" Target="https://anvayaa.com" TargetMode="External" Type="http://schemas.openxmlformats.org/officeDocument/2006/relationships/hyperlink"/><Relationship Id="rId16" Target="https://anvayaa.com" TargetMode="External" Type="http://schemas.openxmlformats.org/officeDocument/2006/relationships/hyperlink"/><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png" Type="http://schemas.openxmlformats.org/officeDocument/2006/relationships/image"/><Relationship Id="rId6" Target="https://anvayaa.com" TargetMode="External" Type="http://schemas.openxmlformats.org/officeDocument/2006/relationships/hyperlink"/><Relationship Id="rId7" Target="../media/image54.png" Type="http://schemas.openxmlformats.org/officeDocument/2006/relationships/image"/><Relationship Id="rId8" Target="../media/image55.png" Type="http://schemas.openxmlformats.org/officeDocument/2006/relationships/image"/><Relationship Id="rId9" Target="../media/image5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svg" Type="http://schemas.openxmlformats.org/officeDocument/2006/relationships/image"/><Relationship Id="rId12" Target="../media/image65.png" Type="http://schemas.openxmlformats.org/officeDocument/2006/relationships/image"/><Relationship Id="rId13" Target="../media/image66.svg" Type="http://schemas.openxmlformats.org/officeDocument/2006/relationships/image"/><Relationship Id="rId14" Target="../media/image67.png" Type="http://schemas.openxmlformats.org/officeDocument/2006/relationships/image"/><Relationship Id="rId15" Target="../media/image68.svg" Type="http://schemas.openxmlformats.org/officeDocument/2006/relationships/image"/><Relationship Id="rId16" Target="../media/image69.png" Type="http://schemas.openxmlformats.org/officeDocument/2006/relationships/image"/><Relationship Id="rId17" Target="https://gccxglobal.com" TargetMode="External" Type="http://schemas.openxmlformats.org/officeDocument/2006/relationships/hyperlink"/><Relationship Id="rId18" Target="https://gccxglobal.com" TargetMode="External" Type="http://schemas.openxmlformats.org/officeDocument/2006/relationships/hyperlink"/><Relationship Id="rId2" Target="../media/image60.png" Type="http://schemas.openxmlformats.org/officeDocument/2006/relationships/image"/><Relationship Id="rId3" Target="../media/image61.svg" Type="http://schemas.openxmlformats.org/officeDocument/2006/relationships/image"/><Relationship Id="rId4" Target="../media/image38.png" Type="http://schemas.openxmlformats.org/officeDocument/2006/relationships/image"/><Relationship Id="rId5" Target="../media/image22.png" Type="http://schemas.openxmlformats.org/officeDocument/2006/relationships/image"/><Relationship Id="rId6" Target="../media/image62.png" Type="http://schemas.openxmlformats.org/officeDocument/2006/relationships/image"/><Relationship Id="rId7" Target="../media/image63.png" Type="http://schemas.openxmlformats.org/officeDocument/2006/relationships/image"/><Relationship Id="rId8" Target="../media/image64.png" Type="http://schemas.openxmlformats.org/officeDocument/2006/relationships/image"/><Relationship Id="rId9" Target="https://gccxglobal.com"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png" Type="http://schemas.openxmlformats.org/officeDocument/2006/relationships/image"/><Relationship Id="rId11" Target="../media/image75.svg" Type="http://schemas.openxmlformats.org/officeDocument/2006/relationships/image"/><Relationship Id="rId12" Target="../media/image76.png" Type="http://schemas.openxmlformats.org/officeDocument/2006/relationships/image"/><Relationship Id="rId13" Target="../media/image77.svg" Type="http://schemas.openxmlformats.org/officeDocument/2006/relationships/image"/><Relationship Id="rId14" Target="../media/image78.png" Type="http://schemas.openxmlformats.org/officeDocument/2006/relationships/image"/><Relationship Id="rId15" Target="https://www.ninjahire.co" TargetMode="External" Type="http://schemas.openxmlformats.org/officeDocument/2006/relationships/hyperlink"/><Relationship Id="rId16" Target="../media/image79.png" Type="http://schemas.openxmlformats.org/officeDocument/2006/relationships/image"/><Relationship Id="rId17" Target="https://www.ninjahire.co" TargetMode="External" Type="http://schemas.openxmlformats.org/officeDocument/2006/relationships/hyperlink"/><Relationship Id="rId18" Target="https://www.ninjahire.co" TargetMode="External" Type="http://schemas.openxmlformats.org/officeDocument/2006/relationships/hyperlink"/><Relationship Id="rId2" Target="../media/image70.png" Type="http://schemas.openxmlformats.org/officeDocument/2006/relationships/image"/><Relationship Id="rId3" Target="../media/image71.svg" Type="http://schemas.openxmlformats.org/officeDocument/2006/relationships/image"/><Relationship Id="rId4" Target="../media/image38.png" Type="http://schemas.openxmlformats.org/officeDocument/2006/relationships/image"/><Relationship Id="rId5" Target="../media/image22.png" Type="http://schemas.openxmlformats.org/officeDocument/2006/relationships/image"/><Relationship Id="rId6" Target="../media/image62.png" Type="http://schemas.openxmlformats.org/officeDocument/2006/relationships/image"/><Relationship Id="rId7" Target="../media/image63.png" Type="http://schemas.openxmlformats.org/officeDocument/2006/relationships/image"/><Relationship Id="rId8" Target="../media/image72.png" Type="http://schemas.openxmlformats.org/officeDocument/2006/relationships/image"/><Relationship Id="rId9" Target="../media/image7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2.png" Type="http://schemas.openxmlformats.org/officeDocument/2006/relationships/image"/><Relationship Id="rId11" Target="../media/image83.svg" Type="http://schemas.openxmlformats.org/officeDocument/2006/relationships/image"/><Relationship Id="rId12" Target="../media/image84.png" Type="http://schemas.openxmlformats.org/officeDocument/2006/relationships/image"/><Relationship Id="rId13" Target="../media/image85.svg" Type="http://schemas.openxmlformats.org/officeDocument/2006/relationships/image"/><Relationship Id="rId14" Target="../media/image86.png" Type="http://schemas.openxmlformats.org/officeDocument/2006/relationships/image"/><Relationship Id="rId15" Target="https://anvayaa.com/dementia-care/" TargetMode="External" Type="http://schemas.openxmlformats.org/officeDocument/2006/relationships/hyperlink"/><Relationship Id="rId16" Target="https://anvayaa.com/dementia-care/" TargetMode="External" Type="http://schemas.openxmlformats.org/officeDocument/2006/relationships/hyperlink"/><Relationship Id="rId17" Target="../media/image53.png" Type="http://schemas.openxmlformats.org/officeDocument/2006/relationships/image"/><Relationship Id="rId18" Target="https://anvayaa.com" TargetMode="External" Type="http://schemas.openxmlformats.org/officeDocument/2006/relationships/hyperlink"/><Relationship Id="rId2" Target="../media/image50.png" Type="http://schemas.openxmlformats.org/officeDocument/2006/relationships/image"/><Relationship Id="rId3" Target="../media/image51.svg" Type="http://schemas.openxmlformats.org/officeDocument/2006/relationships/image"/><Relationship Id="rId4" Target="../media/image38.png" Type="http://schemas.openxmlformats.org/officeDocument/2006/relationships/image"/><Relationship Id="rId5" Target="../media/image22.png" Type="http://schemas.openxmlformats.org/officeDocument/2006/relationships/image"/><Relationship Id="rId6" Target="../media/image62.png" Type="http://schemas.openxmlformats.org/officeDocument/2006/relationships/image"/><Relationship Id="rId7" Target="../media/image63.png" Type="http://schemas.openxmlformats.org/officeDocument/2006/relationships/image"/><Relationship Id="rId8" Target="../media/image80.png" Type="http://schemas.openxmlformats.org/officeDocument/2006/relationships/image"/><Relationship Id="rId9" Target="../media/image8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9F6"/>
        </a:solidFill>
      </p:bgPr>
    </p:bg>
    <p:spTree>
      <p:nvGrpSpPr>
        <p:cNvPr id="1" name=""/>
        <p:cNvGrpSpPr/>
        <p:nvPr/>
      </p:nvGrpSpPr>
      <p:grpSpPr>
        <a:xfrm>
          <a:off x="0" y="0"/>
          <a:ext cx="0" cy="0"/>
          <a:chOff x="0" y="0"/>
          <a:chExt cx="0" cy="0"/>
        </a:xfrm>
      </p:grpSpPr>
      <p:grpSp>
        <p:nvGrpSpPr>
          <p:cNvPr name="Group 2" id="2"/>
          <p:cNvGrpSpPr/>
          <p:nvPr/>
        </p:nvGrpSpPr>
        <p:grpSpPr>
          <a:xfrm rot="0">
            <a:off x="7756872" y="1945944"/>
            <a:ext cx="5197128" cy="3392700"/>
            <a:chOff x="0" y="0"/>
            <a:chExt cx="642001" cy="419100"/>
          </a:xfrm>
        </p:grpSpPr>
        <p:sp>
          <p:nvSpPr>
            <p:cNvPr name="Freeform 3" id="3"/>
            <p:cNvSpPr/>
            <p:nvPr/>
          </p:nvSpPr>
          <p:spPr>
            <a:xfrm flipH="false" flipV="false" rot="0">
              <a:off x="0" y="0"/>
              <a:ext cx="642001" cy="419100"/>
            </a:xfrm>
            <a:custGeom>
              <a:avLst/>
              <a:gdLst/>
              <a:ahLst/>
              <a:cxnLst/>
              <a:rect r="r" b="b" t="t" l="l"/>
              <a:pathLst>
                <a:path h="419100" w="642001">
                  <a:moveTo>
                    <a:pt x="22112" y="0"/>
                  </a:moveTo>
                  <a:lnTo>
                    <a:pt x="619889" y="0"/>
                  </a:lnTo>
                  <a:cubicBezTo>
                    <a:pt x="632101" y="0"/>
                    <a:pt x="642001" y="9900"/>
                    <a:pt x="642001" y="22112"/>
                  </a:cubicBezTo>
                  <a:lnTo>
                    <a:pt x="642001" y="396988"/>
                  </a:lnTo>
                  <a:cubicBezTo>
                    <a:pt x="642001" y="409200"/>
                    <a:pt x="632101" y="419100"/>
                    <a:pt x="619889" y="419100"/>
                  </a:cubicBezTo>
                  <a:lnTo>
                    <a:pt x="22112" y="419100"/>
                  </a:lnTo>
                  <a:cubicBezTo>
                    <a:pt x="9900" y="419100"/>
                    <a:pt x="0" y="409200"/>
                    <a:pt x="0" y="396988"/>
                  </a:cubicBezTo>
                  <a:lnTo>
                    <a:pt x="0" y="22112"/>
                  </a:lnTo>
                  <a:cubicBezTo>
                    <a:pt x="0" y="9900"/>
                    <a:pt x="9900" y="0"/>
                    <a:pt x="22112" y="0"/>
                  </a:cubicBezTo>
                  <a:close/>
                </a:path>
              </a:pathLst>
            </a:custGeom>
            <a:solidFill>
              <a:srgbClr val="FFFFFF"/>
            </a:solidFill>
          </p:spPr>
        </p:sp>
        <p:sp>
          <p:nvSpPr>
            <p:cNvPr name="TextBox 4" id="4"/>
            <p:cNvSpPr txBox="true"/>
            <p:nvPr/>
          </p:nvSpPr>
          <p:spPr>
            <a:xfrm>
              <a:off x="0" y="-28575"/>
              <a:ext cx="642001" cy="447675"/>
            </a:xfrm>
            <a:prstGeom prst="rect">
              <a:avLst/>
            </a:prstGeom>
          </p:spPr>
          <p:txBody>
            <a:bodyPr anchor="ctr" rtlCol="false" tIns="50800" lIns="50800" bIns="50800" rIns="50800"/>
            <a:lstStyle/>
            <a:p>
              <a:pPr algn="ctr">
                <a:lnSpc>
                  <a:spcPts val="2239"/>
                </a:lnSpc>
              </a:pPr>
            </a:p>
          </p:txBody>
        </p:sp>
      </p:grpSp>
      <p:sp>
        <p:nvSpPr>
          <p:cNvPr name="Freeform 5" id="5">
            <a:hlinkClick r:id="rId3" tooltip="https://piaxis.ai"/>
          </p:cNvPr>
          <p:cNvSpPr/>
          <p:nvPr/>
        </p:nvSpPr>
        <p:spPr>
          <a:xfrm flipH="false" flipV="false" rot="0">
            <a:off x="11742265" y="1238250"/>
            <a:ext cx="1211735" cy="538549"/>
          </a:xfrm>
          <a:custGeom>
            <a:avLst/>
            <a:gdLst/>
            <a:ahLst/>
            <a:cxnLst/>
            <a:rect r="r" b="b" t="t" l="l"/>
            <a:pathLst>
              <a:path h="538549" w="1211735">
                <a:moveTo>
                  <a:pt x="0" y="0"/>
                </a:moveTo>
                <a:lnTo>
                  <a:pt x="1211735" y="0"/>
                </a:lnTo>
                <a:lnTo>
                  <a:pt x="1211735" y="538549"/>
                </a:lnTo>
                <a:lnTo>
                  <a:pt x="0" y="538549"/>
                </a:lnTo>
                <a:lnTo>
                  <a:pt x="0" y="0"/>
                </a:lnTo>
                <a:close/>
              </a:path>
            </a:pathLst>
          </a:custGeom>
          <a:blipFill>
            <a:blip r:embed="rId2"/>
            <a:stretch>
              <a:fillRect l="0" t="0" r="0" b="0"/>
            </a:stretch>
          </a:blipFill>
        </p:spPr>
      </p:sp>
      <p:grpSp>
        <p:nvGrpSpPr>
          <p:cNvPr name="Group 6" id="6"/>
          <p:cNvGrpSpPr/>
          <p:nvPr/>
        </p:nvGrpSpPr>
        <p:grpSpPr>
          <a:xfrm rot="0">
            <a:off x="780477" y="4362450"/>
            <a:ext cx="3082715" cy="623704"/>
            <a:chOff x="0" y="0"/>
            <a:chExt cx="856310" cy="173251"/>
          </a:xfrm>
        </p:grpSpPr>
        <p:sp>
          <p:nvSpPr>
            <p:cNvPr name="Freeform 7" id="7"/>
            <p:cNvSpPr/>
            <p:nvPr/>
          </p:nvSpPr>
          <p:spPr>
            <a:xfrm flipH="false" flipV="false" rot="0">
              <a:off x="0" y="0"/>
              <a:ext cx="856310" cy="173251"/>
            </a:xfrm>
            <a:custGeom>
              <a:avLst/>
              <a:gdLst/>
              <a:ahLst/>
              <a:cxnLst/>
              <a:rect r="r" b="b" t="t" l="l"/>
              <a:pathLst>
                <a:path h="173251" w="856310">
                  <a:moveTo>
                    <a:pt x="37279" y="0"/>
                  </a:moveTo>
                  <a:lnTo>
                    <a:pt x="819031" y="0"/>
                  </a:lnTo>
                  <a:cubicBezTo>
                    <a:pt x="828918" y="0"/>
                    <a:pt x="838400" y="3928"/>
                    <a:pt x="845391" y="10919"/>
                  </a:cubicBezTo>
                  <a:cubicBezTo>
                    <a:pt x="852382" y="17910"/>
                    <a:pt x="856310" y="27392"/>
                    <a:pt x="856310" y="37279"/>
                  </a:cubicBezTo>
                  <a:lnTo>
                    <a:pt x="856310" y="135973"/>
                  </a:lnTo>
                  <a:cubicBezTo>
                    <a:pt x="856310" y="156561"/>
                    <a:pt x="839620" y="173251"/>
                    <a:pt x="819031" y="173251"/>
                  </a:cubicBezTo>
                  <a:lnTo>
                    <a:pt x="37279" y="173251"/>
                  </a:lnTo>
                  <a:cubicBezTo>
                    <a:pt x="16690" y="173251"/>
                    <a:pt x="0" y="156561"/>
                    <a:pt x="0" y="135973"/>
                  </a:cubicBezTo>
                  <a:lnTo>
                    <a:pt x="0" y="37279"/>
                  </a:lnTo>
                  <a:cubicBezTo>
                    <a:pt x="0" y="16690"/>
                    <a:pt x="16690" y="0"/>
                    <a:pt x="37279" y="0"/>
                  </a:cubicBezTo>
                  <a:close/>
                </a:path>
              </a:pathLst>
            </a:custGeom>
            <a:solidFill>
              <a:srgbClr val="1086DD"/>
            </a:solidFill>
          </p:spPr>
        </p:sp>
        <p:sp>
          <p:nvSpPr>
            <p:cNvPr name="TextBox 8" id="8"/>
            <p:cNvSpPr txBox="true"/>
            <p:nvPr/>
          </p:nvSpPr>
          <p:spPr>
            <a:xfrm>
              <a:off x="0" y="-38100"/>
              <a:ext cx="856310" cy="211351"/>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904257" y="4367455"/>
            <a:ext cx="613694" cy="613694"/>
          </a:xfrm>
          <a:custGeom>
            <a:avLst/>
            <a:gdLst/>
            <a:ahLst/>
            <a:cxnLst/>
            <a:rect r="r" b="b" t="t" l="l"/>
            <a:pathLst>
              <a:path h="613694" w="613694">
                <a:moveTo>
                  <a:pt x="0" y="0"/>
                </a:moveTo>
                <a:lnTo>
                  <a:pt x="613694" y="0"/>
                </a:lnTo>
                <a:lnTo>
                  <a:pt x="613694" y="613694"/>
                </a:lnTo>
                <a:lnTo>
                  <a:pt x="0" y="6136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620523" y="6019377"/>
            <a:ext cx="519221" cy="519221"/>
          </a:xfrm>
          <a:custGeom>
            <a:avLst/>
            <a:gdLst/>
            <a:ahLst/>
            <a:cxnLst/>
            <a:rect r="r" b="b" t="t" l="l"/>
            <a:pathLst>
              <a:path h="519221" w="519221">
                <a:moveTo>
                  <a:pt x="0" y="0"/>
                </a:moveTo>
                <a:lnTo>
                  <a:pt x="519221" y="0"/>
                </a:lnTo>
                <a:lnTo>
                  <a:pt x="519221" y="519222"/>
                </a:lnTo>
                <a:lnTo>
                  <a:pt x="0" y="519222"/>
                </a:lnTo>
                <a:lnTo>
                  <a:pt x="0" y="0"/>
                </a:lnTo>
                <a:close/>
              </a:path>
            </a:pathLst>
          </a:custGeom>
          <a:blipFill>
            <a:blip r:embed="rId6"/>
            <a:stretch>
              <a:fillRect l="0" t="0" r="0" b="0"/>
            </a:stretch>
          </a:blipFill>
        </p:spPr>
      </p:sp>
      <p:sp>
        <p:nvSpPr>
          <p:cNvPr name="Freeform 11" id="11"/>
          <p:cNvSpPr/>
          <p:nvPr/>
        </p:nvSpPr>
        <p:spPr>
          <a:xfrm flipH="false" flipV="false" rot="0">
            <a:off x="3326592" y="5969238"/>
            <a:ext cx="574270" cy="619500"/>
          </a:xfrm>
          <a:custGeom>
            <a:avLst/>
            <a:gdLst/>
            <a:ahLst/>
            <a:cxnLst/>
            <a:rect r="r" b="b" t="t" l="l"/>
            <a:pathLst>
              <a:path h="619500" w="574270">
                <a:moveTo>
                  <a:pt x="0" y="0"/>
                </a:moveTo>
                <a:lnTo>
                  <a:pt x="574270" y="0"/>
                </a:lnTo>
                <a:lnTo>
                  <a:pt x="574270" y="619500"/>
                </a:lnTo>
                <a:lnTo>
                  <a:pt x="0" y="619500"/>
                </a:lnTo>
                <a:lnTo>
                  <a:pt x="0" y="0"/>
                </a:lnTo>
                <a:close/>
              </a:path>
            </a:pathLst>
          </a:custGeom>
          <a:blipFill>
            <a:blip r:embed="rId7"/>
            <a:stretch>
              <a:fillRect l="-63320" t="-10464" r="-60029" b="-11432"/>
            </a:stretch>
          </a:blipFill>
        </p:spPr>
      </p:sp>
      <p:sp>
        <p:nvSpPr>
          <p:cNvPr name="Freeform 12" id="12"/>
          <p:cNvSpPr/>
          <p:nvPr/>
        </p:nvSpPr>
        <p:spPr>
          <a:xfrm flipH="false" flipV="false" rot="0">
            <a:off x="4087711" y="6019377"/>
            <a:ext cx="519221" cy="519221"/>
          </a:xfrm>
          <a:custGeom>
            <a:avLst/>
            <a:gdLst/>
            <a:ahLst/>
            <a:cxnLst/>
            <a:rect r="r" b="b" t="t" l="l"/>
            <a:pathLst>
              <a:path h="519221" w="519221">
                <a:moveTo>
                  <a:pt x="0" y="0"/>
                </a:moveTo>
                <a:lnTo>
                  <a:pt x="519221" y="0"/>
                </a:lnTo>
                <a:lnTo>
                  <a:pt x="519221" y="519222"/>
                </a:lnTo>
                <a:lnTo>
                  <a:pt x="0" y="519222"/>
                </a:lnTo>
                <a:lnTo>
                  <a:pt x="0" y="0"/>
                </a:lnTo>
                <a:close/>
              </a:path>
            </a:pathLst>
          </a:custGeom>
          <a:blipFill>
            <a:blip r:embed="rId8"/>
            <a:stretch>
              <a:fillRect l="0" t="0" r="0" b="0"/>
            </a:stretch>
          </a:blipFill>
        </p:spPr>
      </p:sp>
      <p:sp>
        <p:nvSpPr>
          <p:cNvPr name="Freeform 13" id="13"/>
          <p:cNvSpPr/>
          <p:nvPr/>
        </p:nvSpPr>
        <p:spPr>
          <a:xfrm flipH="false" flipV="false" rot="0">
            <a:off x="4793780" y="5994308"/>
            <a:ext cx="569361" cy="569361"/>
          </a:xfrm>
          <a:custGeom>
            <a:avLst/>
            <a:gdLst/>
            <a:ahLst/>
            <a:cxnLst/>
            <a:rect r="r" b="b" t="t" l="l"/>
            <a:pathLst>
              <a:path h="569361" w="569361">
                <a:moveTo>
                  <a:pt x="0" y="0"/>
                </a:moveTo>
                <a:lnTo>
                  <a:pt x="569361" y="0"/>
                </a:lnTo>
                <a:lnTo>
                  <a:pt x="569361" y="569360"/>
                </a:lnTo>
                <a:lnTo>
                  <a:pt x="0" y="569360"/>
                </a:lnTo>
                <a:lnTo>
                  <a:pt x="0" y="0"/>
                </a:lnTo>
                <a:close/>
              </a:path>
            </a:pathLst>
          </a:custGeom>
          <a:blipFill>
            <a:blip r:embed="rId9"/>
            <a:stretch>
              <a:fillRect l="0" t="0" r="0" b="0"/>
            </a:stretch>
          </a:blipFill>
        </p:spPr>
      </p:sp>
      <p:sp>
        <p:nvSpPr>
          <p:cNvPr name="Freeform 14" id="14"/>
          <p:cNvSpPr/>
          <p:nvPr/>
        </p:nvSpPr>
        <p:spPr>
          <a:xfrm flipH="false" flipV="false" rot="0">
            <a:off x="5549989" y="6106219"/>
            <a:ext cx="1308011" cy="345538"/>
          </a:xfrm>
          <a:custGeom>
            <a:avLst/>
            <a:gdLst/>
            <a:ahLst/>
            <a:cxnLst/>
            <a:rect r="r" b="b" t="t" l="l"/>
            <a:pathLst>
              <a:path h="345538" w="1308011">
                <a:moveTo>
                  <a:pt x="0" y="0"/>
                </a:moveTo>
                <a:lnTo>
                  <a:pt x="1308011" y="0"/>
                </a:lnTo>
                <a:lnTo>
                  <a:pt x="1308011" y="345538"/>
                </a:lnTo>
                <a:lnTo>
                  <a:pt x="0" y="345538"/>
                </a:lnTo>
                <a:lnTo>
                  <a:pt x="0" y="0"/>
                </a:lnTo>
                <a:close/>
              </a:path>
            </a:pathLst>
          </a:custGeom>
          <a:blipFill>
            <a:blip r:embed="rId10"/>
            <a:stretch>
              <a:fillRect l="-11162" t="-106631" r="-11125" b="-102443"/>
            </a:stretch>
          </a:blipFill>
        </p:spPr>
      </p:sp>
      <p:sp>
        <p:nvSpPr>
          <p:cNvPr name="Freeform 15" id="15"/>
          <p:cNvSpPr/>
          <p:nvPr/>
        </p:nvSpPr>
        <p:spPr>
          <a:xfrm flipH="false" flipV="false" rot="0">
            <a:off x="2582542" y="6805236"/>
            <a:ext cx="533039" cy="383765"/>
          </a:xfrm>
          <a:custGeom>
            <a:avLst/>
            <a:gdLst/>
            <a:ahLst/>
            <a:cxnLst/>
            <a:rect r="r" b="b" t="t" l="l"/>
            <a:pathLst>
              <a:path h="383765" w="533039">
                <a:moveTo>
                  <a:pt x="0" y="0"/>
                </a:moveTo>
                <a:lnTo>
                  <a:pt x="533039" y="0"/>
                </a:lnTo>
                <a:lnTo>
                  <a:pt x="533039" y="383765"/>
                </a:lnTo>
                <a:lnTo>
                  <a:pt x="0" y="383765"/>
                </a:lnTo>
                <a:lnTo>
                  <a:pt x="0" y="0"/>
                </a:lnTo>
                <a:close/>
              </a:path>
            </a:pathLst>
          </a:custGeom>
          <a:blipFill>
            <a:blip r:embed="rId11"/>
            <a:stretch>
              <a:fillRect l="-43043" t="-15974" r="-43638" b="-20155"/>
            </a:stretch>
          </a:blipFill>
        </p:spPr>
      </p:sp>
      <p:sp>
        <p:nvSpPr>
          <p:cNvPr name="Freeform 16" id="16"/>
          <p:cNvSpPr/>
          <p:nvPr/>
        </p:nvSpPr>
        <p:spPr>
          <a:xfrm flipH="false" flipV="false" rot="0">
            <a:off x="3364263" y="6734827"/>
            <a:ext cx="498929" cy="498929"/>
          </a:xfrm>
          <a:custGeom>
            <a:avLst/>
            <a:gdLst/>
            <a:ahLst/>
            <a:cxnLst/>
            <a:rect r="r" b="b" t="t" l="l"/>
            <a:pathLst>
              <a:path h="498929" w="498929">
                <a:moveTo>
                  <a:pt x="0" y="0"/>
                </a:moveTo>
                <a:lnTo>
                  <a:pt x="498929" y="0"/>
                </a:lnTo>
                <a:lnTo>
                  <a:pt x="498929" y="498929"/>
                </a:lnTo>
                <a:lnTo>
                  <a:pt x="0" y="498929"/>
                </a:lnTo>
                <a:lnTo>
                  <a:pt x="0" y="0"/>
                </a:lnTo>
                <a:close/>
              </a:path>
            </a:pathLst>
          </a:custGeom>
          <a:blipFill>
            <a:blip r:embed="rId12"/>
            <a:stretch>
              <a:fillRect l="0" t="0" r="0" b="0"/>
            </a:stretch>
          </a:blipFill>
        </p:spPr>
      </p:sp>
      <p:sp>
        <p:nvSpPr>
          <p:cNvPr name="Freeform 17" id="17"/>
          <p:cNvSpPr/>
          <p:nvPr/>
        </p:nvSpPr>
        <p:spPr>
          <a:xfrm flipH="false" flipV="false" rot="0">
            <a:off x="4110842" y="6712427"/>
            <a:ext cx="476574" cy="476574"/>
          </a:xfrm>
          <a:custGeom>
            <a:avLst/>
            <a:gdLst/>
            <a:ahLst/>
            <a:cxnLst/>
            <a:rect r="r" b="b" t="t" l="l"/>
            <a:pathLst>
              <a:path h="476574" w="476574">
                <a:moveTo>
                  <a:pt x="0" y="0"/>
                </a:moveTo>
                <a:lnTo>
                  <a:pt x="476574" y="0"/>
                </a:lnTo>
                <a:lnTo>
                  <a:pt x="476574" y="476574"/>
                </a:lnTo>
                <a:lnTo>
                  <a:pt x="0" y="476574"/>
                </a:lnTo>
                <a:lnTo>
                  <a:pt x="0" y="0"/>
                </a:lnTo>
                <a:close/>
              </a:path>
            </a:pathLst>
          </a:custGeom>
          <a:blipFill>
            <a:blip r:embed="rId13"/>
            <a:stretch>
              <a:fillRect l="0" t="0" r="0" b="0"/>
            </a:stretch>
          </a:blipFill>
        </p:spPr>
      </p:sp>
      <p:sp>
        <p:nvSpPr>
          <p:cNvPr name="Freeform 18" id="18"/>
          <p:cNvSpPr/>
          <p:nvPr/>
        </p:nvSpPr>
        <p:spPr>
          <a:xfrm flipH="false" flipV="false" rot="0">
            <a:off x="4835066" y="6679404"/>
            <a:ext cx="545043" cy="542621"/>
          </a:xfrm>
          <a:custGeom>
            <a:avLst/>
            <a:gdLst/>
            <a:ahLst/>
            <a:cxnLst/>
            <a:rect r="r" b="b" t="t" l="l"/>
            <a:pathLst>
              <a:path h="542621" w="545043">
                <a:moveTo>
                  <a:pt x="0" y="0"/>
                </a:moveTo>
                <a:lnTo>
                  <a:pt x="545043" y="0"/>
                </a:lnTo>
                <a:lnTo>
                  <a:pt x="545043" y="542620"/>
                </a:lnTo>
                <a:lnTo>
                  <a:pt x="0" y="542620"/>
                </a:lnTo>
                <a:lnTo>
                  <a:pt x="0" y="0"/>
                </a:lnTo>
                <a:close/>
              </a:path>
            </a:pathLst>
          </a:custGeom>
          <a:blipFill>
            <a:blip r:embed="rId14"/>
            <a:stretch>
              <a:fillRect l="0" t="0" r="0" b="0"/>
            </a:stretch>
          </a:blipFill>
        </p:spPr>
      </p:sp>
      <p:grpSp>
        <p:nvGrpSpPr>
          <p:cNvPr name="Group 19" id="19"/>
          <p:cNvGrpSpPr/>
          <p:nvPr/>
        </p:nvGrpSpPr>
        <p:grpSpPr>
          <a:xfrm rot="0">
            <a:off x="4008632" y="4385430"/>
            <a:ext cx="3363164" cy="618699"/>
            <a:chOff x="0" y="0"/>
            <a:chExt cx="934212" cy="171861"/>
          </a:xfrm>
        </p:grpSpPr>
        <p:sp>
          <p:nvSpPr>
            <p:cNvPr name="Freeform 20" id="20"/>
            <p:cNvSpPr/>
            <p:nvPr/>
          </p:nvSpPr>
          <p:spPr>
            <a:xfrm flipH="false" flipV="false" rot="0">
              <a:off x="0" y="0"/>
              <a:ext cx="934212" cy="171861"/>
            </a:xfrm>
            <a:custGeom>
              <a:avLst/>
              <a:gdLst/>
              <a:ahLst/>
              <a:cxnLst/>
              <a:rect r="r" b="b" t="t" l="l"/>
              <a:pathLst>
                <a:path h="171861" w="934212">
                  <a:moveTo>
                    <a:pt x="34170" y="0"/>
                  </a:moveTo>
                  <a:lnTo>
                    <a:pt x="900042" y="0"/>
                  </a:lnTo>
                  <a:cubicBezTo>
                    <a:pt x="909105" y="0"/>
                    <a:pt x="917796" y="3600"/>
                    <a:pt x="924204" y="10008"/>
                  </a:cubicBezTo>
                  <a:cubicBezTo>
                    <a:pt x="930612" y="16416"/>
                    <a:pt x="934212" y="25108"/>
                    <a:pt x="934212" y="34170"/>
                  </a:cubicBezTo>
                  <a:lnTo>
                    <a:pt x="934212" y="137691"/>
                  </a:lnTo>
                  <a:cubicBezTo>
                    <a:pt x="934212" y="156562"/>
                    <a:pt x="918914" y="171861"/>
                    <a:pt x="900042" y="171861"/>
                  </a:cubicBezTo>
                  <a:lnTo>
                    <a:pt x="34170" y="171861"/>
                  </a:lnTo>
                  <a:cubicBezTo>
                    <a:pt x="15298" y="171861"/>
                    <a:pt x="0" y="156562"/>
                    <a:pt x="0" y="137691"/>
                  </a:cubicBezTo>
                  <a:lnTo>
                    <a:pt x="0" y="34170"/>
                  </a:lnTo>
                  <a:cubicBezTo>
                    <a:pt x="0" y="15298"/>
                    <a:pt x="15298" y="0"/>
                    <a:pt x="34170" y="0"/>
                  </a:cubicBezTo>
                  <a:close/>
                </a:path>
              </a:pathLst>
            </a:custGeom>
            <a:solidFill>
              <a:srgbClr val="1086DD"/>
            </a:solidFill>
          </p:spPr>
        </p:sp>
        <p:sp>
          <p:nvSpPr>
            <p:cNvPr name="TextBox 21" id="21"/>
            <p:cNvSpPr txBox="true"/>
            <p:nvPr/>
          </p:nvSpPr>
          <p:spPr>
            <a:xfrm>
              <a:off x="0" y="-38100"/>
              <a:ext cx="934212" cy="209961"/>
            </a:xfrm>
            <a:prstGeom prst="rect">
              <a:avLst/>
            </a:prstGeom>
          </p:spPr>
          <p:txBody>
            <a:bodyPr anchor="ctr" rtlCol="false" tIns="50800" lIns="50800" bIns="50800" rIns="50800"/>
            <a:lstStyle/>
            <a:p>
              <a:pPr algn="ctr">
                <a:lnSpc>
                  <a:spcPts val="2520"/>
                </a:lnSpc>
              </a:pPr>
            </a:p>
          </p:txBody>
        </p:sp>
      </p:grpSp>
      <p:sp>
        <p:nvSpPr>
          <p:cNvPr name="Freeform 22" id="22"/>
          <p:cNvSpPr/>
          <p:nvPr/>
        </p:nvSpPr>
        <p:spPr>
          <a:xfrm flipH="false" flipV="false" rot="0">
            <a:off x="4269589" y="4491409"/>
            <a:ext cx="317828" cy="412763"/>
          </a:xfrm>
          <a:custGeom>
            <a:avLst/>
            <a:gdLst/>
            <a:ahLst/>
            <a:cxnLst/>
            <a:rect r="r" b="b" t="t" l="l"/>
            <a:pathLst>
              <a:path h="412763" w="317828">
                <a:moveTo>
                  <a:pt x="0" y="0"/>
                </a:moveTo>
                <a:lnTo>
                  <a:pt x="317827" y="0"/>
                </a:lnTo>
                <a:lnTo>
                  <a:pt x="317827" y="412763"/>
                </a:lnTo>
                <a:lnTo>
                  <a:pt x="0" y="41276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23" id="23"/>
          <p:cNvGrpSpPr/>
          <p:nvPr/>
        </p:nvGrpSpPr>
        <p:grpSpPr>
          <a:xfrm rot="0">
            <a:off x="780477" y="5126459"/>
            <a:ext cx="3082715" cy="623704"/>
            <a:chOff x="0" y="0"/>
            <a:chExt cx="856310" cy="173251"/>
          </a:xfrm>
        </p:grpSpPr>
        <p:sp>
          <p:nvSpPr>
            <p:cNvPr name="Freeform 24" id="24"/>
            <p:cNvSpPr/>
            <p:nvPr/>
          </p:nvSpPr>
          <p:spPr>
            <a:xfrm flipH="false" flipV="false" rot="0">
              <a:off x="0" y="0"/>
              <a:ext cx="856310" cy="173251"/>
            </a:xfrm>
            <a:custGeom>
              <a:avLst/>
              <a:gdLst/>
              <a:ahLst/>
              <a:cxnLst/>
              <a:rect r="r" b="b" t="t" l="l"/>
              <a:pathLst>
                <a:path h="173251" w="856310">
                  <a:moveTo>
                    <a:pt x="37279" y="0"/>
                  </a:moveTo>
                  <a:lnTo>
                    <a:pt x="819031" y="0"/>
                  </a:lnTo>
                  <a:cubicBezTo>
                    <a:pt x="828918" y="0"/>
                    <a:pt x="838400" y="3928"/>
                    <a:pt x="845391" y="10919"/>
                  </a:cubicBezTo>
                  <a:cubicBezTo>
                    <a:pt x="852382" y="17910"/>
                    <a:pt x="856310" y="27392"/>
                    <a:pt x="856310" y="37279"/>
                  </a:cubicBezTo>
                  <a:lnTo>
                    <a:pt x="856310" y="135973"/>
                  </a:lnTo>
                  <a:cubicBezTo>
                    <a:pt x="856310" y="156561"/>
                    <a:pt x="839620" y="173251"/>
                    <a:pt x="819031" y="173251"/>
                  </a:cubicBezTo>
                  <a:lnTo>
                    <a:pt x="37279" y="173251"/>
                  </a:lnTo>
                  <a:cubicBezTo>
                    <a:pt x="16690" y="173251"/>
                    <a:pt x="0" y="156561"/>
                    <a:pt x="0" y="135973"/>
                  </a:cubicBezTo>
                  <a:lnTo>
                    <a:pt x="0" y="37279"/>
                  </a:lnTo>
                  <a:cubicBezTo>
                    <a:pt x="0" y="16690"/>
                    <a:pt x="16690" y="0"/>
                    <a:pt x="37279" y="0"/>
                  </a:cubicBezTo>
                  <a:close/>
                </a:path>
              </a:pathLst>
            </a:custGeom>
            <a:solidFill>
              <a:srgbClr val="1086DD"/>
            </a:solidFill>
          </p:spPr>
        </p:sp>
        <p:sp>
          <p:nvSpPr>
            <p:cNvPr name="TextBox 25" id="25"/>
            <p:cNvSpPr txBox="true"/>
            <p:nvPr/>
          </p:nvSpPr>
          <p:spPr>
            <a:xfrm>
              <a:off x="0" y="-38100"/>
              <a:ext cx="856310" cy="211351"/>
            </a:xfrm>
            <a:prstGeom prst="rect">
              <a:avLst/>
            </a:prstGeom>
          </p:spPr>
          <p:txBody>
            <a:bodyPr anchor="ctr" rtlCol="false" tIns="50800" lIns="50800" bIns="50800" rIns="50800"/>
            <a:lstStyle/>
            <a:p>
              <a:pPr algn="ctr">
                <a:lnSpc>
                  <a:spcPts val="2520"/>
                </a:lnSpc>
              </a:pPr>
            </a:p>
          </p:txBody>
        </p:sp>
      </p:grpSp>
      <p:sp>
        <p:nvSpPr>
          <p:cNvPr name="Freeform 26" id="26"/>
          <p:cNvSpPr/>
          <p:nvPr/>
        </p:nvSpPr>
        <p:spPr>
          <a:xfrm flipH="false" flipV="false" rot="0">
            <a:off x="904257" y="5131464"/>
            <a:ext cx="613694" cy="613694"/>
          </a:xfrm>
          <a:custGeom>
            <a:avLst/>
            <a:gdLst/>
            <a:ahLst/>
            <a:cxnLst/>
            <a:rect r="r" b="b" t="t" l="l"/>
            <a:pathLst>
              <a:path h="613694" w="613694">
                <a:moveTo>
                  <a:pt x="0" y="0"/>
                </a:moveTo>
                <a:lnTo>
                  <a:pt x="613694" y="0"/>
                </a:lnTo>
                <a:lnTo>
                  <a:pt x="613694" y="613694"/>
                </a:lnTo>
                <a:lnTo>
                  <a:pt x="0" y="6136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7" id="27"/>
          <p:cNvGrpSpPr/>
          <p:nvPr/>
        </p:nvGrpSpPr>
        <p:grpSpPr>
          <a:xfrm rot="0">
            <a:off x="4008632" y="5126459"/>
            <a:ext cx="3363164" cy="618699"/>
            <a:chOff x="0" y="0"/>
            <a:chExt cx="934212" cy="171861"/>
          </a:xfrm>
        </p:grpSpPr>
        <p:sp>
          <p:nvSpPr>
            <p:cNvPr name="Freeform 28" id="28"/>
            <p:cNvSpPr/>
            <p:nvPr/>
          </p:nvSpPr>
          <p:spPr>
            <a:xfrm flipH="false" flipV="false" rot="0">
              <a:off x="0" y="0"/>
              <a:ext cx="934212" cy="171861"/>
            </a:xfrm>
            <a:custGeom>
              <a:avLst/>
              <a:gdLst/>
              <a:ahLst/>
              <a:cxnLst/>
              <a:rect r="r" b="b" t="t" l="l"/>
              <a:pathLst>
                <a:path h="171861" w="934212">
                  <a:moveTo>
                    <a:pt x="34170" y="0"/>
                  </a:moveTo>
                  <a:lnTo>
                    <a:pt x="900042" y="0"/>
                  </a:lnTo>
                  <a:cubicBezTo>
                    <a:pt x="909105" y="0"/>
                    <a:pt x="917796" y="3600"/>
                    <a:pt x="924204" y="10008"/>
                  </a:cubicBezTo>
                  <a:cubicBezTo>
                    <a:pt x="930612" y="16416"/>
                    <a:pt x="934212" y="25108"/>
                    <a:pt x="934212" y="34170"/>
                  </a:cubicBezTo>
                  <a:lnTo>
                    <a:pt x="934212" y="137691"/>
                  </a:lnTo>
                  <a:cubicBezTo>
                    <a:pt x="934212" y="156562"/>
                    <a:pt x="918914" y="171861"/>
                    <a:pt x="900042" y="171861"/>
                  </a:cubicBezTo>
                  <a:lnTo>
                    <a:pt x="34170" y="171861"/>
                  </a:lnTo>
                  <a:cubicBezTo>
                    <a:pt x="15298" y="171861"/>
                    <a:pt x="0" y="156562"/>
                    <a:pt x="0" y="137691"/>
                  </a:cubicBezTo>
                  <a:lnTo>
                    <a:pt x="0" y="34170"/>
                  </a:lnTo>
                  <a:cubicBezTo>
                    <a:pt x="0" y="15298"/>
                    <a:pt x="15298" y="0"/>
                    <a:pt x="34170" y="0"/>
                  </a:cubicBezTo>
                  <a:close/>
                </a:path>
              </a:pathLst>
            </a:custGeom>
            <a:solidFill>
              <a:srgbClr val="1086DD"/>
            </a:solidFill>
          </p:spPr>
        </p:sp>
        <p:sp>
          <p:nvSpPr>
            <p:cNvPr name="TextBox 29" id="29"/>
            <p:cNvSpPr txBox="true"/>
            <p:nvPr/>
          </p:nvSpPr>
          <p:spPr>
            <a:xfrm>
              <a:off x="0" y="-38100"/>
              <a:ext cx="934212" cy="209961"/>
            </a:xfrm>
            <a:prstGeom prst="rect">
              <a:avLst/>
            </a:prstGeom>
          </p:spPr>
          <p:txBody>
            <a:bodyPr anchor="ctr" rtlCol="false" tIns="50800" lIns="50800" bIns="50800" rIns="50800"/>
            <a:lstStyle/>
            <a:p>
              <a:pPr algn="ctr">
                <a:lnSpc>
                  <a:spcPts val="2520"/>
                </a:lnSpc>
              </a:pPr>
            </a:p>
          </p:txBody>
        </p:sp>
      </p:grpSp>
      <p:sp>
        <p:nvSpPr>
          <p:cNvPr name="Freeform 30" id="30"/>
          <p:cNvSpPr/>
          <p:nvPr/>
        </p:nvSpPr>
        <p:spPr>
          <a:xfrm flipH="false" flipV="false" rot="0">
            <a:off x="4215337" y="5251779"/>
            <a:ext cx="391595" cy="390127"/>
          </a:xfrm>
          <a:custGeom>
            <a:avLst/>
            <a:gdLst/>
            <a:ahLst/>
            <a:cxnLst/>
            <a:rect r="r" b="b" t="t" l="l"/>
            <a:pathLst>
              <a:path h="390127" w="391595">
                <a:moveTo>
                  <a:pt x="0" y="0"/>
                </a:moveTo>
                <a:lnTo>
                  <a:pt x="391595" y="0"/>
                </a:lnTo>
                <a:lnTo>
                  <a:pt x="391595" y="390127"/>
                </a:lnTo>
                <a:lnTo>
                  <a:pt x="0" y="39012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1" id="31">
            <a:hlinkClick r:id="rId20" tooltip="https://piaxis.ai"/>
          </p:cNvPr>
          <p:cNvSpPr/>
          <p:nvPr/>
        </p:nvSpPr>
        <p:spPr>
          <a:xfrm flipH="false" flipV="false" rot="0">
            <a:off x="7492509" y="1830780"/>
            <a:ext cx="5461491" cy="3543142"/>
          </a:xfrm>
          <a:custGeom>
            <a:avLst/>
            <a:gdLst/>
            <a:ahLst/>
            <a:cxnLst/>
            <a:rect r="r" b="b" t="t" l="l"/>
            <a:pathLst>
              <a:path h="3543142" w="5461491">
                <a:moveTo>
                  <a:pt x="0" y="0"/>
                </a:moveTo>
                <a:lnTo>
                  <a:pt x="5461491" y="0"/>
                </a:lnTo>
                <a:lnTo>
                  <a:pt x="5461491" y="3543143"/>
                </a:lnTo>
                <a:lnTo>
                  <a:pt x="0" y="3543143"/>
                </a:lnTo>
                <a:lnTo>
                  <a:pt x="0" y="0"/>
                </a:lnTo>
                <a:close/>
              </a:path>
            </a:pathLst>
          </a:custGeom>
          <a:blipFill>
            <a:blip r:embed="rId19"/>
            <a:stretch>
              <a:fillRect l="0" t="0" r="0" b="0"/>
            </a:stretch>
          </a:blipFill>
        </p:spPr>
      </p:sp>
      <p:sp>
        <p:nvSpPr>
          <p:cNvPr name="TextBox 32" id="32"/>
          <p:cNvSpPr txBox="true"/>
          <p:nvPr/>
        </p:nvSpPr>
        <p:spPr>
          <a:xfrm rot="0">
            <a:off x="780477" y="1209743"/>
            <a:ext cx="1640800" cy="621037"/>
          </a:xfrm>
          <a:prstGeom prst="rect">
            <a:avLst/>
          </a:prstGeom>
        </p:spPr>
        <p:txBody>
          <a:bodyPr anchor="t" rtlCol="false" tIns="0" lIns="0" bIns="0" rIns="0">
            <a:spAutoFit/>
          </a:bodyPr>
          <a:lstStyle/>
          <a:p>
            <a:pPr algn="l">
              <a:lnSpc>
                <a:spcPts val="5144"/>
              </a:lnSpc>
            </a:pPr>
            <a:r>
              <a:rPr lang="en-US" b="true" sz="3674" u="sng">
                <a:solidFill>
                  <a:srgbClr val="1086DD"/>
                </a:solidFill>
                <a:latin typeface="Montserrat Ultra-Bold"/>
                <a:ea typeface="Montserrat Ultra-Bold"/>
                <a:cs typeface="Montserrat Ultra-Bold"/>
                <a:sym typeface="Montserrat Ultra-Bold"/>
                <a:hlinkClick r:id="rId21" tooltip="https://piaxis.ai"/>
              </a:rPr>
              <a:t>PIAXIS</a:t>
            </a:r>
          </a:p>
        </p:txBody>
      </p:sp>
      <p:sp>
        <p:nvSpPr>
          <p:cNvPr name="TextBox 33" id="33"/>
          <p:cNvSpPr txBox="true"/>
          <p:nvPr/>
        </p:nvSpPr>
        <p:spPr>
          <a:xfrm rot="0">
            <a:off x="780477" y="1917369"/>
            <a:ext cx="4939382" cy="199411"/>
          </a:xfrm>
          <a:prstGeom prst="rect">
            <a:avLst/>
          </a:prstGeom>
        </p:spPr>
        <p:txBody>
          <a:bodyPr anchor="t" rtlCol="false" tIns="0" lIns="0" bIns="0" rIns="0">
            <a:spAutoFit/>
          </a:bodyPr>
          <a:lstStyle/>
          <a:p>
            <a:pPr algn="l">
              <a:lnSpc>
                <a:spcPts val="1608"/>
              </a:lnSpc>
            </a:pPr>
            <a:r>
              <a:rPr lang="en-US" sz="1149" b="true">
                <a:solidFill>
                  <a:srgbClr val="272030"/>
                </a:solidFill>
                <a:latin typeface="Montserrat Medium"/>
                <a:ea typeface="Montserrat Medium"/>
                <a:cs typeface="Montserrat Medium"/>
                <a:sym typeface="Montserrat Medium"/>
              </a:rPr>
              <a:t>AI-POWERED ARCHITECTURAL DETAIL MANAGEMENT PLATFORM</a:t>
            </a:r>
          </a:p>
        </p:txBody>
      </p:sp>
      <p:sp>
        <p:nvSpPr>
          <p:cNvPr name="TextBox 34" id="34"/>
          <p:cNvSpPr txBox="true"/>
          <p:nvPr/>
        </p:nvSpPr>
        <p:spPr>
          <a:xfrm rot="0">
            <a:off x="780477" y="5981277"/>
            <a:ext cx="1747116" cy="306705"/>
          </a:xfrm>
          <a:prstGeom prst="rect">
            <a:avLst/>
          </a:prstGeom>
        </p:spPr>
        <p:txBody>
          <a:bodyPr anchor="t" rtlCol="false" tIns="0" lIns="0" bIns="0" rIns="0">
            <a:spAutoFit/>
          </a:bodyPr>
          <a:lstStyle/>
          <a:p>
            <a:pPr algn="l">
              <a:lnSpc>
                <a:spcPts val="2520"/>
              </a:lnSpc>
            </a:pPr>
            <a:r>
              <a:rPr lang="en-US" sz="1800" b="true">
                <a:solidFill>
                  <a:srgbClr val="000000"/>
                </a:solidFill>
                <a:latin typeface="Montserrat Bold"/>
                <a:ea typeface="Montserrat Bold"/>
                <a:cs typeface="Montserrat Bold"/>
                <a:sym typeface="Montserrat Bold"/>
              </a:rPr>
              <a:t>Technologies</a:t>
            </a:r>
            <a:r>
              <a:rPr lang="en-US" sz="1800">
                <a:solidFill>
                  <a:srgbClr val="000000"/>
                </a:solidFill>
                <a:latin typeface="Montserrat"/>
                <a:ea typeface="Montserrat"/>
                <a:cs typeface="Montserrat"/>
                <a:sym typeface="Montserrat"/>
              </a:rPr>
              <a:t> </a:t>
            </a:r>
          </a:p>
        </p:txBody>
      </p:sp>
      <p:grpSp>
        <p:nvGrpSpPr>
          <p:cNvPr name="Group 35" id="35"/>
          <p:cNvGrpSpPr/>
          <p:nvPr/>
        </p:nvGrpSpPr>
        <p:grpSpPr>
          <a:xfrm rot="0">
            <a:off x="790589" y="2116780"/>
            <a:ext cx="6594243" cy="2235206"/>
            <a:chOff x="0" y="0"/>
            <a:chExt cx="8792324" cy="2980274"/>
          </a:xfrm>
        </p:grpSpPr>
        <p:sp>
          <p:nvSpPr>
            <p:cNvPr name="TextBox 36" id="36"/>
            <p:cNvSpPr txBox="true"/>
            <p:nvPr/>
          </p:nvSpPr>
          <p:spPr>
            <a:xfrm rot="0">
              <a:off x="0" y="357534"/>
              <a:ext cx="8792324" cy="2622741"/>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Construction Tech :</a:t>
              </a:r>
              <a:r>
                <a:rPr lang="en-US" sz="1400">
                  <a:solidFill>
                    <a:srgbClr val="000000"/>
                  </a:solidFill>
                  <a:latin typeface="Montserrat"/>
                  <a:ea typeface="Montserrat"/>
                  <a:cs typeface="Montserrat"/>
                  <a:sym typeface="Montserrat"/>
                </a:rPr>
                <a:t>  PiAxis is an AI-powered architectural detailing platform built to help firms cut documentation time and scale project delivery with minimal manual effort. It automates repetitive Revit detailing, enforces firm-specific graphic standards across teams, and syncs in real-time through the Autodesk Design Automation API. Powered by intelligent AI agents, PiAxis lets architects focus on design instead of drafting.</a:t>
              </a:r>
            </a:p>
            <a:p>
              <a:pPr algn="l">
                <a:lnSpc>
                  <a:spcPts val="1960"/>
                </a:lnSpc>
              </a:pPr>
            </a:p>
          </p:txBody>
        </p:sp>
        <p:sp>
          <p:nvSpPr>
            <p:cNvPr name="TextBox 37" id="37"/>
            <p:cNvSpPr txBox="true"/>
            <p:nvPr/>
          </p:nvSpPr>
          <p:spPr>
            <a:xfrm rot="0">
              <a:off x="1375734" y="-28575"/>
              <a:ext cx="71041" cy="342688"/>
            </a:xfrm>
            <a:prstGeom prst="rect">
              <a:avLst/>
            </a:prstGeom>
          </p:spPr>
          <p:txBody>
            <a:bodyPr anchor="t" rtlCol="false" tIns="0" lIns="0" bIns="0" rIns="0">
              <a:spAutoFit/>
            </a:bodyPr>
            <a:lstStyle/>
            <a:p>
              <a:pPr algn="ctr">
                <a:lnSpc>
                  <a:spcPts val="2239"/>
                </a:lnSpc>
                <a:spcBef>
                  <a:spcPct val="0"/>
                </a:spcBef>
              </a:pPr>
            </a:p>
          </p:txBody>
        </p:sp>
      </p:grpSp>
      <p:sp>
        <p:nvSpPr>
          <p:cNvPr name="TextBox 38" id="38"/>
          <p:cNvSpPr txBox="true"/>
          <p:nvPr/>
        </p:nvSpPr>
        <p:spPr>
          <a:xfrm rot="0">
            <a:off x="1580661" y="4415857"/>
            <a:ext cx="2033066"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Delivered a full-stack solution in 4 months</a:t>
            </a:r>
          </a:p>
        </p:txBody>
      </p:sp>
      <p:sp>
        <p:nvSpPr>
          <p:cNvPr name="TextBox 39" id="39"/>
          <p:cNvSpPr txBox="true"/>
          <p:nvPr/>
        </p:nvSpPr>
        <p:spPr>
          <a:xfrm rot="0">
            <a:off x="4799291" y="4436335"/>
            <a:ext cx="2033066"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80% d</a:t>
            </a:r>
            <a:r>
              <a:rPr lang="en-US" b="true" sz="1400">
                <a:solidFill>
                  <a:srgbClr val="FFFFFF"/>
                </a:solidFill>
                <a:latin typeface="Montserrat Bold"/>
                <a:ea typeface="Montserrat Bold"/>
                <a:cs typeface="Montserrat Bold"/>
                <a:sym typeface="Montserrat Bold"/>
              </a:rPr>
              <a:t>etailing time reduction</a:t>
            </a:r>
          </a:p>
        </p:txBody>
      </p:sp>
      <p:sp>
        <p:nvSpPr>
          <p:cNvPr name="TextBox 40" id="40"/>
          <p:cNvSpPr txBox="true"/>
          <p:nvPr/>
        </p:nvSpPr>
        <p:spPr>
          <a:xfrm rot="0">
            <a:off x="1580661" y="5179866"/>
            <a:ext cx="2033066"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500-1,000+</a:t>
            </a:r>
            <a:r>
              <a:rPr lang="en-US" b="true" sz="1400">
                <a:solidFill>
                  <a:srgbClr val="FFFFFF"/>
                </a:solidFill>
                <a:latin typeface="Montserrat Bold"/>
                <a:ea typeface="Montserrat Bold"/>
                <a:cs typeface="Montserrat Bold"/>
                <a:sym typeface="Montserrat Bold"/>
              </a:rPr>
              <a:t> annual hours saved per firm</a:t>
            </a:r>
          </a:p>
        </p:txBody>
      </p:sp>
      <p:sp>
        <p:nvSpPr>
          <p:cNvPr name="TextBox 41" id="41"/>
          <p:cNvSpPr txBox="true"/>
          <p:nvPr/>
        </p:nvSpPr>
        <p:spPr>
          <a:xfrm rot="0">
            <a:off x="4799291" y="5177363"/>
            <a:ext cx="2420367"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99.5% syst</a:t>
            </a:r>
            <a:r>
              <a:rPr lang="en-US" b="true" sz="1400">
                <a:solidFill>
                  <a:srgbClr val="FFFFFF"/>
                </a:solidFill>
                <a:latin typeface="Montserrat Bold"/>
                <a:ea typeface="Montserrat Bold"/>
                <a:cs typeface="Montserrat Bold"/>
                <a:sym typeface="Montserrat Bold"/>
              </a:rPr>
              <a:t>em uptime with enterprise reliability</a:t>
            </a:r>
          </a:p>
        </p:txBody>
      </p:sp>
      <p:grpSp>
        <p:nvGrpSpPr>
          <p:cNvPr name="Group 42" id="42"/>
          <p:cNvGrpSpPr/>
          <p:nvPr/>
        </p:nvGrpSpPr>
        <p:grpSpPr>
          <a:xfrm rot="0">
            <a:off x="7756872" y="5683458"/>
            <a:ext cx="5781505" cy="1359779"/>
            <a:chOff x="0" y="0"/>
            <a:chExt cx="7708674" cy="1813038"/>
          </a:xfrm>
        </p:grpSpPr>
        <p:sp>
          <p:nvSpPr>
            <p:cNvPr name="TextBox 43" id="43"/>
            <p:cNvSpPr txBox="true"/>
            <p:nvPr/>
          </p:nvSpPr>
          <p:spPr>
            <a:xfrm rot="0">
              <a:off x="37735" y="-28575"/>
              <a:ext cx="1495106" cy="362274"/>
            </a:xfrm>
            <a:prstGeom prst="rect">
              <a:avLst/>
            </a:prstGeom>
          </p:spPr>
          <p:txBody>
            <a:bodyPr anchor="t" rtlCol="false" tIns="0" lIns="0" bIns="0" rIns="0">
              <a:spAutoFit/>
            </a:bodyPr>
            <a:lstStyle/>
            <a:p>
              <a:pPr algn="l">
                <a:lnSpc>
                  <a:spcPts val="2379"/>
                </a:lnSpc>
              </a:pPr>
              <a:r>
                <a:rPr lang="en-US" sz="1699" b="true">
                  <a:solidFill>
                    <a:srgbClr val="000000"/>
                  </a:solidFill>
                  <a:latin typeface="Montserrat Bold"/>
                  <a:ea typeface="Montserrat Bold"/>
                  <a:cs typeface="Montserrat Bold"/>
                  <a:sym typeface="Montserrat Bold"/>
                </a:rPr>
                <a:t>Industry</a:t>
              </a:r>
            </a:p>
          </p:txBody>
        </p:sp>
        <p:sp>
          <p:nvSpPr>
            <p:cNvPr name="TextBox 44" id="44"/>
            <p:cNvSpPr txBox="true"/>
            <p:nvPr/>
          </p:nvSpPr>
          <p:spPr>
            <a:xfrm rot="0">
              <a:off x="1730355" y="3005"/>
              <a:ext cx="4126279" cy="330694"/>
            </a:xfrm>
            <a:prstGeom prst="rect">
              <a:avLst/>
            </a:prstGeom>
          </p:spPr>
          <p:txBody>
            <a:bodyPr anchor="t" rtlCol="false" tIns="0" lIns="0" bIns="0" rIns="0">
              <a:spAutoFit/>
            </a:bodyPr>
            <a:lstStyle/>
            <a:p>
              <a:pPr algn="ctr">
                <a:lnSpc>
                  <a:spcPts val="2093"/>
                </a:lnSpc>
                <a:spcBef>
                  <a:spcPct val="0"/>
                </a:spcBef>
              </a:pPr>
              <a:r>
                <a:rPr lang="en-US" sz="1495">
                  <a:solidFill>
                    <a:srgbClr val="000000"/>
                  </a:solidFill>
                  <a:latin typeface="Montserrat"/>
                  <a:ea typeface="Montserrat"/>
                  <a:cs typeface="Montserrat"/>
                  <a:sym typeface="Montserrat"/>
                </a:rPr>
                <a:t>Architecture / Construction Tech</a:t>
              </a:r>
            </a:p>
          </p:txBody>
        </p:sp>
        <p:sp>
          <p:nvSpPr>
            <p:cNvPr name="TextBox 45" id="45"/>
            <p:cNvSpPr txBox="true"/>
            <p:nvPr/>
          </p:nvSpPr>
          <p:spPr>
            <a:xfrm rot="0">
              <a:off x="1457371" y="-28575"/>
              <a:ext cx="75470" cy="362274"/>
            </a:xfrm>
            <a:prstGeom prst="rect">
              <a:avLst/>
            </a:prstGeom>
          </p:spPr>
          <p:txBody>
            <a:bodyPr anchor="t" rtlCol="false" tIns="0" lIns="0" bIns="0" rIns="0">
              <a:spAutoFit/>
            </a:bodyPr>
            <a:lstStyle/>
            <a:p>
              <a:pPr algn="ctr">
                <a:lnSpc>
                  <a:spcPts val="2379"/>
                </a:lnSpc>
                <a:spcBef>
                  <a:spcPct val="0"/>
                </a:spcBef>
              </a:pPr>
              <a:r>
                <a:rPr lang="en-US" b="true" sz="1699">
                  <a:solidFill>
                    <a:srgbClr val="000000"/>
                  </a:solidFill>
                  <a:latin typeface="Montserrat Bold"/>
                  <a:ea typeface="Montserrat Bold"/>
                  <a:cs typeface="Montserrat Bold"/>
                  <a:sym typeface="Montserrat Bold"/>
                </a:rPr>
                <a:t>:</a:t>
              </a:r>
            </a:p>
          </p:txBody>
        </p:sp>
        <p:sp>
          <p:nvSpPr>
            <p:cNvPr name="TextBox 46" id="46"/>
            <p:cNvSpPr txBox="true"/>
            <p:nvPr/>
          </p:nvSpPr>
          <p:spPr>
            <a:xfrm rot="0">
              <a:off x="12700" y="423315"/>
              <a:ext cx="1420272" cy="386430"/>
            </a:xfrm>
            <a:prstGeom prst="rect">
              <a:avLst/>
            </a:prstGeom>
          </p:spPr>
          <p:txBody>
            <a:bodyPr anchor="t" rtlCol="false" tIns="0" lIns="0" bIns="0" rIns="0">
              <a:spAutoFit/>
            </a:bodyPr>
            <a:lstStyle/>
            <a:p>
              <a:pPr algn="l">
                <a:lnSpc>
                  <a:spcPts val="2400"/>
                </a:lnSpc>
              </a:pPr>
              <a:r>
                <a:rPr lang="en-US" sz="1714" b="true">
                  <a:solidFill>
                    <a:srgbClr val="000000"/>
                  </a:solidFill>
                  <a:latin typeface="Montserrat Bold"/>
                  <a:ea typeface="Montserrat Bold"/>
                  <a:cs typeface="Montserrat Bold"/>
                  <a:sym typeface="Montserrat Bold"/>
                </a:rPr>
                <a:t>Problem</a:t>
              </a:r>
            </a:p>
          </p:txBody>
        </p:sp>
        <p:sp>
          <p:nvSpPr>
            <p:cNvPr name="TextBox 47" id="47"/>
            <p:cNvSpPr txBox="true"/>
            <p:nvPr/>
          </p:nvSpPr>
          <p:spPr>
            <a:xfrm rot="0">
              <a:off x="1730355" y="469113"/>
              <a:ext cx="5624173" cy="338984"/>
            </a:xfrm>
            <a:prstGeom prst="rect">
              <a:avLst/>
            </a:prstGeom>
          </p:spPr>
          <p:txBody>
            <a:bodyPr anchor="t" rtlCol="false" tIns="0" lIns="0" bIns="0" rIns="0">
              <a:spAutoFit/>
            </a:bodyPr>
            <a:lstStyle/>
            <a:p>
              <a:pPr algn="ctr">
                <a:lnSpc>
                  <a:spcPts val="2147"/>
                </a:lnSpc>
                <a:spcBef>
                  <a:spcPct val="0"/>
                </a:spcBef>
              </a:pPr>
              <a:r>
                <a:rPr lang="en-US" sz="1534">
                  <a:solidFill>
                    <a:srgbClr val="000000"/>
                  </a:solidFill>
                  <a:latin typeface="Montserrat"/>
                  <a:ea typeface="Montserrat"/>
                  <a:cs typeface="Montserrat"/>
                  <a:sym typeface="Montserrat"/>
                </a:rPr>
                <a:t>Revit detailing eats 30–40% of project time.</a:t>
              </a:r>
            </a:p>
          </p:txBody>
        </p:sp>
        <p:sp>
          <p:nvSpPr>
            <p:cNvPr name="TextBox 48" id="48"/>
            <p:cNvSpPr txBox="true"/>
            <p:nvPr/>
          </p:nvSpPr>
          <p:spPr>
            <a:xfrm rot="0">
              <a:off x="1457371" y="439889"/>
              <a:ext cx="71693" cy="345571"/>
            </a:xfrm>
            <a:prstGeom prst="rect">
              <a:avLst/>
            </a:prstGeom>
          </p:spPr>
          <p:txBody>
            <a:bodyPr anchor="t" rtlCol="false" tIns="0" lIns="0" bIns="0" rIns="0">
              <a:spAutoFit/>
            </a:bodyPr>
            <a:lstStyle/>
            <a:p>
              <a:pPr algn="ctr">
                <a:lnSpc>
                  <a:spcPts val="2260"/>
                </a:lnSpc>
                <a:spcBef>
                  <a:spcPct val="0"/>
                </a:spcBef>
              </a:pPr>
              <a:r>
                <a:rPr lang="en-US" b="true" sz="1614">
                  <a:solidFill>
                    <a:srgbClr val="000000"/>
                  </a:solidFill>
                  <a:latin typeface="Montserrat Bold"/>
                  <a:ea typeface="Montserrat Bold"/>
                  <a:cs typeface="Montserrat Bold"/>
                  <a:sym typeface="Montserrat Bold"/>
                </a:rPr>
                <a:t>:</a:t>
              </a:r>
            </a:p>
          </p:txBody>
        </p:sp>
        <p:sp>
          <p:nvSpPr>
            <p:cNvPr name="TextBox 49" id="49"/>
            <p:cNvSpPr txBox="true"/>
            <p:nvPr/>
          </p:nvSpPr>
          <p:spPr>
            <a:xfrm rot="0">
              <a:off x="0" y="953036"/>
              <a:ext cx="1407355" cy="342688"/>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Solution</a:t>
              </a:r>
            </a:p>
          </p:txBody>
        </p:sp>
        <p:sp>
          <p:nvSpPr>
            <p:cNvPr name="TextBox 50" id="50"/>
            <p:cNvSpPr txBox="true"/>
            <p:nvPr/>
          </p:nvSpPr>
          <p:spPr>
            <a:xfrm rot="0">
              <a:off x="1459586" y="953036"/>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51" id="51"/>
            <p:cNvSpPr txBox="true"/>
            <p:nvPr/>
          </p:nvSpPr>
          <p:spPr>
            <a:xfrm rot="0">
              <a:off x="0" y="1470350"/>
              <a:ext cx="1173329" cy="342688"/>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Impact</a:t>
              </a:r>
            </a:p>
          </p:txBody>
        </p:sp>
        <p:sp>
          <p:nvSpPr>
            <p:cNvPr name="TextBox 52" id="52"/>
            <p:cNvSpPr txBox="true"/>
            <p:nvPr/>
          </p:nvSpPr>
          <p:spPr>
            <a:xfrm rot="0">
              <a:off x="1676726" y="1470527"/>
              <a:ext cx="5931752" cy="342511"/>
            </a:xfrm>
            <a:prstGeom prst="rect">
              <a:avLst/>
            </a:prstGeom>
          </p:spPr>
          <p:txBody>
            <a:bodyPr anchor="t" rtlCol="false" tIns="0" lIns="0" bIns="0" rIns="0">
              <a:spAutoFit/>
            </a:bodyPr>
            <a:lstStyle/>
            <a:p>
              <a:pPr algn="ctr">
                <a:lnSpc>
                  <a:spcPts val="2116"/>
                </a:lnSpc>
                <a:spcBef>
                  <a:spcPct val="0"/>
                </a:spcBef>
              </a:pPr>
              <a:r>
                <a:rPr lang="en-US" sz="1511">
                  <a:solidFill>
                    <a:srgbClr val="000000"/>
                  </a:solidFill>
                  <a:latin typeface="Montserrat"/>
                  <a:ea typeface="Montserrat"/>
                  <a:cs typeface="Montserrat"/>
                  <a:sym typeface="Montserrat"/>
                </a:rPr>
                <a:t>80% Faster, 1,000+ hours saved per firm yearly.</a:t>
              </a:r>
            </a:p>
          </p:txBody>
        </p:sp>
        <p:sp>
          <p:nvSpPr>
            <p:cNvPr name="TextBox 53" id="53"/>
            <p:cNvSpPr txBox="true"/>
            <p:nvPr/>
          </p:nvSpPr>
          <p:spPr>
            <a:xfrm rot="0">
              <a:off x="1457371" y="1467129"/>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54" id="54"/>
            <p:cNvSpPr txBox="true"/>
            <p:nvPr/>
          </p:nvSpPr>
          <p:spPr>
            <a:xfrm rot="0">
              <a:off x="1676726" y="954811"/>
              <a:ext cx="6031948" cy="340914"/>
            </a:xfrm>
            <a:prstGeom prst="rect">
              <a:avLst/>
            </a:prstGeom>
          </p:spPr>
          <p:txBody>
            <a:bodyPr anchor="t" rtlCol="false" tIns="0" lIns="0" bIns="0" rIns="0">
              <a:spAutoFit/>
            </a:bodyPr>
            <a:lstStyle/>
            <a:p>
              <a:pPr algn="ctr">
                <a:lnSpc>
                  <a:spcPts val="2161"/>
                </a:lnSpc>
                <a:spcBef>
                  <a:spcPct val="0"/>
                </a:spcBef>
              </a:pPr>
              <a:r>
                <a:rPr lang="en-US" sz="1544">
                  <a:solidFill>
                    <a:srgbClr val="000000"/>
                  </a:solidFill>
                  <a:latin typeface="Montserrat"/>
                  <a:ea typeface="Montserrat"/>
                  <a:cs typeface="Montserrat"/>
                  <a:sym typeface="Montserrat"/>
                </a:rPr>
                <a:t>AI Revit plugin with real-time API integration.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9F6"/>
        </a:solidFill>
      </p:bgPr>
    </p:bg>
    <p:spTree>
      <p:nvGrpSpPr>
        <p:cNvPr id="1" name=""/>
        <p:cNvGrpSpPr/>
        <p:nvPr/>
      </p:nvGrpSpPr>
      <p:grpSpPr>
        <a:xfrm>
          <a:off x="0" y="0"/>
          <a:ext cx="0" cy="0"/>
          <a:chOff x="0" y="0"/>
          <a:chExt cx="0" cy="0"/>
        </a:xfrm>
      </p:grpSpPr>
      <p:sp>
        <p:nvSpPr>
          <p:cNvPr name="Freeform 2" id="2">
            <a:hlinkClick r:id="rId3" tooltip="https://epirelief.co/home/"/>
          </p:cNvPr>
          <p:cNvSpPr/>
          <p:nvPr/>
        </p:nvSpPr>
        <p:spPr>
          <a:xfrm flipH="false" flipV="false" rot="0">
            <a:off x="10977174" y="1276418"/>
            <a:ext cx="1958350" cy="554362"/>
          </a:xfrm>
          <a:custGeom>
            <a:avLst/>
            <a:gdLst/>
            <a:ahLst/>
            <a:cxnLst/>
            <a:rect r="r" b="b" t="t" l="l"/>
            <a:pathLst>
              <a:path h="554362" w="1958350">
                <a:moveTo>
                  <a:pt x="0" y="0"/>
                </a:moveTo>
                <a:lnTo>
                  <a:pt x="1958349" y="0"/>
                </a:lnTo>
                <a:lnTo>
                  <a:pt x="1958349" y="554362"/>
                </a:lnTo>
                <a:lnTo>
                  <a:pt x="0" y="554362"/>
                </a:lnTo>
                <a:lnTo>
                  <a:pt x="0" y="0"/>
                </a:lnTo>
                <a:close/>
              </a:path>
            </a:pathLst>
          </a:custGeom>
          <a:blipFill>
            <a:blip r:embed="rId2"/>
            <a:stretch>
              <a:fillRect l="0" t="-8969" r="0" b="-20774"/>
            </a:stretch>
          </a:blipFill>
        </p:spPr>
      </p:sp>
      <p:sp>
        <p:nvSpPr>
          <p:cNvPr name="Freeform 3" id="3">
            <a:hlinkClick r:id="rId5" tooltip="https://epirelief.co/home/"/>
          </p:cNvPr>
          <p:cNvSpPr/>
          <p:nvPr/>
        </p:nvSpPr>
        <p:spPr>
          <a:xfrm flipH="false" flipV="false" rot="0">
            <a:off x="7756872" y="1945944"/>
            <a:ext cx="5178651" cy="3348831"/>
          </a:xfrm>
          <a:custGeom>
            <a:avLst/>
            <a:gdLst/>
            <a:ahLst/>
            <a:cxnLst/>
            <a:rect r="r" b="b" t="t" l="l"/>
            <a:pathLst>
              <a:path h="3348831" w="5178651">
                <a:moveTo>
                  <a:pt x="0" y="0"/>
                </a:moveTo>
                <a:lnTo>
                  <a:pt x="5178651" y="0"/>
                </a:lnTo>
                <a:lnTo>
                  <a:pt x="5178651" y="3348831"/>
                </a:lnTo>
                <a:lnTo>
                  <a:pt x="0" y="3348831"/>
                </a:lnTo>
                <a:lnTo>
                  <a:pt x="0" y="0"/>
                </a:lnTo>
                <a:close/>
              </a:path>
            </a:pathLst>
          </a:custGeom>
          <a:blipFill>
            <a:blip r:embed="rId4"/>
            <a:stretch>
              <a:fillRect l="-9379" t="-2559" r="-8730" b="-3349"/>
            </a:stretch>
          </a:blipFill>
        </p:spPr>
      </p:sp>
      <p:sp>
        <p:nvSpPr>
          <p:cNvPr name="Freeform 4" id="4"/>
          <p:cNvSpPr/>
          <p:nvPr/>
        </p:nvSpPr>
        <p:spPr>
          <a:xfrm flipH="false" flipV="false" rot="0">
            <a:off x="3768971" y="6572460"/>
            <a:ext cx="1046886" cy="517449"/>
          </a:xfrm>
          <a:custGeom>
            <a:avLst/>
            <a:gdLst/>
            <a:ahLst/>
            <a:cxnLst/>
            <a:rect r="r" b="b" t="t" l="l"/>
            <a:pathLst>
              <a:path h="517449" w="1046886">
                <a:moveTo>
                  <a:pt x="0" y="0"/>
                </a:moveTo>
                <a:lnTo>
                  <a:pt x="1046886" y="0"/>
                </a:lnTo>
                <a:lnTo>
                  <a:pt x="1046886" y="517449"/>
                </a:lnTo>
                <a:lnTo>
                  <a:pt x="0" y="517449"/>
                </a:lnTo>
                <a:lnTo>
                  <a:pt x="0" y="0"/>
                </a:lnTo>
                <a:close/>
              </a:path>
            </a:pathLst>
          </a:custGeom>
          <a:blipFill>
            <a:blip r:embed="rId6"/>
            <a:stretch>
              <a:fillRect l="-15252" t="-35679" r="-13772" b="-33668"/>
            </a:stretch>
          </a:blipFill>
        </p:spPr>
      </p:sp>
      <p:sp>
        <p:nvSpPr>
          <p:cNvPr name="Freeform 5" id="5"/>
          <p:cNvSpPr/>
          <p:nvPr/>
        </p:nvSpPr>
        <p:spPr>
          <a:xfrm flipH="false" flipV="false" rot="0">
            <a:off x="2698490" y="5649039"/>
            <a:ext cx="509436" cy="584699"/>
          </a:xfrm>
          <a:custGeom>
            <a:avLst/>
            <a:gdLst/>
            <a:ahLst/>
            <a:cxnLst/>
            <a:rect r="r" b="b" t="t" l="l"/>
            <a:pathLst>
              <a:path h="584699" w="509436">
                <a:moveTo>
                  <a:pt x="0" y="0"/>
                </a:moveTo>
                <a:lnTo>
                  <a:pt x="509436" y="0"/>
                </a:lnTo>
                <a:lnTo>
                  <a:pt x="509436" y="584699"/>
                </a:lnTo>
                <a:lnTo>
                  <a:pt x="0" y="584699"/>
                </a:lnTo>
                <a:lnTo>
                  <a:pt x="0" y="0"/>
                </a:lnTo>
                <a:close/>
              </a:path>
            </a:pathLst>
          </a:custGeom>
          <a:blipFill>
            <a:blip r:embed="rId7"/>
            <a:stretch>
              <a:fillRect l="-49759" t="0" r="-54282" b="0"/>
            </a:stretch>
          </a:blipFill>
        </p:spPr>
      </p:sp>
      <p:sp>
        <p:nvSpPr>
          <p:cNvPr name="Freeform 6" id="6"/>
          <p:cNvSpPr/>
          <p:nvPr/>
        </p:nvSpPr>
        <p:spPr>
          <a:xfrm flipH="false" flipV="false" rot="0">
            <a:off x="3316113" y="5649039"/>
            <a:ext cx="594240" cy="594240"/>
          </a:xfrm>
          <a:custGeom>
            <a:avLst/>
            <a:gdLst/>
            <a:ahLst/>
            <a:cxnLst/>
            <a:rect r="r" b="b" t="t" l="l"/>
            <a:pathLst>
              <a:path h="594240" w="594240">
                <a:moveTo>
                  <a:pt x="0" y="0"/>
                </a:moveTo>
                <a:lnTo>
                  <a:pt x="594240" y="0"/>
                </a:lnTo>
                <a:lnTo>
                  <a:pt x="594240" y="594240"/>
                </a:lnTo>
                <a:lnTo>
                  <a:pt x="0" y="594240"/>
                </a:lnTo>
                <a:lnTo>
                  <a:pt x="0" y="0"/>
                </a:lnTo>
                <a:close/>
              </a:path>
            </a:pathLst>
          </a:custGeom>
          <a:blipFill>
            <a:blip r:embed="rId8"/>
            <a:stretch>
              <a:fillRect l="0" t="0" r="0" b="0"/>
            </a:stretch>
          </a:blipFill>
        </p:spPr>
      </p:sp>
      <p:sp>
        <p:nvSpPr>
          <p:cNvPr name="Freeform 7" id="7"/>
          <p:cNvSpPr/>
          <p:nvPr/>
        </p:nvSpPr>
        <p:spPr>
          <a:xfrm flipH="false" flipV="false" rot="0">
            <a:off x="4078653" y="5728469"/>
            <a:ext cx="427523" cy="435380"/>
          </a:xfrm>
          <a:custGeom>
            <a:avLst/>
            <a:gdLst/>
            <a:ahLst/>
            <a:cxnLst/>
            <a:rect r="r" b="b" t="t" l="l"/>
            <a:pathLst>
              <a:path h="435380" w="427523">
                <a:moveTo>
                  <a:pt x="0" y="0"/>
                </a:moveTo>
                <a:lnTo>
                  <a:pt x="427522" y="0"/>
                </a:lnTo>
                <a:lnTo>
                  <a:pt x="427522" y="435380"/>
                </a:lnTo>
                <a:lnTo>
                  <a:pt x="0" y="435380"/>
                </a:lnTo>
                <a:lnTo>
                  <a:pt x="0" y="0"/>
                </a:lnTo>
                <a:close/>
              </a:path>
            </a:pathLst>
          </a:custGeom>
          <a:blipFill>
            <a:blip r:embed="rId9"/>
            <a:stretch>
              <a:fillRect l="-54841" t="-34793" r="-55021" b="-71281"/>
            </a:stretch>
          </a:blipFill>
        </p:spPr>
      </p:sp>
      <p:grpSp>
        <p:nvGrpSpPr>
          <p:cNvPr name="Group 8" id="8"/>
          <p:cNvGrpSpPr/>
          <p:nvPr/>
        </p:nvGrpSpPr>
        <p:grpSpPr>
          <a:xfrm rot="0">
            <a:off x="780477" y="3901413"/>
            <a:ext cx="2068585" cy="623704"/>
            <a:chOff x="0" y="0"/>
            <a:chExt cx="574607" cy="173251"/>
          </a:xfrm>
        </p:grpSpPr>
        <p:sp>
          <p:nvSpPr>
            <p:cNvPr name="Freeform 9" id="9"/>
            <p:cNvSpPr/>
            <p:nvPr/>
          </p:nvSpPr>
          <p:spPr>
            <a:xfrm flipH="false" flipV="false" rot="0">
              <a:off x="0" y="0"/>
              <a:ext cx="574607" cy="173251"/>
            </a:xfrm>
            <a:custGeom>
              <a:avLst/>
              <a:gdLst/>
              <a:ahLst/>
              <a:cxnLst/>
              <a:rect r="r" b="b" t="t" l="l"/>
              <a:pathLst>
                <a:path h="173251" w="574607">
                  <a:moveTo>
                    <a:pt x="55554" y="0"/>
                  </a:moveTo>
                  <a:lnTo>
                    <a:pt x="519052" y="0"/>
                  </a:lnTo>
                  <a:cubicBezTo>
                    <a:pt x="533786" y="0"/>
                    <a:pt x="547917" y="5853"/>
                    <a:pt x="558335" y="16272"/>
                  </a:cubicBezTo>
                  <a:cubicBezTo>
                    <a:pt x="568754" y="26690"/>
                    <a:pt x="574607" y="40821"/>
                    <a:pt x="574607" y="55554"/>
                  </a:cubicBezTo>
                  <a:lnTo>
                    <a:pt x="574607" y="117697"/>
                  </a:lnTo>
                  <a:cubicBezTo>
                    <a:pt x="574607" y="132431"/>
                    <a:pt x="568754" y="146561"/>
                    <a:pt x="558335" y="156980"/>
                  </a:cubicBezTo>
                  <a:cubicBezTo>
                    <a:pt x="547917" y="167398"/>
                    <a:pt x="533786" y="173251"/>
                    <a:pt x="519052" y="173251"/>
                  </a:cubicBezTo>
                  <a:lnTo>
                    <a:pt x="55554" y="173251"/>
                  </a:lnTo>
                  <a:cubicBezTo>
                    <a:pt x="40821" y="173251"/>
                    <a:pt x="26690" y="167398"/>
                    <a:pt x="16272" y="156980"/>
                  </a:cubicBezTo>
                  <a:cubicBezTo>
                    <a:pt x="5853" y="146561"/>
                    <a:pt x="0" y="132431"/>
                    <a:pt x="0" y="117697"/>
                  </a:cubicBezTo>
                  <a:lnTo>
                    <a:pt x="0" y="55554"/>
                  </a:lnTo>
                  <a:cubicBezTo>
                    <a:pt x="0" y="40821"/>
                    <a:pt x="5853" y="26690"/>
                    <a:pt x="16272" y="16272"/>
                  </a:cubicBezTo>
                  <a:cubicBezTo>
                    <a:pt x="26690" y="5853"/>
                    <a:pt x="40821" y="0"/>
                    <a:pt x="55554" y="0"/>
                  </a:cubicBezTo>
                  <a:close/>
                </a:path>
              </a:pathLst>
            </a:custGeom>
            <a:solidFill>
              <a:srgbClr val="5B2D8B"/>
            </a:solidFill>
          </p:spPr>
        </p:sp>
        <p:sp>
          <p:nvSpPr>
            <p:cNvPr name="TextBox 10" id="10"/>
            <p:cNvSpPr txBox="true"/>
            <p:nvPr/>
          </p:nvSpPr>
          <p:spPr>
            <a:xfrm>
              <a:off x="0" y="-38100"/>
              <a:ext cx="574607" cy="211351"/>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2995601" y="3901413"/>
            <a:ext cx="3053301" cy="623704"/>
            <a:chOff x="0" y="0"/>
            <a:chExt cx="848139" cy="173251"/>
          </a:xfrm>
        </p:grpSpPr>
        <p:sp>
          <p:nvSpPr>
            <p:cNvPr name="Freeform 12" id="12"/>
            <p:cNvSpPr/>
            <p:nvPr/>
          </p:nvSpPr>
          <p:spPr>
            <a:xfrm flipH="false" flipV="false" rot="0">
              <a:off x="0" y="0"/>
              <a:ext cx="848139" cy="173251"/>
            </a:xfrm>
            <a:custGeom>
              <a:avLst/>
              <a:gdLst/>
              <a:ahLst/>
              <a:cxnLst/>
              <a:rect r="r" b="b" t="t" l="l"/>
              <a:pathLst>
                <a:path h="173251" w="848139">
                  <a:moveTo>
                    <a:pt x="37638" y="0"/>
                  </a:moveTo>
                  <a:lnTo>
                    <a:pt x="810501" y="0"/>
                  </a:lnTo>
                  <a:cubicBezTo>
                    <a:pt x="831288" y="0"/>
                    <a:pt x="848139" y="16851"/>
                    <a:pt x="848139" y="37638"/>
                  </a:cubicBezTo>
                  <a:lnTo>
                    <a:pt x="848139" y="135613"/>
                  </a:lnTo>
                  <a:cubicBezTo>
                    <a:pt x="848139" y="156400"/>
                    <a:pt x="831288" y="173251"/>
                    <a:pt x="810501" y="173251"/>
                  </a:cubicBezTo>
                  <a:lnTo>
                    <a:pt x="37638" y="173251"/>
                  </a:lnTo>
                  <a:cubicBezTo>
                    <a:pt x="16851" y="173251"/>
                    <a:pt x="0" y="156400"/>
                    <a:pt x="0" y="135613"/>
                  </a:cubicBezTo>
                  <a:lnTo>
                    <a:pt x="0" y="37638"/>
                  </a:lnTo>
                  <a:cubicBezTo>
                    <a:pt x="0" y="16851"/>
                    <a:pt x="16851" y="0"/>
                    <a:pt x="37638" y="0"/>
                  </a:cubicBezTo>
                  <a:close/>
                </a:path>
              </a:pathLst>
            </a:custGeom>
            <a:solidFill>
              <a:srgbClr val="5B2D8B"/>
            </a:solidFill>
          </p:spPr>
        </p:sp>
        <p:sp>
          <p:nvSpPr>
            <p:cNvPr name="TextBox 13" id="13"/>
            <p:cNvSpPr txBox="true"/>
            <p:nvPr/>
          </p:nvSpPr>
          <p:spPr>
            <a:xfrm>
              <a:off x="0" y="-38100"/>
              <a:ext cx="848139" cy="211351"/>
            </a:xfrm>
            <a:prstGeom prst="rect">
              <a:avLst/>
            </a:prstGeom>
          </p:spPr>
          <p:txBody>
            <a:bodyPr anchor="ctr" rtlCol="false" tIns="50800" lIns="50800" bIns="50800" rIns="50800"/>
            <a:lstStyle/>
            <a:p>
              <a:pPr algn="ctr">
                <a:lnSpc>
                  <a:spcPts val="2520"/>
                </a:lnSpc>
              </a:pPr>
            </a:p>
          </p:txBody>
        </p:sp>
      </p:grpSp>
      <p:sp>
        <p:nvSpPr>
          <p:cNvPr name="Freeform 14" id="14"/>
          <p:cNvSpPr/>
          <p:nvPr/>
        </p:nvSpPr>
        <p:spPr>
          <a:xfrm flipH="false" flipV="false" rot="0">
            <a:off x="904257" y="3906418"/>
            <a:ext cx="613694" cy="613694"/>
          </a:xfrm>
          <a:custGeom>
            <a:avLst/>
            <a:gdLst/>
            <a:ahLst/>
            <a:cxnLst/>
            <a:rect r="r" b="b" t="t" l="l"/>
            <a:pathLst>
              <a:path h="613694" w="613694">
                <a:moveTo>
                  <a:pt x="0" y="0"/>
                </a:moveTo>
                <a:lnTo>
                  <a:pt x="613694" y="0"/>
                </a:lnTo>
                <a:lnTo>
                  <a:pt x="613694" y="613694"/>
                </a:lnTo>
                <a:lnTo>
                  <a:pt x="0" y="6136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p:nvPr/>
        </p:nvGrpSpPr>
        <p:grpSpPr>
          <a:xfrm rot="0">
            <a:off x="780477" y="4696567"/>
            <a:ext cx="2289917" cy="623704"/>
            <a:chOff x="0" y="0"/>
            <a:chExt cx="636088" cy="173251"/>
          </a:xfrm>
        </p:grpSpPr>
        <p:sp>
          <p:nvSpPr>
            <p:cNvPr name="Freeform 16" id="16"/>
            <p:cNvSpPr/>
            <p:nvPr/>
          </p:nvSpPr>
          <p:spPr>
            <a:xfrm flipH="false" flipV="false" rot="0">
              <a:off x="0" y="0"/>
              <a:ext cx="636088" cy="173251"/>
            </a:xfrm>
            <a:custGeom>
              <a:avLst/>
              <a:gdLst/>
              <a:ahLst/>
              <a:cxnLst/>
              <a:rect r="r" b="b" t="t" l="l"/>
              <a:pathLst>
                <a:path h="173251" w="636088">
                  <a:moveTo>
                    <a:pt x="50185" y="0"/>
                  </a:moveTo>
                  <a:lnTo>
                    <a:pt x="585903" y="0"/>
                  </a:lnTo>
                  <a:cubicBezTo>
                    <a:pt x="599213" y="0"/>
                    <a:pt x="611978" y="5287"/>
                    <a:pt x="621389" y="14699"/>
                  </a:cubicBezTo>
                  <a:cubicBezTo>
                    <a:pt x="630801" y="24110"/>
                    <a:pt x="636088" y="36875"/>
                    <a:pt x="636088" y="50185"/>
                  </a:cubicBezTo>
                  <a:lnTo>
                    <a:pt x="636088" y="123066"/>
                  </a:lnTo>
                  <a:cubicBezTo>
                    <a:pt x="636088" y="150783"/>
                    <a:pt x="613620" y="173251"/>
                    <a:pt x="585903" y="173251"/>
                  </a:cubicBezTo>
                  <a:lnTo>
                    <a:pt x="50185" y="173251"/>
                  </a:lnTo>
                  <a:cubicBezTo>
                    <a:pt x="22469" y="173251"/>
                    <a:pt x="0" y="150783"/>
                    <a:pt x="0" y="123066"/>
                  </a:cubicBezTo>
                  <a:lnTo>
                    <a:pt x="0" y="50185"/>
                  </a:lnTo>
                  <a:cubicBezTo>
                    <a:pt x="0" y="22469"/>
                    <a:pt x="22469" y="0"/>
                    <a:pt x="50185" y="0"/>
                  </a:cubicBezTo>
                  <a:close/>
                </a:path>
              </a:pathLst>
            </a:custGeom>
            <a:solidFill>
              <a:srgbClr val="5B2D8B"/>
            </a:solidFill>
          </p:spPr>
        </p:sp>
        <p:sp>
          <p:nvSpPr>
            <p:cNvPr name="TextBox 17" id="17"/>
            <p:cNvSpPr txBox="true"/>
            <p:nvPr/>
          </p:nvSpPr>
          <p:spPr>
            <a:xfrm>
              <a:off x="0" y="-38100"/>
              <a:ext cx="636088" cy="211351"/>
            </a:xfrm>
            <a:prstGeom prst="rect">
              <a:avLst/>
            </a:prstGeom>
          </p:spPr>
          <p:txBody>
            <a:bodyPr anchor="ctr" rtlCol="false" tIns="50800" lIns="50800" bIns="50800" rIns="50800"/>
            <a:lstStyle/>
            <a:p>
              <a:pPr algn="ctr">
                <a:lnSpc>
                  <a:spcPts val="2520"/>
                </a:lnSpc>
              </a:pPr>
            </a:p>
          </p:txBody>
        </p:sp>
      </p:grpSp>
      <p:grpSp>
        <p:nvGrpSpPr>
          <p:cNvPr name="Group 18" id="18"/>
          <p:cNvGrpSpPr/>
          <p:nvPr/>
        </p:nvGrpSpPr>
        <p:grpSpPr>
          <a:xfrm rot="0">
            <a:off x="3232339" y="4696567"/>
            <a:ext cx="2735498" cy="623704"/>
            <a:chOff x="0" y="0"/>
            <a:chExt cx="759861" cy="173251"/>
          </a:xfrm>
        </p:grpSpPr>
        <p:sp>
          <p:nvSpPr>
            <p:cNvPr name="Freeform 19" id="19"/>
            <p:cNvSpPr/>
            <p:nvPr/>
          </p:nvSpPr>
          <p:spPr>
            <a:xfrm flipH="false" flipV="false" rot="0">
              <a:off x="0" y="0"/>
              <a:ext cx="759861" cy="173251"/>
            </a:xfrm>
            <a:custGeom>
              <a:avLst/>
              <a:gdLst/>
              <a:ahLst/>
              <a:cxnLst/>
              <a:rect r="r" b="b" t="t" l="l"/>
              <a:pathLst>
                <a:path h="173251" w="759861">
                  <a:moveTo>
                    <a:pt x="42010" y="0"/>
                  </a:moveTo>
                  <a:lnTo>
                    <a:pt x="717850" y="0"/>
                  </a:lnTo>
                  <a:cubicBezTo>
                    <a:pt x="741052" y="0"/>
                    <a:pt x="759861" y="18809"/>
                    <a:pt x="759861" y="42010"/>
                  </a:cubicBezTo>
                  <a:lnTo>
                    <a:pt x="759861" y="131241"/>
                  </a:lnTo>
                  <a:cubicBezTo>
                    <a:pt x="759861" y="154442"/>
                    <a:pt x="741052" y="173251"/>
                    <a:pt x="717850" y="173251"/>
                  </a:cubicBezTo>
                  <a:lnTo>
                    <a:pt x="42010" y="173251"/>
                  </a:lnTo>
                  <a:cubicBezTo>
                    <a:pt x="30868" y="173251"/>
                    <a:pt x="20183" y="168825"/>
                    <a:pt x="12305" y="160947"/>
                  </a:cubicBezTo>
                  <a:cubicBezTo>
                    <a:pt x="4426" y="153068"/>
                    <a:pt x="0" y="142383"/>
                    <a:pt x="0" y="131241"/>
                  </a:cubicBezTo>
                  <a:lnTo>
                    <a:pt x="0" y="42010"/>
                  </a:lnTo>
                  <a:cubicBezTo>
                    <a:pt x="0" y="30868"/>
                    <a:pt x="4426" y="20183"/>
                    <a:pt x="12305" y="12305"/>
                  </a:cubicBezTo>
                  <a:cubicBezTo>
                    <a:pt x="20183" y="4426"/>
                    <a:pt x="30868" y="0"/>
                    <a:pt x="42010" y="0"/>
                  </a:cubicBezTo>
                  <a:close/>
                </a:path>
              </a:pathLst>
            </a:custGeom>
            <a:solidFill>
              <a:srgbClr val="5B2D8B"/>
            </a:solidFill>
          </p:spPr>
        </p:sp>
        <p:sp>
          <p:nvSpPr>
            <p:cNvPr name="TextBox 20" id="20"/>
            <p:cNvSpPr txBox="true"/>
            <p:nvPr/>
          </p:nvSpPr>
          <p:spPr>
            <a:xfrm>
              <a:off x="0" y="-38100"/>
              <a:ext cx="759861" cy="211351"/>
            </a:xfrm>
            <a:prstGeom prst="rect">
              <a:avLst/>
            </a:prstGeom>
          </p:spPr>
          <p:txBody>
            <a:bodyPr anchor="ctr" rtlCol="false" tIns="50800" lIns="50800" bIns="50800" rIns="50800"/>
            <a:lstStyle/>
            <a:p>
              <a:pPr algn="ctr">
                <a:lnSpc>
                  <a:spcPts val="2520"/>
                </a:lnSpc>
              </a:pPr>
            </a:p>
          </p:txBody>
        </p:sp>
      </p:grpSp>
      <p:sp>
        <p:nvSpPr>
          <p:cNvPr name="Freeform 21" id="21"/>
          <p:cNvSpPr/>
          <p:nvPr/>
        </p:nvSpPr>
        <p:spPr>
          <a:xfrm flipH="false" flipV="false" rot="0">
            <a:off x="3418665" y="4813852"/>
            <a:ext cx="389134" cy="389134"/>
          </a:xfrm>
          <a:custGeom>
            <a:avLst/>
            <a:gdLst/>
            <a:ahLst/>
            <a:cxnLst/>
            <a:rect r="r" b="b" t="t" l="l"/>
            <a:pathLst>
              <a:path h="389134" w="389134">
                <a:moveTo>
                  <a:pt x="0" y="0"/>
                </a:moveTo>
                <a:lnTo>
                  <a:pt x="389135" y="0"/>
                </a:lnTo>
                <a:lnTo>
                  <a:pt x="389135" y="389134"/>
                </a:lnTo>
                <a:lnTo>
                  <a:pt x="0" y="38913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0">
            <a:off x="1070014" y="4858032"/>
            <a:ext cx="282180" cy="300774"/>
          </a:xfrm>
          <a:custGeom>
            <a:avLst/>
            <a:gdLst/>
            <a:ahLst/>
            <a:cxnLst/>
            <a:rect r="r" b="b" t="t" l="l"/>
            <a:pathLst>
              <a:path h="300774" w="282180">
                <a:moveTo>
                  <a:pt x="0" y="0"/>
                </a:moveTo>
                <a:lnTo>
                  <a:pt x="282180" y="0"/>
                </a:lnTo>
                <a:lnTo>
                  <a:pt x="282180" y="300774"/>
                </a:lnTo>
                <a:lnTo>
                  <a:pt x="0" y="30077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p:cNvSpPr/>
          <p:nvPr/>
        </p:nvSpPr>
        <p:spPr>
          <a:xfrm flipH="false" flipV="false" rot="0">
            <a:off x="3207926" y="4054001"/>
            <a:ext cx="401929" cy="318529"/>
          </a:xfrm>
          <a:custGeom>
            <a:avLst/>
            <a:gdLst/>
            <a:ahLst/>
            <a:cxnLst/>
            <a:rect r="r" b="b" t="t" l="l"/>
            <a:pathLst>
              <a:path h="318529" w="401929">
                <a:moveTo>
                  <a:pt x="0" y="0"/>
                </a:moveTo>
                <a:lnTo>
                  <a:pt x="401928" y="0"/>
                </a:lnTo>
                <a:lnTo>
                  <a:pt x="401928" y="318528"/>
                </a:lnTo>
                <a:lnTo>
                  <a:pt x="0" y="31852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4" id="24"/>
          <p:cNvSpPr txBox="true"/>
          <p:nvPr/>
        </p:nvSpPr>
        <p:spPr>
          <a:xfrm rot="0">
            <a:off x="780477" y="1209743"/>
            <a:ext cx="2526030" cy="621037"/>
          </a:xfrm>
          <a:prstGeom prst="rect">
            <a:avLst/>
          </a:prstGeom>
        </p:spPr>
        <p:txBody>
          <a:bodyPr anchor="t" rtlCol="false" tIns="0" lIns="0" bIns="0" rIns="0">
            <a:spAutoFit/>
          </a:bodyPr>
          <a:lstStyle/>
          <a:p>
            <a:pPr algn="ctr">
              <a:lnSpc>
                <a:spcPts val="5144"/>
              </a:lnSpc>
            </a:pPr>
            <a:r>
              <a:rPr lang="en-US" b="true" sz="3674" u="sng">
                <a:solidFill>
                  <a:srgbClr val="5B2D8B"/>
                </a:solidFill>
                <a:latin typeface="Montserrat Ultra-Bold"/>
                <a:ea typeface="Montserrat Ultra-Bold"/>
                <a:cs typeface="Montserrat Ultra-Bold"/>
                <a:sym typeface="Montserrat Ultra-Bold"/>
                <a:hlinkClick r:id="rId18" tooltip="https://epirelief.co/home/"/>
              </a:rPr>
              <a:t>EPIRELIEF</a:t>
            </a:r>
          </a:p>
        </p:txBody>
      </p:sp>
      <p:sp>
        <p:nvSpPr>
          <p:cNvPr name="TextBox 25" id="25"/>
          <p:cNvSpPr txBox="true"/>
          <p:nvPr/>
        </p:nvSpPr>
        <p:spPr>
          <a:xfrm rot="0">
            <a:off x="780477" y="1917369"/>
            <a:ext cx="5268425" cy="200004"/>
          </a:xfrm>
          <a:prstGeom prst="rect">
            <a:avLst/>
          </a:prstGeom>
        </p:spPr>
        <p:txBody>
          <a:bodyPr anchor="t" rtlCol="false" tIns="0" lIns="0" bIns="0" rIns="0">
            <a:spAutoFit/>
          </a:bodyPr>
          <a:lstStyle/>
          <a:p>
            <a:pPr algn="ctr">
              <a:lnSpc>
                <a:spcPts val="1608"/>
              </a:lnSpc>
            </a:pPr>
            <a:r>
              <a:rPr lang="en-US" sz="1149" b="true">
                <a:solidFill>
                  <a:srgbClr val="272030"/>
                </a:solidFill>
                <a:latin typeface="Montserrat Medium"/>
                <a:ea typeface="Montserrat Medium"/>
                <a:cs typeface="Montserrat Medium"/>
                <a:sym typeface="Montserrat Medium"/>
              </a:rPr>
              <a:t>SMART SEIZURE MANAGEMENT &amp; EMERGENCY RESPONSE PLATFORM</a:t>
            </a:r>
          </a:p>
        </p:txBody>
      </p:sp>
      <p:sp>
        <p:nvSpPr>
          <p:cNvPr name="TextBox 26" id="26"/>
          <p:cNvSpPr txBox="true"/>
          <p:nvPr/>
        </p:nvSpPr>
        <p:spPr>
          <a:xfrm rot="0">
            <a:off x="780477" y="2490862"/>
            <a:ext cx="5509546" cy="264160"/>
          </a:xfrm>
          <a:prstGeom prst="rect">
            <a:avLst/>
          </a:prstGeom>
        </p:spPr>
        <p:txBody>
          <a:bodyPr anchor="t" rtlCol="false" tIns="0" lIns="0" bIns="0" rIns="0">
            <a:spAutoFit/>
          </a:bodyPr>
          <a:lstStyle/>
          <a:p>
            <a:pPr algn="l">
              <a:lnSpc>
                <a:spcPts val="2240"/>
              </a:lnSpc>
            </a:pPr>
            <a:r>
              <a:rPr lang="en-US" sz="1600" b="true">
                <a:solidFill>
                  <a:srgbClr val="000000"/>
                </a:solidFill>
                <a:latin typeface="Montserrat Bold"/>
                <a:ea typeface="Montserrat Bold"/>
                <a:cs typeface="Montserrat Bold"/>
                <a:sym typeface="Montserrat Bold"/>
              </a:rPr>
              <a:t>Healthcare</a:t>
            </a:r>
            <a:r>
              <a:rPr lang="en-US" sz="1600">
                <a:solidFill>
                  <a:srgbClr val="000000"/>
                </a:solidFill>
                <a:latin typeface="Montserrat"/>
                <a:ea typeface="Montserrat"/>
                <a:cs typeface="Montserrat"/>
                <a:sym typeface="Montserrat"/>
              </a:rPr>
              <a:t>: Epilepsy Management Seizure Detection</a:t>
            </a:r>
          </a:p>
        </p:txBody>
      </p:sp>
      <p:sp>
        <p:nvSpPr>
          <p:cNvPr name="TextBox 27" id="27"/>
          <p:cNvSpPr txBox="true"/>
          <p:nvPr/>
        </p:nvSpPr>
        <p:spPr>
          <a:xfrm rot="0">
            <a:off x="780477" y="2902585"/>
            <a:ext cx="5268425" cy="735965"/>
          </a:xfrm>
          <a:prstGeom prst="rect">
            <a:avLst/>
          </a:prstGeom>
        </p:spPr>
        <p:txBody>
          <a:bodyPr anchor="t" rtlCol="false" tIns="0" lIns="0" bIns="0" rIns="0">
            <a:spAutoFit/>
          </a:bodyPr>
          <a:lstStyle/>
          <a:p>
            <a:pPr algn="l">
              <a:lnSpc>
                <a:spcPts val="1960"/>
              </a:lnSpc>
            </a:pPr>
            <a:r>
              <a:rPr lang="en-US" sz="1400">
                <a:solidFill>
                  <a:srgbClr val="000000"/>
                </a:solidFill>
                <a:latin typeface="Montserrat"/>
                <a:ea typeface="Montserrat"/>
                <a:cs typeface="Montserrat"/>
                <a:sym typeface="Montserrat"/>
              </a:rPr>
              <a:t>EpiRelief helps individuals with epilepsy take control of their condition through smart seizure logging, medication management, and real-time emergency notifications.</a:t>
            </a:r>
          </a:p>
        </p:txBody>
      </p:sp>
      <p:sp>
        <p:nvSpPr>
          <p:cNvPr name="TextBox 28" id="28"/>
          <p:cNvSpPr txBox="true"/>
          <p:nvPr/>
        </p:nvSpPr>
        <p:spPr>
          <a:xfrm rot="0">
            <a:off x="780477" y="5763339"/>
            <a:ext cx="1747116" cy="306705"/>
          </a:xfrm>
          <a:prstGeom prst="rect">
            <a:avLst/>
          </a:prstGeom>
        </p:spPr>
        <p:txBody>
          <a:bodyPr anchor="t" rtlCol="false" tIns="0" lIns="0" bIns="0" rIns="0">
            <a:spAutoFit/>
          </a:bodyPr>
          <a:lstStyle/>
          <a:p>
            <a:pPr algn="ctr">
              <a:lnSpc>
                <a:spcPts val="2520"/>
              </a:lnSpc>
            </a:pPr>
            <a:r>
              <a:rPr lang="en-US" sz="1800" b="true">
                <a:solidFill>
                  <a:srgbClr val="000000"/>
                </a:solidFill>
                <a:latin typeface="Montserrat Bold"/>
                <a:ea typeface="Montserrat Bold"/>
                <a:cs typeface="Montserrat Bold"/>
                <a:sym typeface="Montserrat Bold"/>
              </a:rPr>
              <a:t>Technologies</a:t>
            </a:r>
            <a:r>
              <a:rPr lang="en-US" sz="1800">
                <a:solidFill>
                  <a:srgbClr val="000000"/>
                </a:solidFill>
                <a:latin typeface="Montserrat"/>
                <a:ea typeface="Montserrat"/>
                <a:cs typeface="Montserrat"/>
                <a:sym typeface="Montserrat"/>
              </a:rPr>
              <a:t>: </a:t>
            </a:r>
          </a:p>
        </p:txBody>
      </p:sp>
      <p:sp>
        <p:nvSpPr>
          <p:cNvPr name="TextBox 29" id="29"/>
          <p:cNvSpPr txBox="true"/>
          <p:nvPr/>
        </p:nvSpPr>
        <p:spPr>
          <a:xfrm rot="0">
            <a:off x="780477" y="6624212"/>
            <a:ext cx="2832756" cy="306705"/>
          </a:xfrm>
          <a:prstGeom prst="rect">
            <a:avLst/>
          </a:prstGeom>
        </p:spPr>
        <p:txBody>
          <a:bodyPr anchor="t" rtlCol="false" tIns="0" lIns="0" bIns="0" rIns="0">
            <a:spAutoFit/>
          </a:bodyPr>
          <a:lstStyle/>
          <a:p>
            <a:pPr algn="l">
              <a:lnSpc>
                <a:spcPts val="2520"/>
              </a:lnSpc>
            </a:pPr>
            <a:r>
              <a:rPr lang="en-US" sz="1800" b="true">
                <a:solidFill>
                  <a:srgbClr val="000000"/>
                </a:solidFill>
                <a:latin typeface="Montserrat Bold"/>
                <a:ea typeface="Montserrat Bold"/>
                <a:cs typeface="Montserrat Bold"/>
                <a:sym typeface="Montserrat Bold"/>
              </a:rPr>
              <a:t>Real-time Notifications</a:t>
            </a:r>
            <a:r>
              <a:rPr lang="en-US" sz="1800">
                <a:solidFill>
                  <a:srgbClr val="000000"/>
                </a:solidFill>
                <a:latin typeface="Montserrat"/>
                <a:ea typeface="Montserrat"/>
                <a:cs typeface="Montserrat"/>
                <a:sym typeface="Montserrat"/>
              </a:rPr>
              <a:t>:</a:t>
            </a:r>
          </a:p>
        </p:txBody>
      </p:sp>
      <p:sp>
        <p:nvSpPr>
          <p:cNvPr name="TextBox 30" id="30"/>
          <p:cNvSpPr txBox="true"/>
          <p:nvPr/>
        </p:nvSpPr>
        <p:spPr>
          <a:xfrm rot="0">
            <a:off x="780477" y="7674610"/>
            <a:ext cx="12537557" cy="190868"/>
          </a:xfrm>
          <a:prstGeom prst="rect">
            <a:avLst/>
          </a:prstGeom>
        </p:spPr>
        <p:txBody>
          <a:bodyPr anchor="t" rtlCol="false" tIns="0" lIns="0" bIns="0" rIns="0">
            <a:spAutoFit/>
          </a:bodyPr>
          <a:lstStyle/>
          <a:p>
            <a:pPr algn="ctr">
              <a:lnSpc>
                <a:spcPts val="1554"/>
              </a:lnSpc>
            </a:pPr>
            <a:r>
              <a:rPr lang="en-US" sz="1110">
                <a:solidFill>
                  <a:srgbClr val="000000"/>
                </a:solidFill>
                <a:latin typeface="Montserrat"/>
                <a:ea typeface="Montserrat"/>
                <a:cs typeface="Montserrat"/>
                <a:sym typeface="Montserrat"/>
              </a:rPr>
              <a:t>“EpiRelief has significantly improved how we monitor seizures and respond to emergencies.”</a:t>
            </a:r>
            <a:r>
              <a:rPr lang="en-US" sz="1110" b="true">
                <a:solidFill>
                  <a:srgbClr val="000000"/>
                </a:solidFill>
                <a:latin typeface="Montserrat Bold"/>
                <a:ea typeface="Montserrat Bold"/>
                <a:cs typeface="Montserrat Bold"/>
                <a:sym typeface="Montserrat Bold"/>
              </a:rPr>
              <a:t> — Clinical Program Manager</a:t>
            </a:r>
          </a:p>
        </p:txBody>
      </p:sp>
      <p:sp>
        <p:nvSpPr>
          <p:cNvPr name="TextBox 31" id="31"/>
          <p:cNvSpPr txBox="true"/>
          <p:nvPr/>
        </p:nvSpPr>
        <p:spPr>
          <a:xfrm rot="0">
            <a:off x="1580661" y="3954820"/>
            <a:ext cx="1098779" cy="488315"/>
          </a:xfrm>
          <a:prstGeom prst="rect">
            <a:avLst/>
          </a:prstGeom>
        </p:spPr>
        <p:txBody>
          <a:bodyPr anchor="t" rtlCol="false" tIns="0" lIns="0" bIns="0" rIns="0">
            <a:spAutoFit/>
          </a:bodyPr>
          <a:lstStyle/>
          <a:p>
            <a:pPr algn="l">
              <a:lnSpc>
                <a:spcPts val="1960"/>
              </a:lnSpc>
              <a:spcBef>
                <a:spcPct val="0"/>
              </a:spcBef>
            </a:pPr>
            <a:r>
              <a:rPr lang="en-US" sz="1400">
                <a:solidFill>
                  <a:srgbClr val="FFFFFF"/>
                </a:solidFill>
                <a:latin typeface="Montserrat"/>
                <a:ea typeface="Montserrat"/>
                <a:cs typeface="Montserrat"/>
                <a:sym typeface="Montserrat"/>
              </a:rPr>
              <a:t>Delivered in </a:t>
            </a:r>
          </a:p>
          <a:p>
            <a:pPr algn="l">
              <a:lnSpc>
                <a:spcPts val="1960"/>
              </a:lnSpc>
              <a:spcBef>
                <a:spcPct val="0"/>
              </a:spcBef>
            </a:pPr>
            <a:r>
              <a:rPr lang="en-US" b="true" sz="1400">
                <a:solidFill>
                  <a:srgbClr val="FFFFFF"/>
                </a:solidFill>
                <a:latin typeface="Montserrat Bold"/>
                <a:ea typeface="Montserrat Bold"/>
                <a:cs typeface="Montserrat Bold"/>
                <a:sym typeface="Montserrat Bold"/>
              </a:rPr>
              <a:t>6 months</a:t>
            </a:r>
          </a:p>
        </p:txBody>
      </p:sp>
      <p:sp>
        <p:nvSpPr>
          <p:cNvPr name="TextBox 32" id="32"/>
          <p:cNvSpPr txBox="true"/>
          <p:nvPr/>
        </p:nvSpPr>
        <p:spPr>
          <a:xfrm rot="0">
            <a:off x="3744516" y="3954820"/>
            <a:ext cx="2223322"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60 % fast</a:t>
            </a:r>
            <a:r>
              <a:rPr lang="en-US" b="true" sz="1400">
                <a:solidFill>
                  <a:srgbClr val="FFFFFF"/>
                </a:solidFill>
                <a:latin typeface="Montserrat Bold"/>
                <a:ea typeface="Montserrat Bold"/>
                <a:cs typeface="Montserrat Bold"/>
                <a:sym typeface="Montserrat Bold"/>
              </a:rPr>
              <a:t>er </a:t>
            </a:r>
            <a:r>
              <a:rPr lang="en-US" sz="1400">
                <a:solidFill>
                  <a:srgbClr val="FFFFFF"/>
                </a:solidFill>
                <a:latin typeface="Montserrat"/>
                <a:ea typeface="Montserrat"/>
                <a:cs typeface="Montserrat"/>
                <a:sym typeface="Montserrat"/>
              </a:rPr>
              <a:t>emergency response time</a:t>
            </a:r>
          </a:p>
        </p:txBody>
      </p:sp>
      <p:grpSp>
        <p:nvGrpSpPr>
          <p:cNvPr name="Group 33" id="33"/>
          <p:cNvGrpSpPr/>
          <p:nvPr/>
        </p:nvGrpSpPr>
        <p:grpSpPr>
          <a:xfrm rot="0">
            <a:off x="7756872" y="5505409"/>
            <a:ext cx="4845951" cy="1475740"/>
            <a:chOff x="0" y="0"/>
            <a:chExt cx="6461268" cy="1967654"/>
          </a:xfrm>
        </p:grpSpPr>
        <p:sp>
          <p:nvSpPr>
            <p:cNvPr name="TextBox 34" id="34"/>
            <p:cNvSpPr txBox="true"/>
            <p:nvPr/>
          </p:nvSpPr>
          <p:spPr>
            <a:xfrm rot="0">
              <a:off x="0" y="-28575"/>
              <a:ext cx="1407355" cy="342688"/>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Industry</a:t>
              </a:r>
            </a:p>
          </p:txBody>
        </p:sp>
        <p:sp>
          <p:nvSpPr>
            <p:cNvPr name="TextBox 35" id="35"/>
            <p:cNvSpPr txBox="true"/>
            <p:nvPr/>
          </p:nvSpPr>
          <p:spPr>
            <a:xfrm rot="0">
              <a:off x="0" y="517688"/>
              <a:ext cx="1407355" cy="342688"/>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Problem</a:t>
              </a:r>
            </a:p>
          </p:txBody>
        </p:sp>
        <p:sp>
          <p:nvSpPr>
            <p:cNvPr name="TextBox 36" id="36"/>
            <p:cNvSpPr txBox="true"/>
            <p:nvPr/>
          </p:nvSpPr>
          <p:spPr>
            <a:xfrm rot="0">
              <a:off x="0" y="1072938"/>
              <a:ext cx="1407355" cy="342688"/>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Solution</a:t>
              </a:r>
            </a:p>
          </p:txBody>
        </p:sp>
        <p:sp>
          <p:nvSpPr>
            <p:cNvPr name="TextBox 37" id="37"/>
            <p:cNvSpPr txBox="true"/>
            <p:nvPr/>
          </p:nvSpPr>
          <p:spPr>
            <a:xfrm rot="0">
              <a:off x="0" y="1624965"/>
              <a:ext cx="1173329" cy="342688"/>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Impact</a:t>
              </a:r>
            </a:p>
          </p:txBody>
        </p:sp>
        <p:sp>
          <p:nvSpPr>
            <p:cNvPr name="TextBox 38" id="38"/>
            <p:cNvSpPr txBox="true"/>
            <p:nvPr/>
          </p:nvSpPr>
          <p:spPr>
            <a:xfrm rot="0">
              <a:off x="1650647" y="1624965"/>
              <a:ext cx="4810621" cy="311362"/>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Faster response, improved patient safety</a:t>
              </a:r>
            </a:p>
          </p:txBody>
        </p:sp>
        <p:sp>
          <p:nvSpPr>
            <p:cNvPr name="TextBox 39" id="39"/>
            <p:cNvSpPr txBox="true"/>
            <p:nvPr/>
          </p:nvSpPr>
          <p:spPr>
            <a:xfrm rot="0">
              <a:off x="1650647" y="1060401"/>
              <a:ext cx="4182765" cy="311362"/>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Automated seizure logging &amp; alerts</a:t>
              </a:r>
            </a:p>
          </p:txBody>
        </p:sp>
        <p:sp>
          <p:nvSpPr>
            <p:cNvPr name="TextBox 40" id="40"/>
            <p:cNvSpPr txBox="true"/>
            <p:nvPr/>
          </p:nvSpPr>
          <p:spPr>
            <a:xfrm rot="0">
              <a:off x="1650647" y="509726"/>
              <a:ext cx="4299843" cy="311362"/>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Manual tracking &amp; delayed response</a:t>
              </a:r>
            </a:p>
          </p:txBody>
        </p:sp>
        <p:sp>
          <p:nvSpPr>
            <p:cNvPr name="TextBox 41" id="41"/>
            <p:cNvSpPr txBox="true"/>
            <p:nvPr/>
          </p:nvSpPr>
          <p:spPr>
            <a:xfrm rot="0">
              <a:off x="1650647" y="-28575"/>
              <a:ext cx="1302147" cy="311362"/>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Healthcare</a:t>
              </a:r>
            </a:p>
          </p:txBody>
        </p:sp>
        <p:sp>
          <p:nvSpPr>
            <p:cNvPr name="TextBox 42" id="42"/>
            <p:cNvSpPr txBox="true"/>
            <p:nvPr/>
          </p:nvSpPr>
          <p:spPr>
            <a:xfrm rot="0">
              <a:off x="1371835" y="-12488"/>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3" id="43"/>
            <p:cNvSpPr txBox="true"/>
            <p:nvPr/>
          </p:nvSpPr>
          <p:spPr>
            <a:xfrm rot="0">
              <a:off x="1371835" y="517688"/>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4" id="44"/>
            <p:cNvSpPr txBox="true"/>
            <p:nvPr/>
          </p:nvSpPr>
          <p:spPr>
            <a:xfrm rot="0">
              <a:off x="1371835" y="1064382"/>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5" id="45"/>
            <p:cNvSpPr txBox="true"/>
            <p:nvPr/>
          </p:nvSpPr>
          <p:spPr>
            <a:xfrm rot="0">
              <a:off x="1371835" y="1615652"/>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grpSp>
      <p:sp>
        <p:nvSpPr>
          <p:cNvPr name="TextBox 46" id="46"/>
          <p:cNvSpPr txBox="true"/>
          <p:nvPr/>
        </p:nvSpPr>
        <p:spPr>
          <a:xfrm rot="0">
            <a:off x="1580661" y="4749974"/>
            <a:ext cx="1268400"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85% us</a:t>
            </a:r>
            <a:r>
              <a:rPr lang="en-US" b="true" sz="1400">
                <a:solidFill>
                  <a:srgbClr val="FFFFFF"/>
                </a:solidFill>
                <a:latin typeface="Montserrat Bold"/>
                <a:ea typeface="Montserrat Bold"/>
                <a:cs typeface="Montserrat Bold"/>
                <a:sym typeface="Montserrat Bold"/>
              </a:rPr>
              <a:t>er adoption rate</a:t>
            </a:r>
          </a:p>
        </p:txBody>
      </p:sp>
      <p:sp>
        <p:nvSpPr>
          <p:cNvPr name="TextBox 47" id="47"/>
          <p:cNvSpPr txBox="true"/>
          <p:nvPr/>
        </p:nvSpPr>
        <p:spPr>
          <a:xfrm rot="0">
            <a:off x="3981254" y="4749974"/>
            <a:ext cx="1855234"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92% s</a:t>
            </a:r>
            <a:r>
              <a:rPr lang="en-US" b="true" sz="1400">
                <a:solidFill>
                  <a:srgbClr val="FFFFFF"/>
                </a:solidFill>
                <a:latin typeface="Montserrat Bold"/>
                <a:ea typeface="Montserrat Bold"/>
                <a:cs typeface="Montserrat Bold"/>
                <a:sym typeface="Montserrat Bold"/>
              </a:rPr>
              <a:t>eizure detection accuracy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9F6"/>
        </a:solidFill>
      </p:bgPr>
    </p:bg>
    <p:spTree>
      <p:nvGrpSpPr>
        <p:cNvPr id="1" name=""/>
        <p:cNvGrpSpPr/>
        <p:nvPr/>
      </p:nvGrpSpPr>
      <p:grpSpPr>
        <a:xfrm>
          <a:off x="0" y="0"/>
          <a:ext cx="0" cy="0"/>
          <a:chOff x="0" y="0"/>
          <a:chExt cx="0" cy="0"/>
        </a:xfrm>
      </p:grpSpPr>
      <p:grpSp>
        <p:nvGrpSpPr>
          <p:cNvPr name="Group 2" id="2"/>
          <p:cNvGrpSpPr/>
          <p:nvPr/>
        </p:nvGrpSpPr>
        <p:grpSpPr>
          <a:xfrm rot="0">
            <a:off x="780477" y="3589079"/>
            <a:ext cx="2995951" cy="623704"/>
            <a:chOff x="0" y="0"/>
            <a:chExt cx="832209" cy="173251"/>
          </a:xfrm>
        </p:grpSpPr>
        <p:sp>
          <p:nvSpPr>
            <p:cNvPr name="Freeform 3" id="3"/>
            <p:cNvSpPr/>
            <p:nvPr/>
          </p:nvSpPr>
          <p:spPr>
            <a:xfrm flipH="false" flipV="false" rot="0">
              <a:off x="0" y="0"/>
              <a:ext cx="832209" cy="173251"/>
            </a:xfrm>
            <a:custGeom>
              <a:avLst/>
              <a:gdLst/>
              <a:ahLst/>
              <a:cxnLst/>
              <a:rect r="r" b="b" t="t" l="l"/>
              <a:pathLst>
                <a:path h="173251" w="832209">
                  <a:moveTo>
                    <a:pt x="38358" y="0"/>
                  </a:moveTo>
                  <a:lnTo>
                    <a:pt x="793850" y="0"/>
                  </a:lnTo>
                  <a:cubicBezTo>
                    <a:pt x="804024" y="0"/>
                    <a:pt x="813780" y="4041"/>
                    <a:pt x="820974" y="11235"/>
                  </a:cubicBezTo>
                  <a:cubicBezTo>
                    <a:pt x="828167" y="18428"/>
                    <a:pt x="832209" y="28185"/>
                    <a:pt x="832209" y="38358"/>
                  </a:cubicBezTo>
                  <a:lnTo>
                    <a:pt x="832209" y="134893"/>
                  </a:lnTo>
                  <a:cubicBezTo>
                    <a:pt x="832209" y="156078"/>
                    <a:pt x="815035" y="173251"/>
                    <a:pt x="793850" y="173251"/>
                  </a:cubicBezTo>
                  <a:lnTo>
                    <a:pt x="38358" y="173251"/>
                  </a:lnTo>
                  <a:cubicBezTo>
                    <a:pt x="28185" y="173251"/>
                    <a:pt x="18428" y="169210"/>
                    <a:pt x="11235" y="162016"/>
                  </a:cubicBezTo>
                  <a:cubicBezTo>
                    <a:pt x="4041" y="154823"/>
                    <a:pt x="0" y="145066"/>
                    <a:pt x="0" y="134893"/>
                  </a:cubicBezTo>
                  <a:lnTo>
                    <a:pt x="0" y="38358"/>
                  </a:lnTo>
                  <a:cubicBezTo>
                    <a:pt x="0" y="28185"/>
                    <a:pt x="4041" y="18428"/>
                    <a:pt x="11235" y="11235"/>
                  </a:cubicBezTo>
                  <a:cubicBezTo>
                    <a:pt x="18428" y="4041"/>
                    <a:pt x="28185" y="0"/>
                    <a:pt x="38358" y="0"/>
                  </a:cubicBezTo>
                  <a:close/>
                </a:path>
              </a:pathLst>
            </a:custGeom>
            <a:solidFill>
              <a:srgbClr val="3CB300"/>
            </a:solidFill>
          </p:spPr>
        </p:sp>
        <p:sp>
          <p:nvSpPr>
            <p:cNvPr name="TextBox 4" id="4"/>
            <p:cNvSpPr txBox="true"/>
            <p:nvPr/>
          </p:nvSpPr>
          <p:spPr>
            <a:xfrm>
              <a:off x="0" y="-38100"/>
              <a:ext cx="832209" cy="211351"/>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3985977" y="3589079"/>
            <a:ext cx="2638243" cy="623704"/>
            <a:chOff x="0" y="0"/>
            <a:chExt cx="732845" cy="173251"/>
          </a:xfrm>
        </p:grpSpPr>
        <p:sp>
          <p:nvSpPr>
            <p:cNvPr name="Freeform 6" id="6"/>
            <p:cNvSpPr/>
            <p:nvPr/>
          </p:nvSpPr>
          <p:spPr>
            <a:xfrm flipH="false" flipV="false" rot="0">
              <a:off x="0" y="0"/>
              <a:ext cx="732845" cy="173251"/>
            </a:xfrm>
            <a:custGeom>
              <a:avLst/>
              <a:gdLst/>
              <a:ahLst/>
              <a:cxnLst/>
              <a:rect r="r" b="b" t="t" l="l"/>
              <a:pathLst>
                <a:path h="173251" w="732845">
                  <a:moveTo>
                    <a:pt x="43559" y="0"/>
                  </a:moveTo>
                  <a:lnTo>
                    <a:pt x="689286" y="0"/>
                  </a:lnTo>
                  <a:cubicBezTo>
                    <a:pt x="713343" y="0"/>
                    <a:pt x="732845" y="19502"/>
                    <a:pt x="732845" y="43559"/>
                  </a:cubicBezTo>
                  <a:lnTo>
                    <a:pt x="732845" y="129692"/>
                  </a:lnTo>
                  <a:cubicBezTo>
                    <a:pt x="732845" y="153749"/>
                    <a:pt x="713343" y="173251"/>
                    <a:pt x="689286" y="173251"/>
                  </a:cubicBezTo>
                  <a:lnTo>
                    <a:pt x="43559" y="173251"/>
                  </a:lnTo>
                  <a:cubicBezTo>
                    <a:pt x="32006" y="173251"/>
                    <a:pt x="20927" y="168662"/>
                    <a:pt x="12758" y="160493"/>
                  </a:cubicBezTo>
                  <a:cubicBezTo>
                    <a:pt x="4589" y="152324"/>
                    <a:pt x="0" y="141245"/>
                    <a:pt x="0" y="129692"/>
                  </a:cubicBezTo>
                  <a:lnTo>
                    <a:pt x="0" y="43559"/>
                  </a:lnTo>
                  <a:cubicBezTo>
                    <a:pt x="0" y="32006"/>
                    <a:pt x="4589" y="20927"/>
                    <a:pt x="12758" y="12758"/>
                  </a:cubicBezTo>
                  <a:cubicBezTo>
                    <a:pt x="20927" y="4589"/>
                    <a:pt x="32006" y="0"/>
                    <a:pt x="43559" y="0"/>
                  </a:cubicBezTo>
                  <a:close/>
                </a:path>
              </a:pathLst>
            </a:custGeom>
            <a:solidFill>
              <a:srgbClr val="3CB300"/>
            </a:solidFill>
          </p:spPr>
        </p:sp>
        <p:sp>
          <p:nvSpPr>
            <p:cNvPr name="TextBox 7" id="7"/>
            <p:cNvSpPr txBox="true"/>
            <p:nvPr/>
          </p:nvSpPr>
          <p:spPr>
            <a:xfrm>
              <a:off x="0" y="-38100"/>
              <a:ext cx="732845" cy="211351"/>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false" flipV="false" rot="0">
            <a:off x="904257" y="3594084"/>
            <a:ext cx="613694" cy="613694"/>
          </a:xfrm>
          <a:custGeom>
            <a:avLst/>
            <a:gdLst/>
            <a:ahLst/>
            <a:cxnLst/>
            <a:rect r="r" b="b" t="t" l="l"/>
            <a:pathLst>
              <a:path h="613694" w="613694">
                <a:moveTo>
                  <a:pt x="0" y="0"/>
                </a:moveTo>
                <a:lnTo>
                  <a:pt x="613694" y="0"/>
                </a:lnTo>
                <a:lnTo>
                  <a:pt x="613694" y="613694"/>
                </a:lnTo>
                <a:lnTo>
                  <a:pt x="0" y="6136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756872" y="2116780"/>
            <a:ext cx="5197128" cy="3221864"/>
            <a:chOff x="0" y="0"/>
            <a:chExt cx="642001" cy="397997"/>
          </a:xfrm>
        </p:grpSpPr>
        <p:sp>
          <p:nvSpPr>
            <p:cNvPr name="Freeform 10" id="10"/>
            <p:cNvSpPr/>
            <p:nvPr/>
          </p:nvSpPr>
          <p:spPr>
            <a:xfrm flipH="false" flipV="false" rot="0">
              <a:off x="0" y="0"/>
              <a:ext cx="642001" cy="397997"/>
            </a:xfrm>
            <a:custGeom>
              <a:avLst/>
              <a:gdLst/>
              <a:ahLst/>
              <a:cxnLst/>
              <a:rect r="r" b="b" t="t" l="l"/>
              <a:pathLst>
                <a:path h="397997" w="642001">
                  <a:moveTo>
                    <a:pt x="22112" y="0"/>
                  </a:moveTo>
                  <a:lnTo>
                    <a:pt x="619889" y="0"/>
                  </a:lnTo>
                  <a:cubicBezTo>
                    <a:pt x="632101" y="0"/>
                    <a:pt x="642001" y="9900"/>
                    <a:pt x="642001" y="22112"/>
                  </a:cubicBezTo>
                  <a:lnTo>
                    <a:pt x="642001" y="375885"/>
                  </a:lnTo>
                  <a:cubicBezTo>
                    <a:pt x="642001" y="388097"/>
                    <a:pt x="632101" y="397997"/>
                    <a:pt x="619889" y="397997"/>
                  </a:cubicBezTo>
                  <a:lnTo>
                    <a:pt x="22112" y="397997"/>
                  </a:lnTo>
                  <a:cubicBezTo>
                    <a:pt x="9900" y="397997"/>
                    <a:pt x="0" y="388097"/>
                    <a:pt x="0" y="375885"/>
                  </a:cubicBezTo>
                  <a:lnTo>
                    <a:pt x="0" y="22112"/>
                  </a:lnTo>
                  <a:cubicBezTo>
                    <a:pt x="0" y="9900"/>
                    <a:pt x="9900" y="0"/>
                    <a:pt x="22112" y="0"/>
                  </a:cubicBezTo>
                  <a:close/>
                </a:path>
              </a:pathLst>
            </a:custGeom>
            <a:solidFill>
              <a:srgbClr val="FFFFFF"/>
            </a:solidFill>
          </p:spPr>
        </p:sp>
        <p:sp>
          <p:nvSpPr>
            <p:cNvPr name="TextBox 11" id="11"/>
            <p:cNvSpPr txBox="true"/>
            <p:nvPr/>
          </p:nvSpPr>
          <p:spPr>
            <a:xfrm>
              <a:off x="0" y="-28575"/>
              <a:ext cx="642001" cy="426572"/>
            </a:xfrm>
            <a:prstGeom prst="rect">
              <a:avLst/>
            </a:prstGeom>
          </p:spPr>
          <p:txBody>
            <a:bodyPr anchor="ctr" rtlCol="false" tIns="50800" lIns="50800" bIns="50800" rIns="50800"/>
            <a:lstStyle/>
            <a:p>
              <a:pPr algn="ctr">
                <a:lnSpc>
                  <a:spcPts val="2239"/>
                </a:lnSpc>
              </a:pPr>
            </a:p>
          </p:txBody>
        </p:sp>
      </p:grpSp>
      <p:sp>
        <p:nvSpPr>
          <p:cNvPr name="Freeform 12" id="12"/>
          <p:cNvSpPr/>
          <p:nvPr/>
        </p:nvSpPr>
        <p:spPr>
          <a:xfrm flipH="false" flipV="false" rot="0">
            <a:off x="4219929" y="3732919"/>
            <a:ext cx="336023" cy="336023"/>
          </a:xfrm>
          <a:custGeom>
            <a:avLst/>
            <a:gdLst/>
            <a:ahLst/>
            <a:cxnLst/>
            <a:rect r="r" b="b" t="t" l="l"/>
            <a:pathLst>
              <a:path h="336023" w="336023">
                <a:moveTo>
                  <a:pt x="0" y="0"/>
                </a:moveTo>
                <a:lnTo>
                  <a:pt x="336023" y="0"/>
                </a:lnTo>
                <a:lnTo>
                  <a:pt x="336023" y="336023"/>
                </a:lnTo>
                <a:lnTo>
                  <a:pt x="0" y="336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701176" y="6060266"/>
            <a:ext cx="440629" cy="440629"/>
          </a:xfrm>
          <a:custGeom>
            <a:avLst/>
            <a:gdLst/>
            <a:ahLst/>
            <a:cxnLst/>
            <a:rect r="r" b="b" t="t" l="l"/>
            <a:pathLst>
              <a:path h="440629" w="440629">
                <a:moveTo>
                  <a:pt x="0" y="0"/>
                </a:moveTo>
                <a:lnTo>
                  <a:pt x="440629" y="0"/>
                </a:lnTo>
                <a:lnTo>
                  <a:pt x="440629" y="440630"/>
                </a:lnTo>
                <a:lnTo>
                  <a:pt x="0" y="440630"/>
                </a:lnTo>
                <a:lnTo>
                  <a:pt x="0" y="0"/>
                </a:lnTo>
                <a:close/>
              </a:path>
            </a:pathLst>
          </a:custGeom>
          <a:blipFill>
            <a:blip r:embed="rId6"/>
            <a:stretch>
              <a:fillRect l="0" t="0" r="0" b="0"/>
            </a:stretch>
          </a:blipFill>
        </p:spPr>
      </p:sp>
      <p:sp>
        <p:nvSpPr>
          <p:cNvPr name="Freeform 14" id="14"/>
          <p:cNvSpPr/>
          <p:nvPr/>
        </p:nvSpPr>
        <p:spPr>
          <a:xfrm flipH="false" flipV="false" rot="0">
            <a:off x="2693192" y="6702560"/>
            <a:ext cx="448613" cy="439369"/>
          </a:xfrm>
          <a:custGeom>
            <a:avLst/>
            <a:gdLst/>
            <a:ahLst/>
            <a:cxnLst/>
            <a:rect r="r" b="b" t="t" l="l"/>
            <a:pathLst>
              <a:path h="439369" w="448613">
                <a:moveTo>
                  <a:pt x="0" y="0"/>
                </a:moveTo>
                <a:lnTo>
                  <a:pt x="448613" y="0"/>
                </a:lnTo>
                <a:lnTo>
                  <a:pt x="448613" y="439369"/>
                </a:lnTo>
                <a:lnTo>
                  <a:pt x="0" y="439369"/>
                </a:lnTo>
                <a:lnTo>
                  <a:pt x="0" y="0"/>
                </a:lnTo>
                <a:close/>
              </a:path>
            </a:pathLst>
          </a:custGeom>
          <a:blipFill>
            <a:blip r:embed="rId7"/>
            <a:stretch>
              <a:fillRect l="-33762" t="0" r="-32942" b="0"/>
            </a:stretch>
          </a:blipFill>
        </p:spPr>
      </p:sp>
      <p:sp>
        <p:nvSpPr>
          <p:cNvPr name="Freeform 15" id="15"/>
          <p:cNvSpPr/>
          <p:nvPr/>
        </p:nvSpPr>
        <p:spPr>
          <a:xfrm flipH="false" flipV="false" rot="0">
            <a:off x="4734892" y="6110001"/>
            <a:ext cx="400023" cy="424826"/>
          </a:xfrm>
          <a:custGeom>
            <a:avLst/>
            <a:gdLst/>
            <a:ahLst/>
            <a:cxnLst/>
            <a:rect r="r" b="b" t="t" l="l"/>
            <a:pathLst>
              <a:path h="424826" w="400023">
                <a:moveTo>
                  <a:pt x="0" y="0"/>
                </a:moveTo>
                <a:lnTo>
                  <a:pt x="400023" y="0"/>
                </a:lnTo>
                <a:lnTo>
                  <a:pt x="400023" y="424826"/>
                </a:lnTo>
                <a:lnTo>
                  <a:pt x="0" y="424826"/>
                </a:lnTo>
                <a:lnTo>
                  <a:pt x="0" y="0"/>
                </a:lnTo>
                <a:close/>
              </a:path>
            </a:pathLst>
          </a:custGeom>
          <a:blipFill>
            <a:blip r:embed="rId8"/>
            <a:stretch>
              <a:fillRect l="-45672" t="0" r="-43971" b="0"/>
            </a:stretch>
          </a:blipFill>
        </p:spPr>
      </p:sp>
      <p:sp>
        <p:nvSpPr>
          <p:cNvPr name="Freeform 16" id="16"/>
          <p:cNvSpPr/>
          <p:nvPr/>
        </p:nvSpPr>
        <p:spPr>
          <a:xfrm flipH="false" flipV="false" rot="0">
            <a:off x="4612521" y="6651969"/>
            <a:ext cx="587616" cy="587616"/>
          </a:xfrm>
          <a:custGeom>
            <a:avLst/>
            <a:gdLst/>
            <a:ahLst/>
            <a:cxnLst/>
            <a:rect r="r" b="b" t="t" l="l"/>
            <a:pathLst>
              <a:path h="587616" w="587616">
                <a:moveTo>
                  <a:pt x="0" y="0"/>
                </a:moveTo>
                <a:lnTo>
                  <a:pt x="587616" y="0"/>
                </a:lnTo>
                <a:lnTo>
                  <a:pt x="587616" y="587616"/>
                </a:lnTo>
                <a:lnTo>
                  <a:pt x="0" y="587616"/>
                </a:lnTo>
                <a:lnTo>
                  <a:pt x="0" y="0"/>
                </a:lnTo>
                <a:close/>
              </a:path>
            </a:pathLst>
          </a:custGeom>
          <a:blipFill>
            <a:blip r:embed="rId9"/>
            <a:stretch>
              <a:fillRect l="0" t="0" r="0" b="0"/>
            </a:stretch>
          </a:blipFill>
        </p:spPr>
      </p:sp>
      <p:grpSp>
        <p:nvGrpSpPr>
          <p:cNvPr name="Group 17" id="17"/>
          <p:cNvGrpSpPr/>
          <p:nvPr/>
        </p:nvGrpSpPr>
        <p:grpSpPr>
          <a:xfrm rot="0">
            <a:off x="780477" y="4374708"/>
            <a:ext cx="2995951" cy="623704"/>
            <a:chOff x="0" y="0"/>
            <a:chExt cx="832209" cy="173251"/>
          </a:xfrm>
        </p:grpSpPr>
        <p:sp>
          <p:nvSpPr>
            <p:cNvPr name="Freeform 18" id="18"/>
            <p:cNvSpPr/>
            <p:nvPr/>
          </p:nvSpPr>
          <p:spPr>
            <a:xfrm flipH="false" flipV="false" rot="0">
              <a:off x="0" y="0"/>
              <a:ext cx="832209" cy="173251"/>
            </a:xfrm>
            <a:custGeom>
              <a:avLst/>
              <a:gdLst/>
              <a:ahLst/>
              <a:cxnLst/>
              <a:rect r="r" b="b" t="t" l="l"/>
              <a:pathLst>
                <a:path h="173251" w="832209">
                  <a:moveTo>
                    <a:pt x="38358" y="0"/>
                  </a:moveTo>
                  <a:lnTo>
                    <a:pt x="793850" y="0"/>
                  </a:lnTo>
                  <a:cubicBezTo>
                    <a:pt x="804024" y="0"/>
                    <a:pt x="813780" y="4041"/>
                    <a:pt x="820974" y="11235"/>
                  </a:cubicBezTo>
                  <a:cubicBezTo>
                    <a:pt x="828167" y="18428"/>
                    <a:pt x="832209" y="28185"/>
                    <a:pt x="832209" y="38358"/>
                  </a:cubicBezTo>
                  <a:lnTo>
                    <a:pt x="832209" y="134893"/>
                  </a:lnTo>
                  <a:cubicBezTo>
                    <a:pt x="832209" y="156078"/>
                    <a:pt x="815035" y="173251"/>
                    <a:pt x="793850" y="173251"/>
                  </a:cubicBezTo>
                  <a:lnTo>
                    <a:pt x="38358" y="173251"/>
                  </a:lnTo>
                  <a:cubicBezTo>
                    <a:pt x="28185" y="173251"/>
                    <a:pt x="18428" y="169210"/>
                    <a:pt x="11235" y="162016"/>
                  </a:cubicBezTo>
                  <a:cubicBezTo>
                    <a:pt x="4041" y="154823"/>
                    <a:pt x="0" y="145066"/>
                    <a:pt x="0" y="134893"/>
                  </a:cubicBezTo>
                  <a:lnTo>
                    <a:pt x="0" y="38358"/>
                  </a:lnTo>
                  <a:cubicBezTo>
                    <a:pt x="0" y="28185"/>
                    <a:pt x="4041" y="18428"/>
                    <a:pt x="11235" y="11235"/>
                  </a:cubicBezTo>
                  <a:cubicBezTo>
                    <a:pt x="18428" y="4041"/>
                    <a:pt x="28185" y="0"/>
                    <a:pt x="38358" y="0"/>
                  </a:cubicBezTo>
                  <a:close/>
                </a:path>
              </a:pathLst>
            </a:custGeom>
            <a:solidFill>
              <a:srgbClr val="3CB300"/>
            </a:solidFill>
          </p:spPr>
        </p:sp>
        <p:sp>
          <p:nvSpPr>
            <p:cNvPr name="TextBox 19" id="19"/>
            <p:cNvSpPr txBox="true"/>
            <p:nvPr/>
          </p:nvSpPr>
          <p:spPr>
            <a:xfrm>
              <a:off x="0" y="-38100"/>
              <a:ext cx="832209" cy="211351"/>
            </a:xfrm>
            <a:prstGeom prst="rect">
              <a:avLst/>
            </a:prstGeom>
          </p:spPr>
          <p:txBody>
            <a:bodyPr anchor="ctr" rtlCol="false" tIns="50800" lIns="50800" bIns="50800" rIns="50800"/>
            <a:lstStyle/>
            <a:p>
              <a:pPr algn="ctr">
                <a:lnSpc>
                  <a:spcPts val="2520"/>
                </a:lnSpc>
              </a:pPr>
            </a:p>
          </p:txBody>
        </p:sp>
      </p:grpSp>
      <p:grpSp>
        <p:nvGrpSpPr>
          <p:cNvPr name="Group 20" id="20"/>
          <p:cNvGrpSpPr/>
          <p:nvPr/>
        </p:nvGrpSpPr>
        <p:grpSpPr>
          <a:xfrm rot="0">
            <a:off x="3985977" y="4374708"/>
            <a:ext cx="2638243" cy="623704"/>
            <a:chOff x="0" y="0"/>
            <a:chExt cx="732845" cy="173251"/>
          </a:xfrm>
        </p:grpSpPr>
        <p:sp>
          <p:nvSpPr>
            <p:cNvPr name="Freeform 21" id="21"/>
            <p:cNvSpPr/>
            <p:nvPr/>
          </p:nvSpPr>
          <p:spPr>
            <a:xfrm flipH="false" flipV="false" rot="0">
              <a:off x="0" y="0"/>
              <a:ext cx="732845" cy="173251"/>
            </a:xfrm>
            <a:custGeom>
              <a:avLst/>
              <a:gdLst/>
              <a:ahLst/>
              <a:cxnLst/>
              <a:rect r="r" b="b" t="t" l="l"/>
              <a:pathLst>
                <a:path h="173251" w="732845">
                  <a:moveTo>
                    <a:pt x="43559" y="0"/>
                  </a:moveTo>
                  <a:lnTo>
                    <a:pt x="689286" y="0"/>
                  </a:lnTo>
                  <a:cubicBezTo>
                    <a:pt x="713343" y="0"/>
                    <a:pt x="732845" y="19502"/>
                    <a:pt x="732845" y="43559"/>
                  </a:cubicBezTo>
                  <a:lnTo>
                    <a:pt x="732845" y="129692"/>
                  </a:lnTo>
                  <a:cubicBezTo>
                    <a:pt x="732845" y="153749"/>
                    <a:pt x="713343" y="173251"/>
                    <a:pt x="689286" y="173251"/>
                  </a:cubicBezTo>
                  <a:lnTo>
                    <a:pt x="43559" y="173251"/>
                  </a:lnTo>
                  <a:cubicBezTo>
                    <a:pt x="32006" y="173251"/>
                    <a:pt x="20927" y="168662"/>
                    <a:pt x="12758" y="160493"/>
                  </a:cubicBezTo>
                  <a:cubicBezTo>
                    <a:pt x="4589" y="152324"/>
                    <a:pt x="0" y="141245"/>
                    <a:pt x="0" y="129692"/>
                  </a:cubicBezTo>
                  <a:lnTo>
                    <a:pt x="0" y="43559"/>
                  </a:lnTo>
                  <a:cubicBezTo>
                    <a:pt x="0" y="32006"/>
                    <a:pt x="4589" y="20927"/>
                    <a:pt x="12758" y="12758"/>
                  </a:cubicBezTo>
                  <a:cubicBezTo>
                    <a:pt x="20927" y="4589"/>
                    <a:pt x="32006" y="0"/>
                    <a:pt x="43559" y="0"/>
                  </a:cubicBezTo>
                  <a:close/>
                </a:path>
              </a:pathLst>
            </a:custGeom>
            <a:solidFill>
              <a:srgbClr val="3CB300"/>
            </a:solidFill>
          </p:spPr>
        </p:sp>
        <p:sp>
          <p:nvSpPr>
            <p:cNvPr name="TextBox 22" id="22"/>
            <p:cNvSpPr txBox="true"/>
            <p:nvPr/>
          </p:nvSpPr>
          <p:spPr>
            <a:xfrm>
              <a:off x="0" y="-38100"/>
              <a:ext cx="732845" cy="211351"/>
            </a:xfrm>
            <a:prstGeom prst="rect">
              <a:avLst/>
            </a:prstGeom>
          </p:spPr>
          <p:txBody>
            <a:bodyPr anchor="ctr" rtlCol="false" tIns="50800" lIns="50800" bIns="50800" rIns="50800"/>
            <a:lstStyle/>
            <a:p>
              <a:pPr algn="ctr">
                <a:lnSpc>
                  <a:spcPts val="2520"/>
                </a:lnSpc>
              </a:pPr>
            </a:p>
          </p:txBody>
        </p:sp>
      </p:grpSp>
      <p:grpSp>
        <p:nvGrpSpPr>
          <p:cNvPr name="Group 23" id="23"/>
          <p:cNvGrpSpPr/>
          <p:nvPr/>
        </p:nvGrpSpPr>
        <p:grpSpPr>
          <a:xfrm rot="0">
            <a:off x="780477" y="5160337"/>
            <a:ext cx="2995951" cy="623704"/>
            <a:chOff x="0" y="0"/>
            <a:chExt cx="832209" cy="173251"/>
          </a:xfrm>
        </p:grpSpPr>
        <p:sp>
          <p:nvSpPr>
            <p:cNvPr name="Freeform 24" id="24"/>
            <p:cNvSpPr/>
            <p:nvPr/>
          </p:nvSpPr>
          <p:spPr>
            <a:xfrm flipH="false" flipV="false" rot="0">
              <a:off x="0" y="0"/>
              <a:ext cx="832209" cy="173251"/>
            </a:xfrm>
            <a:custGeom>
              <a:avLst/>
              <a:gdLst/>
              <a:ahLst/>
              <a:cxnLst/>
              <a:rect r="r" b="b" t="t" l="l"/>
              <a:pathLst>
                <a:path h="173251" w="832209">
                  <a:moveTo>
                    <a:pt x="38358" y="0"/>
                  </a:moveTo>
                  <a:lnTo>
                    <a:pt x="793850" y="0"/>
                  </a:lnTo>
                  <a:cubicBezTo>
                    <a:pt x="804024" y="0"/>
                    <a:pt x="813780" y="4041"/>
                    <a:pt x="820974" y="11235"/>
                  </a:cubicBezTo>
                  <a:cubicBezTo>
                    <a:pt x="828167" y="18428"/>
                    <a:pt x="832209" y="28185"/>
                    <a:pt x="832209" y="38358"/>
                  </a:cubicBezTo>
                  <a:lnTo>
                    <a:pt x="832209" y="134893"/>
                  </a:lnTo>
                  <a:cubicBezTo>
                    <a:pt x="832209" y="156078"/>
                    <a:pt x="815035" y="173251"/>
                    <a:pt x="793850" y="173251"/>
                  </a:cubicBezTo>
                  <a:lnTo>
                    <a:pt x="38358" y="173251"/>
                  </a:lnTo>
                  <a:cubicBezTo>
                    <a:pt x="28185" y="173251"/>
                    <a:pt x="18428" y="169210"/>
                    <a:pt x="11235" y="162016"/>
                  </a:cubicBezTo>
                  <a:cubicBezTo>
                    <a:pt x="4041" y="154823"/>
                    <a:pt x="0" y="145066"/>
                    <a:pt x="0" y="134893"/>
                  </a:cubicBezTo>
                  <a:lnTo>
                    <a:pt x="0" y="38358"/>
                  </a:lnTo>
                  <a:cubicBezTo>
                    <a:pt x="0" y="28185"/>
                    <a:pt x="4041" y="18428"/>
                    <a:pt x="11235" y="11235"/>
                  </a:cubicBezTo>
                  <a:cubicBezTo>
                    <a:pt x="18428" y="4041"/>
                    <a:pt x="28185" y="0"/>
                    <a:pt x="38358" y="0"/>
                  </a:cubicBezTo>
                  <a:close/>
                </a:path>
              </a:pathLst>
            </a:custGeom>
            <a:solidFill>
              <a:srgbClr val="3CB300"/>
            </a:solidFill>
          </p:spPr>
        </p:sp>
        <p:sp>
          <p:nvSpPr>
            <p:cNvPr name="TextBox 25" id="25"/>
            <p:cNvSpPr txBox="true"/>
            <p:nvPr/>
          </p:nvSpPr>
          <p:spPr>
            <a:xfrm>
              <a:off x="0" y="-38100"/>
              <a:ext cx="832209" cy="211351"/>
            </a:xfrm>
            <a:prstGeom prst="rect">
              <a:avLst/>
            </a:prstGeom>
          </p:spPr>
          <p:txBody>
            <a:bodyPr anchor="ctr" rtlCol="false" tIns="50800" lIns="50800" bIns="50800" rIns="50800"/>
            <a:lstStyle/>
            <a:p>
              <a:pPr algn="ctr">
                <a:lnSpc>
                  <a:spcPts val="2520"/>
                </a:lnSpc>
              </a:pPr>
            </a:p>
          </p:txBody>
        </p:sp>
      </p:grpSp>
      <p:grpSp>
        <p:nvGrpSpPr>
          <p:cNvPr name="Group 26" id="26"/>
          <p:cNvGrpSpPr/>
          <p:nvPr/>
        </p:nvGrpSpPr>
        <p:grpSpPr>
          <a:xfrm rot="0">
            <a:off x="3985977" y="5160337"/>
            <a:ext cx="3470222" cy="623704"/>
            <a:chOff x="0" y="0"/>
            <a:chExt cx="963951" cy="173251"/>
          </a:xfrm>
        </p:grpSpPr>
        <p:sp>
          <p:nvSpPr>
            <p:cNvPr name="Freeform 27" id="27"/>
            <p:cNvSpPr/>
            <p:nvPr/>
          </p:nvSpPr>
          <p:spPr>
            <a:xfrm flipH="false" flipV="false" rot="0">
              <a:off x="0" y="0"/>
              <a:ext cx="963951" cy="173251"/>
            </a:xfrm>
            <a:custGeom>
              <a:avLst/>
              <a:gdLst/>
              <a:ahLst/>
              <a:cxnLst/>
              <a:rect r="r" b="b" t="t" l="l"/>
              <a:pathLst>
                <a:path h="173251" w="963951">
                  <a:moveTo>
                    <a:pt x="33116" y="0"/>
                  </a:moveTo>
                  <a:lnTo>
                    <a:pt x="930835" y="0"/>
                  </a:lnTo>
                  <a:cubicBezTo>
                    <a:pt x="939618" y="0"/>
                    <a:pt x="948041" y="3489"/>
                    <a:pt x="954251" y="9699"/>
                  </a:cubicBezTo>
                  <a:cubicBezTo>
                    <a:pt x="960462" y="15910"/>
                    <a:pt x="963951" y="24333"/>
                    <a:pt x="963951" y="33116"/>
                  </a:cubicBezTo>
                  <a:lnTo>
                    <a:pt x="963951" y="140135"/>
                  </a:lnTo>
                  <a:cubicBezTo>
                    <a:pt x="963951" y="148918"/>
                    <a:pt x="960462" y="157341"/>
                    <a:pt x="954251" y="163552"/>
                  </a:cubicBezTo>
                  <a:cubicBezTo>
                    <a:pt x="948041" y="169762"/>
                    <a:pt x="939618" y="173251"/>
                    <a:pt x="930835" y="173251"/>
                  </a:cubicBezTo>
                  <a:lnTo>
                    <a:pt x="33116" y="173251"/>
                  </a:lnTo>
                  <a:cubicBezTo>
                    <a:pt x="24333" y="173251"/>
                    <a:pt x="15910" y="169762"/>
                    <a:pt x="9699" y="163552"/>
                  </a:cubicBezTo>
                  <a:cubicBezTo>
                    <a:pt x="3489" y="157341"/>
                    <a:pt x="0" y="148918"/>
                    <a:pt x="0" y="140135"/>
                  </a:cubicBezTo>
                  <a:lnTo>
                    <a:pt x="0" y="33116"/>
                  </a:lnTo>
                  <a:cubicBezTo>
                    <a:pt x="0" y="24333"/>
                    <a:pt x="3489" y="15910"/>
                    <a:pt x="9699" y="9699"/>
                  </a:cubicBezTo>
                  <a:cubicBezTo>
                    <a:pt x="15910" y="3489"/>
                    <a:pt x="24333" y="0"/>
                    <a:pt x="33116" y="0"/>
                  </a:cubicBezTo>
                  <a:close/>
                </a:path>
              </a:pathLst>
            </a:custGeom>
            <a:solidFill>
              <a:srgbClr val="3CB300"/>
            </a:solidFill>
          </p:spPr>
        </p:sp>
        <p:sp>
          <p:nvSpPr>
            <p:cNvPr name="TextBox 28" id="28"/>
            <p:cNvSpPr txBox="true"/>
            <p:nvPr/>
          </p:nvSpPr>
          <p:spPr>
            <a:xfrm>
              <a:off x="0" y="-38100"/>
              <a:ext cx="963951" cy="211351"/>
            </a:xfrm>
            <a:prstGeom prst="rect">
              <a:avLst/>
            </a:prstGeom>
          </p:spPr>
          <p:txBody>
            <a:bodyPr anchor="ctr" rtlCol="false" tIns="50800" lIns="50800" bIns="50800" rIns="50800"/>
            <a:lstStyle/>
            <a:p>
              <a:pPr algn="ctr">
                <a:lnSpc>
                  <a:spcPts val="2520"/>
                </a:lnSpc>
              </a:pPr>
            </a:p>
          </p:txBody>
        </p:sp>
      </p:grpSp>
      <p:sp>
        <p:nvSpPr>
          <p:cNvPr name="Freeform 29" id="29"/>
          <p:cNvSpPr/>
          <p:nvPr/>
        </p:nvSpPr>
        <p:spPr>
          <a:xfrm flipH="false" flipV="false" rot="0">
            <a:off x="4254772" y="5295275"/>
            <a:ext cx="266336" cy="353828"/>
          </a:xfrm>
          <a:custGeom>
            <a:avLst/>
            <a:gdLst/>
            <a:ahLst/>
            <a:cxnLst/>
            <a:rect r="r" b="b" t="t" l="l"/>
            <a:pathLst>
              <a:path h="353828" w="266336">
                <a:moveTo>
                  <a:pt x="0" y="0"/>
                </a:moveTo>
                <a:lnTo>
                  <a:pt x="266337" y="0"/>
                </a:lnTo>
                <a:lnTo>
                  <a:pt x="266337" y="353828"/>
                </a:lnTo>
                <a:lnTo>
                  <a:pt x="0" y="3538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4194396" y="4493016"/>
            <a:ext cx="387088" cy="387088"/>
          </a:xfrm>
          <a:custGeom>
            <a:avLst/>
            <a:gdLst/>
            <a:ahLst/>
            <a:cxnLst/>
            <a:rect r="r" b="b" t="t" l="l"/>
            <a:pathLst>
              <a:path h="387088" w="387088">
                <a:moveTo>
                  <a:pt x="0" y="0"/>
                </a:moveTo>
                <a:lnTo>
                  <a:pt x="387089" y="0"/>
                </a:lnTo>
                <a:lnTo>
                  <a:pt x="387089" y="387088"/>
                </a:lnTo>
                <a:lnTo>
                  <a:pt x="0" y="38708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1" id="31"/>
          <p:cNvSpPr/>
          <p:nvPr/>
        </p:nvSpPr>
        <p:spPr>
          <a:xfrm flipH="false" flipV="false" rot="0">
            <a:off x="1012632" y="4474348"/>
            <a:ext cx="414344" cy="424424"/>
          </a:xfrm>
          <a:custGeom>
            <a:avLst/>
            <a:gdLst/>
            <a:ahLst/>
            <a:cxnLst/>
            <a:rect r="r" b="b" t="t" l="l"/>
            <a:pathLst>
              <a:path h="424424" w="414344">
                <a:moveTo>
                  <a:pt x="0" y="0"/>
                </a:moveTo>
                <a:lnTo>
                  <a:pt x="414344" y="0"/>
                </a:lnTo>
                <a:lnTo>
                  <a:pt x="414344" y="424424"/>
                </a:lnTo>
                <a:lnTo>
                  <a:pt x="0" y="42442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2" id="32"/>
          <p:cNvSpPr/>
          <p:nvPr/>
        </p:nvSpPr>
        <p:spPr>
          <a:xfrm flipH="false" flipV="false" rot="0">
            <a:off x="1032960" y="5259565"/>
            <a:ext cx="373687" cy="425248"/>
          </a:xfrm>
          <a:custGeom>
            <a:avLst/>
            <a:gdLst/>
            <a:ahLst/>
            <a:cxnLst/>
            <a:rect r="r" b="b" t="t" l="l"/>
            <a:pathLst>
              <a:path h="425248" w="373687">
                <a:moveTo>
                  <a:pt x="0" y="0"/>
                </a:moveTo>
                <a:lnTo>
                  <a:pt x="373687" y="0"/>
                </a:lnTo>
                <a:lnTo>
                  <a:pt x="373687" y="425248"/>
                </a:lnTo>
                <a:lnTo>
                  <a:pt x="0" y="42524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3" id="33">
            <a:hlinkClick r:id="rId19" tooltip="https://seobyte.ai"/>
          </p:cNvPr>
          <p:cNvSpPr/>
          <p:nvPr/>
        </p:nvSpPr>
        <p:spPr>
          <a:xfrm flipH="false" flipV="false" rot="0">
            <a:off x="11899861" y="1503441"/>
            <a:ext cx="1405925" cy="442502"/>
          </a:xfrm>
          <a:custGeom>
            <a:avLst/>
            <a:gdLst/>
            <a:ahLst/>
            <a:cxnLst/>
            <a:rect r="r" b="b" t="t" l="l"/>
            <a:pathLst>
              <a:path h="442502" w="1405925">
                <a:moveTo>
                  <a:pt x="0" y="0"/>
                </a:moveTo>
                <a:lnTo>
                  <a:pt x="1405925" y="0"/>
                </a:lnTo>
                <a:lnTo>
                  <a:pt x="1405925" y="442503"/>
                </a:lnTo>
                <a:lnTo>
                  <a:pt x="0" y="442503"/>
                </a:lnTo>
                <a:lnTo>
                  <a:pt x="0" y="0"/>
                </a:lnTo>
                <a:close/>
              </a:path>
            </a:pathLst>
          </a:custGeom>
          <a:blipFill>
            <a:blip r:embed="rId18"/>
            <a:stretch>
              <a:fillRect l="0" t="0" r="0" b="0"/>
            </a:stretch>
          </a:blipFill>
        </p:spPr>
      </p:sp>
      <p:sp>
        <p:nvSpPr>
          <p:cNvPr name="Freeform 34" id="34">
            <a:hlinkClick r:id="rId21" tooltip="https://seobyte.ai"/>
          </p:cNvPr>
          <p:cNvSpPr/>
          <p:nvPr/>
        </p:nvSpPr>
        <p:spPr>
          <a:xfrm flipH="false" flipV="false" rot="0">
            <a:off x="7695326" y="2305495"/>
            <a:ext cx="5610459" cy="2844433"/>
          </a:xfrm>
          <a:custGeom>
            <a:avLst/>
            <a:gdLst/>
            <a:ahLst/>
            <a:cxnLst/>
            <a:rect r="r" b="b" t="t" l="l"/>
            <a:pathLst>
              <a:path h="2844433" w="5610459">
                <a:moveTo>
                  <a:pt x="0" y="0"/>
                </a:moveTo>
                <a:lnTo>
                  <a:pt x="5610460" y="0"/>
                </a:lnTo>
                <a:lnTo>
                  <a:pt x="5610460" y="2844433"/>
                </a:lnTo>
                <a:lnTo>
                  <a:pt x="0" y="2844433"/>
                </a:lnTo>
                <a:lnTo>
                  <a:pt x="0" y="0"/>
                </a:lnTo>
                <a:close/>
              </a:path>
            </a:pathLst>
          </a:custGeom>
          <a:blipFill>
            <a:blip r:embed="rId20"/>
            <a:stretch>
              <a:fillRect l="-3476" t="0" r="-4680" b="0"/>
            </a:stretch>
          </a:blipFill>
        </p:spPr>
      </p:sp>
      <p:sp>
        <p:nvSpPr>
          <p:cNvPr name="TextBox 35" id="35"/>
          <p:cNvSpPr txBox="true"/>
          <p:nvPr/>
        </p:nvSpPr>
        <p:spPr>
          <a:xfrm rot="0">
            <a:off x="780477" y="1209743"/>
            <a:ext cx="2287072" cy="621037"/>
          </a:xfrm>
          <a:prstGeom prst="rect">
            <a:avLst/>
          </a:prstGeom>
        </p:spPr>
        <p:txBody>
          <a:bodyPr anchor="t" rtlCol="false" tIns="0" lIns="0" bIns="0" rIns="0">
            <a:spAutoFit/>
          </a:bodyPr>
          <a:lstStyle/>
          <a:p>
            <a:pPr algn="l">
              <a:lnSpc>
                <a:spcPts val="5144"/>
              </a:lnSpc>
            </a:pPr>
            <a:r>
              <a:rPr lang="en-US" b="true" sz="3674" u="sng">
                <a:solidFill>
                  <a:srgbClr val="3CB300"/>
                </a:solidFill>
                <a:latin typeface="Montserrat Ultra-Bold"/>
                <a:ea typeface="Montserrat Ultra-Bold"/>
                <a:cs typeface="Montserrat Ultra-Bold"/>
                <a:sym typeface="Montserrat Ultra-Bold"/>
                <a:hlinkClick r:id="rId22" tooltip="https://seobyte.ai"/>
              </a:rPr>
              <a:t>SEOBYTE</a:t>
            </a:r>
          </a:p>
        </p:txBody>
      </p:sp>
      <p:sp>
        <p:nvSpPr>
          <p:cNvPr name="TextBox 36" id="36"/>
          <p:cNvSpPr txBox="true"/>
          <p:nvPr/>
        </p:nvSpPr>
        <p:spPr>
          <a:xfrm rot="0">
            <a:off x="780477" y="1917369"/>
            <a:ext cx="4976292" cy="199411"/>
          </a:xfrm>
          <a:prstGeom prst="rect">
            <a:avLst/>
          </a:prstGeom>
        </p:spPr>
        <p:txBody>
          <a:bodyPr anchor="t" rtlCol="false" tIns="0" lIns="0" bIns="0" rIns="0">
            <a:spAutoFit/>
          </a:bodyPr>
          <a:lstStyle/>
          <a:p>
            <a:pPr algn="l">
              <a:lnSpc>
                <a:spcPts val="1608"/>
              </a:lnSpc>
            </a:pPr>
            <a:r>
              <a:rPr lang="en-US" sz="1149" b="true">
                <a:solidFill>
                  <a:srgbClr val="272030"/>
                </a:solidFill>
                <a:latin typeface="Montserrat Medium"/>
                <a:ea typeface="Montserrat Medium"/>
                <a:cs typeface="Montserrat Medium"/>
                <a:sym typeface="Montserrat Medium"/>
              </a:rPr>
              <a:t>AI-POWERED SEO AUTOMATION &amp; CONTENT GROWTH PLATFORM</a:t>
            </a:r>
          </a:p>
        </p:txBody>
      </p:sp>
      <p:sp>
        <p:nvSpPr>
          <p:cNvPr name="TextBox 37" id="37"/>
          <p:cNvSpPr txBox="true"/>
          <p:nvPr/>
        </p:nvSpPr>
        <p:spPr>
          <a:xfrm rot="0">
            <a:off x="780477" y="2490862"/>
            <a:ext cx="6562425" cy="816610"/>
          </a:xfrm>
          <a:prstGeom prst="rect">
            <a:avLst/>
          </a:prstGeom>
        </p:spPr>
        <p:txBody>
          <a:bodyPr anchor="t" rtlCol="false" tIns="0" lIns="0" bIns="0" rIns="0">
            <a:spAutoFit/>
          </a:bodyPr>
          <a:lstStyle/>
          <a:p>
            <a:pPr algn="l">
              <a:lnSpc>
                <a:spcPts val="2240"/>
              </a:lnSpc>
            </a:pPr>
            <a:r>
              <a:rPr lang="en-US" sz="1600" b="true">
                <a:solidFill>
                  <a:srgbClr val="000000"/>
                </a:solidFill>
                <a:latin typeface="Montserrat Bold"/>
                <a:ea typeface="Montserrat Bold"/>
                <a:cs typeface="Montserrat Bold"/>
                <a:sym typeface="Montserrat Bold"/>
              </a:rPr>
              <a:t>Marketing Technology: </a:t>
            </a:r>
            <a:r>
              <a:rPr lang="en-US" sz="1600">
                <a:solidFill>
                  <a:srgbClr val="000000"/>
                </a:solidFill>
                <a:latin typeface="Montserrat"/>
                <a:ea typeface="Montserrat"/>
                <a:cs typeface="Montserrat"/>
                <a:sym typeface="Montserrat"/>
              </a:rPr>
              <a:t>AI-powered SEO automation platform that helps businesses accelerate organic growth through intelligent content strategy, analytics, and SEO task automation.</a:t>
            </a:r>
          </a:p>
        </p:txBody>
      </p:sp>
      <p:sp>
        <p:nvSpPr>
          <p:cNvPr name="TextBox 38" id="38"/>
          <p:cNvSpPr txBox="true"/>
          <p:nvPr/>
        </p:nvSpPr>
        <p:spPr>
          <a:xfrm rot="0">
            <a:off x="780477" y="6100476"/>
            <a:ext cx="1747116" cy="306705"/>
          </a:xfrm>
          <a:prstGeom prst="rect">
            <a:avLst/>
          </a:prstGeom>
        </p:spPr>
        <p:txBody>
          <a:bodyPr anchor="t" rtlCol="false" tIns="0" lIns="0" bIns="0" rIns="0">
            <a:spAutoFit/>
          </a:bodyPr>
          <a:lstStyle/>
          <a:p>
            <a:pPr algn="l">
              <a:lnSpc>
                <a:spcPts val="2520"/>
              </a:lnSpc>
            </a:pPr>
            <a:r>
              <a:rPr lang="en-US" sz="1800" b="true">
                <a:solidFill>
                  <a:srgbClr val="000000"/>
                </a:solidFill>
                <a:latin typeface="Montserrat Bold"/>
                <a:ea typeface="Montserrat Bold"/>
                <a:cs typeface="Montserrat Bold"/>
                <a:sym typeface="Montserrat Bold"/>
              </a:rPr>
              <a:t>Technologies</a:t>
            </a:r>
            <a:r>
              <a:rPr lang="en-US" sz="1800">
                <a:solidFill>
                  <a:srgbClr val="000000"/>
                </a:solidFill>
                <a:latin typeface="Montserrat"/>
                <a:ea typeface="Montserrat"/>
                <a:cs typeface="Montserrat"/>
                <a:sym typeface="Montserrat"/>
              </a:rPr>
              <a:t> </a:t>
            </a:r>
          </a:p>
        </p:txBody>
      </p:sp>
      <p:sp>
        <p:nvSpPr>
          <p:cNvPr name="TextBox 39" id="39"/>
          <p:cNvSpPr txBox="true"/>
          <p:nvPr/>
        </p:nvSpPr>
        <p:spPr>
          <a:xfrm rot="0">
            <a:off x="780477" y="7485988"/>
            <a:ext cx="12173523" cy="381368"/>
          </a:xfrm>
          <a:prstGeom prst="rect">
            <a:avLst/>
          </a:prstGeom>
        </p:spPr>
        <p:txBody>
          <a:bodyPr anchor="t" rtlCol="false" tIns="0" lIns="0" bIns="0" rIns="0">
            <a:spAutoFit/>
          </a:bodyPr>
          <a:lstStyle/>
          <a:p>
            <a:pPr algn="l">
              <a:lnSpc>
                <a:spcPts val="1554"/>
              </a:lnSpc>
            </a:pPr>
            <a:r>
              <a:rPr lang="en-US" sz="1110">
                <a:solidFill>
                  <a:srgbClr val="000000"/>
                </a:solidFill>
                <a:latin typeface="Montserrat"/>
                <a:ea typeface="Montserrat"/>
                <a:cs typeface="Montserrat"/>
                <a:sym typeface="Montserrat"/>
              </a:rPr>
              <a:t>“SeoByte has been a game-changer for our online presence. Their strategies boosted our website’s visibility, improved search engine rankings, and led to a significant increase in inquiries and sales. Our brand’s online presence and business growth have never been stronger.”</a:t>
            </a:r>
            <a:r>
              <a:rPr lang="en-US" sz="1110">
                <a:solidFill>
                  <a:srgbClr val="000000"/>
                </a:solidFill>
                <a:latin typeface="Montserrat"/>
                <a:ea typeface="Montserrat"/>
                <a:cs typeface="Montserrat"/>
                <a:sym typeface="Montserrat"/>
              </a:rPr>
              <a:t>— </a:t>
            </a:r>
            <a:r>
              <a:rPr lang="en-US" sz="1110" b="true">
                <a:solidFill>
                  <a:srgbClr val="000000"/>
                </a:solidFill>
                <a:latin typeface="Montserrat Bold"/>
                <a:ea typeface="Montserrat Bold"/>
                <a:cs typeface="Montserrat Bold"/>
                <a:sym typeface="Montserrat Bold"/>
              </a:rPr>
              <a:t>Founder, D2C Smart Water Purifier Brand</a:t>
            </a:r>
          </a:p>
        </p:txBody>
      </p:sp>
      <p:sp>
        <p:nvSpPr>
          <p:cNvPr name="TextBox 40" id="40"/>
          <p:cNvSpPr txBox="true"/>
          <p:nvPr/>
        </p:nvSpPr>
        <p:spPr>
          <a:xfrm rot="0">
            <a:off x="3313255" y="6111644"/>
            <a:ext cx="1115962" cy="318823"/>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Natural Language Processing (NLP)</a:t>
            </a:r>
          </a:p>
        </p:txBody>
      </p:sp>
      <p:sp>
        <p:nvSpPr>
          <p:cNvPr name="TextBox 41" id="41"/>
          <p:cNvSpPr txBox="true"/>
          <p:nvPr/>
        </p:nvSpPr>
        <p:spPr>
          <a:xfrm rot="0">
            <a:off x="1628286" y="3642486"/>
            <a:ext cx="2001877"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300% </a:t>
            </a:r>
            <a:r>
              <a:rPr lang="en-US" sz="1400">
                <a:solidFill>
                  <a:srgbClr val="FFFFFF"/>
                </a:solidFill>
                <a:latin typeface="Montserrat"/>
                <a:ea typeface="Montserrat"/>
                <a:cs typeface="Montserrat"/>
                <a:sym typeface="Montserrat"/>
              </a:rPr>
              <a:t>organ</a:t>
            </a:r>
            <a:r>
              <a:rPr lang="en-US" sz="1400">
                <a:solidFill>
                  <a:srgbClr val="FFFFFF"/>
                </a:solidFill>
                <a:latin typeface="Montserrat"/>
                <a:ea typeface="Montserrat"/>
                <a:cs typeface="Montserrat"/>
                <a:sym typeface="Montserrat"/>
              </a:rPr>
              <a:t>ic traffic growth in</a:t>
            </a:r>
            <a:r>
              <a:rPr lang="en-US" b="true" sz="1400">
                <a:solidFill>
                  <a:srgbClr val="FFFFFF"/>
                </a:solidFill>
                <a:latin typeface="Montserrat Bold"/>
                <a:ea typeface="Montserrat Bold"/>
                <a:cs typeface="Montserrat Bold"/>
                <a:sym typeface="Montserrat Bold"/>
              </a:rPr>
              <a:t> 3 months</a:t>
            </a:r>
          </a:p>
        </p:txBody>
      </p:sp>
      <p:sp>
        <p:nvSpPr>
          <p:cNvPr name="TextBox 42" id="42"/>
          <p:cNvSpPr txBox="true"/>
          <p:nvPr/>
        </p:nvSpPr>
        <p:spPr>
          <a:xfrm rot="0">
            <a:off x="4734892" y="3642486"/>
            <a:ext cx="1661223"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80% </a:t>
            </a:r>
            <a:r>
              <a:rPr lang="en-US" sz="1400">
                <a:solidFill>
                  <a:srgbClr val="FFFFFF"/>
                </a:solidFill>
                <a:latin typeface="Montserrat"/>
                <a:ea typeface="Montserrat"/>
                <a:cs typeface="Montserrat"/>
                <a:sym typeface="Montserrat"/>
              </a:rPr>
              <a:t>r</a:t>
            </a:r>
            <a:r>
              <a:rPr lang="en-US" sz="1400">
                <a:solidFill>
                  <a:srgbClr val="FFFFFF"/>
                </a:solidFill>
                <a:latin typeface="Montserrat"/>
                <a:ea typeface="Montserrat"/>
                <a:cs typeface="Montserrat"/>
                <a:sym typeface="Montserrat"/>
              </a:rPr>
              <a:t>eduction in</a:t>
            </a:r>
            <a:r>
              <a:rPr lang="en-US" b="true" sz="1400">
                <a:solidFill>
                  <a:srgbClr val="FFFFFF"/>
                </a:solidFill>
                <a:latin typeface="Montserrat Bold"/>
                <a:ea typeface="Montserrat Bold"/>
                <a:cs typeface="Montserrat Bold"/>
                <a:sym typeface="Montserrat Bold"/>
              </a:rPr>
              <a:t> SEO task time</a:t>
            </a:r>
          </a:p>
        </p:txBody>
      </p:sp>
      <p:sp>
        <p:nvSpPr>
          <p:cNvPr name="TextBox 43" id="43"/>
          <p:cNvSpPr txBox="true"/>
          <p:nvPr/>
        </p:nvSpPr>
        <p:spPr>
          <a:xfrm rot="0">
            <a:off x="3313255" y="6672346"/>
            <a:ext cx="1115962" cy="480748"/>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Machine Learning models for SEO prediction</a:t>
            </a:r>
          </a:p>
        </p:txBody>
      </p:sp>
      <p:sp>
        <p:nvSpPr>
          <p:cNvPr name="TextBox 44" id="44"/>
          <p:cNvSpPr txBox="true"/>
          <p:nvPr/>
        </p:nvSpPr>
        <p:spPr>
          <a:xfrm rot="0">
            <a:off x="5258917" y="6153477"/>
            <a:ext cx="1213574" cy="318823"/>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GPT-based content generation</a:t>
            </a:r>
          </a:p>
        </p:txBody>
      </p:sp>
      <p:sp>
        <p:nvSpPr>
          <p:cNvPr name="TextBox 45" id="45"/>
          <p:cNvSpPr txBox="true"/>
          <p:nvPr/>
        </p:nvSpPr>
        <p:spPr>
          <a:xfrm rot="0">
            <a:off x="5275653" y="6776840"/>
            <a:ext cx="1180100" cy="318823"/>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Proprietary AI agent architecture</a:t>
            </a:r>
          </a:p>
        </p:txBody>
      </p:sp>
      <p:grpSp>
        <p:nvGrpSpPr>
          <p:cNvPr name="Group 46" id="46"/>
          <p:cNvGrpSpPr/>
          <p:nvPr/>
        </p:nvGrpSpPr>
        <p:grpSpPr>
          <a:xfrm rot="0">
            <a:off x="7756872" y="5643697"/>
            <a:ext cx="3768390" cy="235585"/>
            <a:chOff x="0" y="0"/>
            <a:chExt cx="5024519" cy="314113"/>
          </a:xfrm>
        </p:grpSpPr>
        <p:sp>
          <p:nvSpPr>
            <p:cNvPr name="TextBox 47" id="47"/>
            <p:cNvSpPr txBox="true"/>
            <p:nvPr/>
          </p:nvSpPr>
          <p:spPr>
            <a:xfrm rot="0">
              <a:off x="0" y="-28575"/>
              <a:ext cx="1407355" cy="342688"/>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Industry</a:t>
              </a:r>
            </a:p>
          </p:txBody>
        </p:sp>
        <p:sp>
          <p:nvSpPr>
            <p:cNvPr name="TextBox 48" id="48"/>
            <p:cNvSpPr txBox="true"/>
            <p:nvPr/>
          </p:nvSpPr>
          <p:spPr>
            <a:xfrm rot="0">
              <a:off x="1650647" y="-12912"/>
              <a:ext cx="3373873" cy="311362"/>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Marketing Technology / SEO</a:t>
              </a:r>
            </a:p>
          </p:txBody>
        </p:sp>
        <p:sp>
          <p:nvSpPr>
            <p:cNvPr name="TextBox 49" id="49"/>
            <p:cNvSpPr txBox="true"/>
            <p:nvPr/>
          </p:nvSpPr>
          <p:spPr>
            <a:xfrm rot="0">
              <a:off x="1371835" y="-28575"/>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grpSp>
      <p:grpSp>
        <p:nvGrpSpPr>
          <p:cNvPr name="Group 50" id="50"/>
          <p:cNvGrpSpPr/>
          <p:nvPr/>
        </p:nvGrpSpPr>
        <p:grpSpPr>
          <a:xfrm rot="0">
            <a:off x="7756872" y="6060266"/>
            <a:ext cx="5790780" cy="235585"/>
            <a:chOff x="0" y="0"/>
            <a:chExt cx="7721040" cy="314113"/>
          </a:xfrm>
        </p:grpSpPr>
        <p:sp>
          <p:nvSpPr>
            <p:cNvPr name="TextBox 51" id="51"/>
            <p:cNvSpPr txBox="true"/>
            <p:nvPr/>
          </p:nvSpPr>
          <p:spPr>
            <a:xfrm rot="0">
              <a:off x="0" y="-28575"/>
              <a:ext cx="1407355" cy="342688"/>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Problem</a:t>
              </a:r>
            </a:p>
          </p:txBody>
        </p:sp>
        <p:sp>
          <p:nvSpPr>
            <p:cNvPr name="TextBox 52" id="52"/>
            <p:cNvSpPr txBox="true"/>
            <p:nvPr/>
          </p:nvSpPr>
          <p:spPr>
            <a:xfrm rot="0">
              <a:off x="1650647" y="-12912"/>
              <a:ext cx="6070394" cy="311362"/>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SEO research and audits take days of manual work.</a:t>
              </a:r>
            </a:p>
          </p:txBody>
        </p:sp>
        <p:sp>
          <p:nvSpPr>
            <p:cNvPr name="TextBox 53" id="53"/>
            <p:cNvSpPr txBox="true"/>
            <p:nvPr/>
          </p:nvSpPr>
          <p:spPr>
            <a:xfrm rot="0">
              <a:off x="1371835" y="-28575"/>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grpSp>
      <p:sp>
        <p:nvSpPr>
          <p:cNvPr name="TextBox 54" id="54"/>
          <p:cNvSpPr txBox="true"/>
          <p:nvPr/>
        </p:nvSpPr>
        <p:spPr>
          <a:xfrm rot="0">
            <a:off x="7756872" y="6448251"/>
            <a:ext cx="1055517" cy="264160"/>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Solution</a:t>
            </a:r>
          </a:p>
        </p:txBody>
      </p:sp>
      <p:sp>
        <p:nvSpPr>
          <p:cNvPr name="TextBox 55" id="55"/>
          <p:cNvSpPr txBox="true"/>
          <p:nvPr/>
        </p:nvSpPr>
        <p:spPr>
          <a:xfrm rot="0">
            <a:off x="8991528" y="6483743"/>
            <a:ext cx="4724472" cy="207137"/>
          </a:xfrm>
          <a:prstGeom prst="rect">
            <a:avLst/>
          </a:prstGeom>
        </p:spPr>
        <p:txBody>
          <a:bodyPr anchor="t" rtlCol="false" tIns="0" lIns="0" bIns="0" rIns="0">
            <a:spAutoFit/>
          </a:bodyPr>
          <a:lstStyle/>
          <a:p>
            <a:pPr algn="ctr">
              <a:lnSpc>
                <a:spcPts val="1708"/>
              </a:lnSpc>
              <a:spcBef>
                <a:spcPct val="0"/>
              </a:spcBef>
            </a:pPr>
            <a:r>
              <a:rPr lang="en-US" sz="1220">
                <a:solidFill>
                  <a:srgbClr val="000000"/>
                </a:solidFill>
                <a:latin typeface="Montserrat"/>
                <a:ea typeface="Montserrat"/>
                <a:cs typeface="Montserrat"/>
                <a:sym typeface="Montserrat"/>
              </a:rPr>
              <a:t>20+ LangGraph agents with RAG and human-in-loop control.</a:t>
            </a:r>
          </a:p>
        </p:txBody>
      </p:sp>
      <p:sp>
        <p:nvSpPr>
          <p:cNvPr name="TextBox 56" id="56"/>
          <p:cNvSpPr txBox="true"/>
          <p:nvPr/>
        </p:nvSpPr>
        <p:spPr>
          <a:xfrm rot="0">
            <a:off x="8785749" y="6448251"/>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57" id="57"/>
          <p:cNvSpPr txBox="true"/>
          <p:nvPr/>
        </p:nvSpPr>
        <p:spPr>
          <a:xfrm rot="0">
            <a:off x="7756872" y="6855286"/>
            <a:ext cx="879997" cy="264160"/>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Impact</a:t>
            </a:r>
          </a:p>
        </p:txBody>
      </p:sp>
      <p:sp>
        <p:nvSpPr>
          <p:cNvPr name="TextBox 58" id="58"/>
          <p:cNvSpPr txBox="true"/>
          <p:nvPr/>
        </p:nvSpPr>
        <p:spPr>
          <a:xfrm rot="0">
            <a:off x="8991528" y="6884814"/>
            <a:ext cx="4608076" cy="222885"/>
          </a:xfrm>
          <a:prstGeom prst="rect">
            <a:avLst/>
          </a:prstGeom>
        </p:spPr>
        <p:txBody>
          <a:bodyPr anchor="t" rtlCol="false" tIns="0" lIns="0" bIns="0" rIns="0">
            <a:spAutoFit/>
          </a:bodyPr>
          <a:lstStyle/>
          <a:p>
            <a:pPr algn="ctr">
              <a:lnSpc>
                <a:spcPts val="1889"/>
              </a:lnSpc>
              <a:spcBef>
                <a:spcPct val="0"/>
              </a:spcBef>
            </a:pPr>
            <a:r>
              <a:rPr lang="en-US" sz="1350">
                <a:solidFill>
                  <a:srgbClr val="000000"/>
                </a:solidFill>
                <a:latin typeface="Montserrat"/>
                <a:ea typeface="Montserrat"/>
                <a:cs typeface="Montserrat"/>
                <a:sym typeface="Montserrat"/>
              </a:rPr>
              <a:t>99.6% faster, 90%+ automation, 3,080% traffic growth.</a:t>
            </a:r>
          </a:p>
        </p:txBody>
      </p:sp>
      <p:sp>
        <p:nvSpPr>
          <p:cNvPr name="TextBox 59" id="59"/>
          <p:cNvSpPr txBox="true"/>
          <p:nvPr/>
        </p:nvSpPr>
        <p:spPr>
          <a:xfrm rot="0">
            <a:off x="8785749" y="6855286"/>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60" id="60"/>
          <p:cNvSpPr txBox="true"/>
          <p:nvPr/>
        </p:nvSpPr>
        <p:spPr>
          <a:xfrm rot="0">
            <a:off x="1628286" y="4428115"/>
            <a:ext cx="2001877"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multi agent</a:t>
            </a:r>
            <a:r>
              <a:rPr lang="en-US" b="true" sz="1400">
                <a:solidFill>
                  <a:srgbClr val="FFFFFF"/>
                </a:solidFill>
                <a:latin typeface="Montserrat Bold"/>
                <a:ea typeface="Montserrat Bold"/>
                <a:cs typeface="Montserrat Bold"/>
                <a:sym typeface="Montserrat Bold"/>
              </a:rPr>
              <a:t> platform in 3 months</a:t>
            </a:r>
          </a:p>
        </p:txBody>
      </p:sp>
      <p:sp>
        <p:nvSpPr>
          <p:cNvPr name="TextBox 61" id="61"/>
          <p:cNvSpPr txBox="true"/>
          <p:nvPr/>
        </p:nvSpPr>
        <p:spPr>
          <a:xfrm rot="0">
            <a:off x="4734892" y="4428115"/>
            <a:ext cx="1889328"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20+ AI ag</a:t>
            </a:r>
            <a:r>
              <a:rPr lang="en-US" b="true" sz="1400">
                <a:solidFill>
                  <a:srgbClr val="FFFFFF"/>
                </a:solidFill>
                <a:latin typeface="Montserrat Bold"/>
                <a:ea typeface="Montserrat Bold"/>
                <a:cs typeface="Montserrat Bold"/>
                <a:sym typeface="Montserrat Bold"/>
              </a:rPr>
              <a:t>ents with full observability</a:t>
            </a:r>
          </a:p>
        </p:txBody>
      </p:sp>
      <p:sp>
        <p:nvSpPr>
          <p:cNvPr name="TextBox 62" id="62"/>
          <p:cNvSpPr txBox="true"/>
          <p:nvPr/>
        </p:nvSpPr>
        <p:spPr>
          <a:xfrm rot="0">
            <a:off x="1628286" y="5213744"/>
            <a:ext cx="2001877"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90%+ workf</a:t>
            </a:r>
            <a:r>
              <a:rPr lang="en-US" b="true" sz="1400">
                <a:solidFill>
                  <a:srgbClr val="FFFFFF"/>
                </a:solidFill>
                <a:latin typeface="Montserrat Bold"/>
                <a:ea typeface="Montserrat Bold"/>
                <a:cs typeface="Montserrat Bold"/>
                <a:sym typeface="Montserrat Bold"/>
              </a:rPr>
              <a:t>low automation coverage </a:t>
            </a:r>
          </a:p>
        </p:txBody>
      </p:sp>
      <p:sp>
        <p:nvSpPr>
          <p:cNvPr name="TextBox 63" id="63"/>
          <p:cNvSpPr txBox="true"/>
          <p:nvPr/>
        </p:nvSpPr>
        <p:spPr>
          <a:xfrm rot="0">
            <a:off x="4734892" y="5213744"/>
            <a:ext cx="2608009"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80% reduction in AI API cos</a:t>
            </a:r>
            <a:r>
              <a:rPr lang="en-US" b="true" sz="1400">
                <a:solidFill>
                  <a:srgbClr val="FFFFFF"/>
                </a:solidFill>
                <a:latin typeface="Montserrat Bold"/>
                <a:ea typeface="Montserrat Bold"/>
                <a:cs typeface="Montserrat Bold"/>
                <a:sym typeface="Montserrat Bold"/>
              </a:rPr>
              <a:t>ts through optimization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9F6"/>
        </a:solidFill>
      </p:bgPr>
    </p:bg>
    <p:spTree>
      <p:nvGrpSpPr>
        <p:cNvPr id="1" name=""/>
        <p:cNvGrpSpPr/>
        <p:nvPr/>
      </p:nvGrpSpPr>
      <p:grpSpPr>
        <a:xfrm>
          <a:off x="0" y="0"/>
          <a:ext cx="0" cy="0"/>
          <a:chOff x="0" y="0"/>
          <a:chExt cx="0" cy="0"/>
        </a:xfrm>
      </p:grpSpPr>
      <p:grpSp>
        <p:nvGrpSpPr>
          <p:cNvPr name="Group 2" id="2"/>
          <p:cNvGrpSpPr/>
          <p:nvPr/>
        </p:nvGrpSpPr>
        <p:grpSpPr>
          <a:xfrm rot="0">
            <a:off x="780477" y="4362450"/>
            <a:ext cx="2068585" cy="623704"/>
            <a:chOff x="0" y="0"/>
            <a:chExt cx="574607" cy="173251"/>
          </a:xfrm>
        </p:grpSpPr>
        <p:sp>
          <p:nvSpPr>
            <p:cNvPr name="Freeform 3" id="3"/>
            <p:cNvSpPr/>
            <p:nvPr/>
          </p:nvSpPr>
          <p:spPr>
            <a:xfrm flipH="false" flipV="false" rot="0">
              <a:off x="0" y="0"/>
              <a:ext cx="574607" cy="173251"/>
            </a:xfrm>
            <a:custGeom>
              <a:avLst/>
              <a:gdLst/>
              <a:ahLst/>
              <a:cxnLst/>
              <a:rect r="r" b="b" t="t" l="l"/>
              <a:pathLst>
                <a:path h="173251" w="574607">
                  <a:moveTo>
                    <a:pt x="55554" y="0"/>
                  </a:moveTo>
                  <a:lnTo>
                    <a:pt x="519052" y="0"/>
                  </a:lnTo>
                  <a:cubicBezTo>
                    <a:pt x="533786" y="0"/>
                    <a:pt x="547917" y="5853"/>
                    <a:pt x="558335" y="16272"/>
                  </a:cubicBezTo>
                  <a:cubicBezTo>
                    <a:pt x="568754" y="26690"/>
                    <a:pt x="574607" y="40821"/>
                    <a:pt x="574607" y="55554"/>
                  </a:cubicBezTo>
                  <a:lnTo>
                    <a:pt x="574607" y="117697"/>
                  </a:lnTo>
                  <a:cubicBezTo>
                    <a:pt x="574607" y="132431"/>
                    <a:pt x="568754" y="146561"/>
                    <a:pt x="558335" y="156980"/>
                  </a:cubicBezTo>
                  <a:cubicBezTo>
                    <a:pt x="547917" y="167398"/>
                    <a:pt x="533786" y="173251"/>
                    <a:pt x="519052" y="173251"/>
                  </a:cubicBezTo>
                  <a:lnTo>
                    <a:pt x="55554" y="173251"/>
                  </a:lnTo>
                  <a:cubicBezTo>
                    <a:pt x="40821" y="173251"/>
                    <a:pt x="26690" y="167398"/>
                    <a:pt x="16272" y="156980"/>
                  </a:cubicBezTo>
                  <a:cubicBezTo>
                    <a:pt x="5853" y="146561"/>
                    <a:pt x="0" y="132431"/>
                    <a:pt x="0" y="117697"/>
                  </a:cubicBezTo>
                  <a:lnTo>
                    <a:pt x="0" y="55554"/>
                  </a:lnTo>
                  <a:cubicBezTo>
                    <a:pt x="0" y="40821"/>
                    <a:pt x="5853" y="26690"/>
                    <a:pt x="16272" y="16272"/>
                  </a:cubicBezTo>
                  <a:cubicBezTo>
                    <a:pt x="26690" y="5853"/>
                    <a:pt x="40821" y="0"/>
                    <a:pt x="55554" y="0"/>
                  </a:cubicBezTo>
                  <a:close/>
                </a:path>
              </a:pathLst>
            </a:custGeom>
            <a:solidFill>
              <a:srgbClr val="9B407C"/>
            </a:solidFill>
          </p:spPr>
        </p:sp>
        <p:sp>
          <p:nvSpPr>
            <p:cNvPr name="TextBox 4" id="4"/>
            <p:cNvSpPr txBox="true"/>
            <p:nvPr/>
          </p:nvSpPr>
          <p:spPr>
            <a:xfrm>
              <a:off x="0" y="-38100"/>
              <a:ext cx="574607" cy="211351"/>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2995601" y="4362450"/>
            <a:ext cx="2638243" cy="623704"/>
            <a:chOff x="0" y="0"/>
            <a:chExt cx="732845" cy="173251"/>
          </a:xfrm>
        </p:grpSpPr>
        <p:sp>
          <p:nvSpPr>
            <p:cNvPr name="Freeform 6" id="6"/>
            <p:cNvSpPr/>
            <p:nvPr/>
          </p:nvSpPr>
          <p:spPr>
            <a:xfrm flipH="false" flipV="false" rot="0">
              <a:off x="0" y="0"/>
              <a:ext cx="732845" cy="173251"/>
            </a:xfrm>
            <a:custGeom>
              <a:avLst/>
              <a:gdLst/>
              <a:ahLst/>
              <a:cxnLst/>
              <a:rect r="r" b="b" t="t" l="l"/>
              <a:pathLst>
                <a:path h="173251" w="732845">
                  <a:moveTo>
                    <a:pt x="43559" y="0"/>
                  </a:moveTo>
                  <a:lnTo>
                    <a:pt x="689286" y="0"/>
                  </a:lnTo>
                  <a:cubicBezTo>
                    <a:pt x="713343" y="0"/>
                    <a:pt x="732845" y="19502"/>
                    <a:pt x="732845" y="43559"/>
                  </a:cubicBezTo>
                  <a:lnTo>
                    <a:pt x="732845" y="129692"/>
                  </a:lnTo>
                  <a:cubicBezTo>
                    <a:pt x="732845" y="153749"/>
                    <a:pt x="713343" y="173251"/>
                    <a:pt x="689286" y="173251"/>
                  </a:cubicBezTo>
                  <a:lnTo>
                    <a:pt x="43559" y="173251"/>
                  </a:lnTo>
                  <a:cubicBezTo>
                    <a:pt x="32006" y="173251"/>
                    <a:pt x="20927" y="168662"/>
                    <a:pt x="12758" y="160493"/>
                  </a:cubicBezTo>
                  <a:cubicBezTo>
                    <a:pt x="4589" y="152324"/>
                    <a:pt x="0" y="141245"/>
                    <a:pt x="0" y="129692"/>
                  </a:cubicBezTo>
                  <a:lnTo>
                    <a:pt x="0" y="43559"/>
                  </a:lnTo>
                  <a:cubicBezTo>
                    <a:pt x="0" y="32006"/>
                    <a:pt x="4589" y="20927"/>
                    <a:pt x="12758" y="12758"/>
                  </a:cubicBezTo>
                  <a:cubicBezTo>
                    <a:pt x="20927" y="4589"/>
                    <a:pt x="32006" y="0"/>
                    <a:pt x="43559" y="0"/>
                  </a:cubicBezTo>
                  <a:close/>
                </a:path>
              </a:pathLst>
            </a:custGeom>
            <a:solidFill>
              <a:srgbClr val="9B407C"/>
            </a:solidFill>
          </p:spPr>
        </p:sp>
        <p:sp>
          <p:nvSpPr>
            <p:cNvPr name="TextBox 7" id="7"/>
            <p:cNvSpPr txBox="true"/>
            <p:nvPr/>
          </p:nvSpPr>
          <p:spPr>
            <a:xfrm>
              <a:off x="0" y="-38100"/>
              <a:ext cx="732845" cy="211351"/>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false" flipV="false" rot="0">
            <a:off x="904257" y="4367455"/>
            <a:ext cx="613694" cy="613694"/>
          </a:xfrm>
          <a:custGeom>
            <a:avLst/>
            <a:gdLst/>
            <a:ahLst/>
            <a:cxnLst/>
            <a:rect r="r" b="b" t="t" l="l"/>
            <a:pathLst>
              <a:path h="613694" w="613694">
                <a:moveTo>
                  <a:pt x="0" y="0"/>
                </a:moveTo>
                <a:lnTo>
                  <a:pt x="613694" y="0"/>
                </a:lnTo>
                <a:lnTo>
                  <a:pt x="613694" y="613694"/>
                </a:lnTo>
                <a:lnTo>
                  <a:pt x="0" y="6136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566676" y="5917382"/>
            <a:ext cx="564770" cy="564770"/>
          </a:xfrm>
          <a:custGeom>
            <a:avLst/>
            <a:gdLst/>
            <a:ahLst/>
            <a:cxnLst/>
            <a:rect r="r" b="b" t="t" l="l"/>
            <a:pathLst>
              <a:path h="564770" w="564770">
                <a:moveTo>
                  <a:pt x="0" y="0"/>
                </a:moveTo>
                <a:lnTo>
                  <a:pt x="564770" y="0"/>
                </a:lnTo>
                <a:lnTo>
                  <a:pt x="564770" y="564770"/>
                </a:lnTo>
                <a:lnTo>
                  <a:pt x="0" y="564770"/>
                </a:lnTo>
                <a:lnTo>
                  <a:pt x="0" y="0"/>
                </a:lnTo>
                <a:close/>
              </a:path>
            </a:pathLst>
          </a:custGeom>
          <a:blipFill>
            <a:blip r:embed="rId4"/>
            <a:stretch>
              <a:fillRect l="0" t="0" r="0" b="0"/>
            </a:stretch>
          </a:blipFill>
        </p:spPr>
      </p:sp>
      <p:sp>
        <p:nvSpPr>
          <p:cNvPr name="Freeform 10" id="10">
            <a:hlinkClick r:id="rId6" tooltip="https://anvayaa.com"/>
          </p:cNvPr>
          <p:cNvSpPr/>
          <p:nvPr/>
        </p:nvSpPr>
        <p:spPr>
          <a:xfrm flipH="false" flipV="false" rot="0">
            <a:off x="11245738" y="1182422"/>
            <a:ext cx="1708262" cy="639350"/>
          </a:xfrm>
          <a:custGeom>
            <a:avLst/>
            <a:gdLst/>
            <a:ahLst/>
            <a:cxnLst/>
            <a:rect r="r" b="b" t="t" l="l"/>
            <a:pathLst>
              <a:path h="639350" w="1708262">
                <a:moveTo>
                  <a:pt x="0" y="0"/>
                </a:moveTo>
                <a:lnTo>
                  <a:pt x="1708262" y="0"/>
                </a:lnTo>
                <a:lnTo>
                  <a:pt x="1708262" y="639350"/>
                </a:lnTo>
                <a:lnTo>
                  <a:pt x="0" y="639350"/>
                </a:lnTo>
                <a:lnTo>
                  <a:pt x="0" y="0"/>
                </a:lnTo>
                <a:close/>
              </a:path>
            </a:pathLst>
          </a:custGeom>
          <a:blipFill>
            <a:blip r:embed="rId5"/>
            <a:stretch>
              <a:fillRect l="0" t="0" r="0" b="0"/>
            </a:stretch>
          </a:blipFill>
        </p:spPr>
      </p:sp>
      <p:grpSp>
        <p:nvGrpSpPr>
          <p:cNvPr name="Group 11" id="11"/>
          <p:cNvGrpSpPr/>
          <p:nvPr/>
        </p:nvGrpSpPr>
        <p:grpSpPr>
          <a:xfrm rot="0">
            <a:off x="7938671" y="2031658"/>
            <a:ext cx="5197128" cy="3392700"/>
            <a:chOff x="0" y="0"/>
            <a:chExt cx="642001" cy="419100"/>
          </a:xfrm>
        </p:grpSpPr>
        <p:sp>
          <p:nvSpPr>
            <p:cNvPr name="Freeform 12" id="12"/>
            <p:cNvSpPr/>
            <p:nvPr/>
          </p:nvSpPr>
          <p:spPr>
            <a:xfrm flipH="false" flipV="false" rot="0">
              <a:off x="0" y="0"/>
              <a:ext cx="642001" cy="419100"/>
            </a:xfrm>
            <a:custGeom>
              <a:avLst/>
              <a:gdLst/>
              <a:ahLst/>
              <a:cxnLst/>
              <a:rect r="r" b="b" t="t" l="l"/>
              <a:pathLst>
                <a:path h="419100" w="642001">
                  <a:moveTo>
                    <a:pt x="22112" y="0"/>
                  </a:moveTo>
                  <a:lnTo>
                    <a:pt x="619889" y="0"/>
                  </a:lnTo>
                  <a:cubicBezTo>
                    <a:pt x="632101" y="0"/>
                    <a:pt x="642001" y="9900"/>
                    <a:pt x="642001" y="22112"/>
                  </a:cubicBezTo>
                  <a:lnTo>
                    <a:pt x="642001" y="396988"/>
                  </a:lnTo>
                  <a:cubicBezTo>
                    <a:pt x="642001" y="409200"/>
                    <a:pt x="632101" y="419100"/>
                    <a:pt x="619889" y="419100"/>
                  </a:cubicBezTo>
                  <a:lnTo>
                    <a:pt x="22112" y="419100"/>
                  </a:lnTo>
                  <a:cubicBezTo>
                    <a:pt x="9900" y="419100"/>
                    <a:pt x="0" y="409200"/>
                    <a:pt x="0" y="396988"/>
                  </a:cubicBezTo>
                  <a:lnTo>
                    <a:pt x="0" y="22112"/>
                  </a:lnTo>
                  <a:cubicBezTo>
                    <a:pt x="0" y="9900"/>
                    <a:pt x="9900" y="0"/>
                    <a:pt x="22112" y="0"/>
                  </a:cubicBezTo>
                  <a:close/>
                </a:path>
              </a:pathLst>
            </a:custGeom>
            <a:solidFill>
              <a:srgbClr val="FFFFFF"/>
            </a:solidFill>
          </p:spPr>
        </p:sp>
        <p:sp>
          <p:nvSpPr>
            <p:cNvPr name="TextBox 13" id="13"/>
            <p:cNvSpPr txBox="true"/>
            <p:nvPr/>
          </p:nvSpPr>
          <p:spPr>
            <a:xfrm>
              <a:off x="0" y="-28575"/>
              <a:ext cx="642001" cy="447675"/>
            </a:xfrm>
            <a:prstGeom prst="rect">
              <a:avLst/>
            </a:prstGeom>
          </p:spPr>
          <p:txBody>
            <a:bodyPr anchor="ctr" rtlCol="false" tIns="50800" lIns="50800" bIns="50800" rIns="50800"/>
            <a:lstStyle/>
            <a:p>
              <a:pPr algn="ctr">
                <a:lnSpc>
                  <a:spcPts val="2239"/>
                </a:lnSpc>
              </a:pPr>
            </a:p>
          </p:txBody>
        </p:sp>
      </p:grpSp>
      <p:sp>
        <p:nvSpPr>
          <p:cNvPr name="Freeform 14" id="14"/>
          <p:cNvSpPr/>
          <p:nvPr/>
        </p:nvSpPr>
        <p:spPr>
          <a:xfrm flipH="false" flipV="false" rot="0">
            <a:off x="3192484" y="5994652"/>
            <a:ext cx="415894" cy="414855"/>
          </a:xfrm>
          <a:custGeom>
            <a:avLst/>
            <a:gdLst/>
            <a:ahLst/>
            <a:cxnLst/>
            <a:rect r="r" b="b" t="t" l="l"/>
            <a:pathLst>
              <a:path h="414855" w="415894">
                <a:moveTo>
                  <a:pt x="0" y="0"/>
                </a:moveTo>
                <a:lnTo>
                  <a:pt x="415894" y="0"/>
                </a:lnTo>
                <a:lnTo>
                  <a:pt x="415894" y="414855"/>
                </a:lnTo>
                <a:lnTo>
                  <a:pt x="0" y="414855"/>
                </a:lnTo>
                <a:lnTo>
                  <a:pt x="0" y="0"/>
                </a:lnTo>
                <a:close/>
              </a:path>
            </a:pathLst>
          </a:custGeom>
          <a:blipFill>
            <a:blip r:embed="rId7"/>
            <a:stretch>
              <a:fillRect l="0" t="0" r="0" b="0"/>
            </a:stretch>
          </a:blipFill>
        </p:spPr>
      </p:sp>
      <p:sp>
        <p:nvSpPr>
          <p:cNvPr name="Freeform 15" id="15"/>
          <p:cNvSpPr/>
          <p:nvPr/>
        </p:nvSpPr>
        <p:spPr>
          <a:xfrm flipH="false" flipV="false" rot="0">
            <a:off x="3214129" y="4511536"/>
            <a:ext cx="323905" cy="325533"/>
          </a:xfrm>
          <a:custGeom>
            <a:avLst/>
            <a:gdLst/>
            <a:ahLst/>
            <a:cxnLst/>
            <a:rect r="r" b="b" t="t" l="l"/>
            <a:pathLst>
              <a:path h="325533" w="323905">
                <a:moveTo>
                  <a:pt x="0" y="0"/>
                </a:moveTo>
                <a:lnTo>
                  <a:pt x="323904" y="0"/>
                </a:lnTo>
                <a:lnTo>
                  <a:pt x="323904" y="325532"/>
                </a:lnTo>
                <a:lnTo>
                  <a:pt x="0" y="3255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6" id="16"/>
          <p:cNvGrpSpPr/>
          <p:nvPr/>
        </p:nvGrpSpPr>
        <p:grpSpPr>
          <a:xfrm rot="0">
            <a:off x="787445" y="5131753"/>
            <a:ext cx="3086354" cy="623704"/>
            <a:chOff x="0" y="0"/>
            <a:chExt cx="857321" cy="173251"/>
          </a:xfrm>
        </p:grpSpPr>
        <p:sp>
          <p:nvSpPr>
            <p:cNvPr name="Freeform 17" id="17"/>
            <p:cNvSpPr/>
            <p:nvPr/>
          </p:nvSpPr>
          <p:spPr>
            <a:xfrm flipH="false" flipV="false" rot="0">
              <a:off x="0" y="0"/>
              <a:ext cx="857321" cy="173251"/>
            </a:xfrm>
            <a:custGeom>
              <a:avLst/>
              <a:gdLst/>
              <a:ahLst/>
              <a:cxnLst/>
              <a:rect r="r" b="b" t="t" l="l"/>
              <a:pathLst>
                <a:path h="173251" w="857321">
                  <a:moveTo>
                    <a:pt x="37235" y="0"/>
                  </a:moveTo>
                  <a:lnTo>
                    <a:pt x="820086" y="0"/>
                  </a:lnTo>
                  <a:cubicBezTo>
                    <a:pt x="829961" y="0"/>
                    <a:pt x="839432" y="3923"/>
                    <a:pt x="846415" y="10906"/>
                  </a:cubicBezTo>
                  <a:cubicBezTo>
                    <a:pt x="853398" y="17889"/>
                    <a:pt x="857321" y="27359"/>
                    <a:pt x="857321" y="37235"/>
                  </a:cubicBezTo>
                  <a:lnTo>
                    <a:pt x="857321" y="136017"/>
                  </a:lnTo>
                  <a:cubicBezTo>
                    <a:pt x="857321" y="145892"/>
                    <a:pt x="853398" y="155363"/>
                    <a:pt x="846415" y="162345"/>
                  </a:cubicBezTo>
                  <a:cubicBezTo>
                    <a:pt x="839432" y="169328"/>
                    <a:pt x="829961" y="173251"/>
                    <a:pt x="820086" y="173251"/>
                  </a:cubicBezTo>
                  <a:lnTo>
                    <a:pt x="37235" y="173251"/>
                  </a:lnTo>
                  <a:cubicBezTo>
                    <a:pt x="27359" y="173251"/>
                    <a:pt x="17889" y="169328"/>
                    <a:pt x="10906" y="162345"/>
                  </a:cubicBezTo>
                  <a:cubicBezTo>
                    <a:pt x="3923" y="155363"/>
                    <a:pt x="0" y="145892"/>
                    <a:pt x="0" y="136017"/>
                  </a:cubicBezTo>
                  <a:lnTo>
                    <a:pt x="0" y="37235"/>
                  </a:lnTo>
                  <a:cubicBezTo>
                    <a:pt x="0" y="27359"/>
                    <a:pt x="3923" y="17889"/>
                    <a:pt x="10906" y="10906"/>
                  </a:cubicBezTo>
                  <a:cubicBezTo>
                    <a:pt x="17889" y="3923"/>
                    <a:pt x="27359" y="0"/>
                    <a:pt x="37235" y="0"/>
                  </a:cubicBezTo>
                  <a:close/>
                </a:path>
              </a:pathLst>
            </a:custGeom>
            <a:solidFill>
              <a:srgbClr val="9B407C"/>
            </a:solidFill>
          </p:spPr>
        </p:sp>
        <p:sp>
          <p:nvSpPr>
            <p:cNvPr name="TextBox 18" id="18"/>
            <p:cNvSpPr txBox="true"/>
            <p:nvPr/>
          </p:nvSpPr>
          <p:spPr>
            <a:xfrm>
              <a:off x="0" y="-38100"/>
              <a:ext cx="857321" cy="211351"/>
            </a:xfrm>
            <a:prstGeom prst="rect">
              <a:avLst/>
            </a:prstGeom>
          </p:spPr>
          <p:txBody>
            <a:bodyPr anchor="ctr" rtlCol="false" tIns="50800" lIns="50800" bIns="50800" rIns="50800"/>
            <a:lstStyle/>
            <a:p>
              <a:pPr algn="ctr">
                <a:lnSpc>
                  <a:spcPts val="2520"/>
                </a:lnSpc>
              </a:pPr>
            </a:p>
          </p:txBody>
        </p:sp>
      </p:grpSp>
      <p:grpSp>
        <p:nvGrpSpPr>
          <p:cNvPr name="Group 19" id="19"/>
          <p:cNvGrpSpPr/>
          <p:nvPr/>
        </p:nvGrpSpPr>
        <p:grpSpPr>
          <a:xfrm rot="0">
            <a:off x="4086617" y="5136758"/>
            <a:ext cx="2638243" cy="623704"/>
            <a:chOff x="0" y="0"/>
            <a:chExt cx="732845" cy="173251"/>
          </a:xfrm>
        </p:grpSpPr>
        <p:sp>
          <p:nvSpPr>
            <p:cNvPr name="Freeform 20" id="20"/>
            <p:cNvSpPr/>
            <p:nvPr/>
          </p:nvSpPr>
          <p:spPr>
            <a:xfrm flipH="false" flipV="false" rot="0">
              <a:off x="0" y="0"/>
              <a:ext cx="732845" cy="173251"/>
            </a:xfrm>
            <a:custGeom>
              <a:avLst/>
              <a:gdLst/>
              <a:ahLst/>
              <a:cxnLst/>
              <a:rect r="r" b="b" t="t" l="l"/>
              <a:pathLst>
                <a:path h="173251" w="732845">
                  <a:moveTo>
                    <a:pt x="43559" y="0"/>
                  </a:moveTo>
                  <a:lnTo>
                    <a:pt x="689286" y="0"/>
                  </a:lnTo>
                  <a:cubicBezTo>
                    <a:pt x="713343" y="0"/>
                    <a:pt x="732845" y="19502"/>
                    <a:pt x="732845" y="43559"/>
                  </a:cubicBezTo>
                  <a:lnTo>
                    <a:pt x="732845" y="129692"/>
                  </a:lnTo>
                  <a:cubicBezTo>
                    <a:pt x="732845" y="153749"/>
                    <a:pt x="713343" y="173251"/>
                    <a:pt x="689286" y="173251"/>
                  </a:cubicBezTo>
                  <a:lnTo>
                    <a:pt x="43559" y="173251"/>
                  </a:lnTo>
                  <a:cubicBezTo>
                    <a:pt x="32006" y="173251"/>
                    <a:pt x="20927" y="168662"/>
                    <a:pt x="12758" y="160493"/>
                  </a:cubicBezTo>
                  <a:cubicBezTo>
                    <a:pt x="4589" y="152324"/>
                    <a:pt x="0" y="141245"/>
                    <a:pt x="0" y="129692"/>
                  </a:cubicBezTo>
                  <a:lnTo>
                    <a:pt x="0" y="43559"/>
                  </a:lnTo>
                  <a:cubicBezTo>
                    <a:pt x="0" y="32006"/>
                    <a:pt x="4589" y="20927"/>
                    <a:pt x="12758" y="12758"/>
                  </a:cubicBezTo>
                  <a:cubicBezTo>
                    <a:pt x="20927" y="4589"/>
                    <a:pt x="32006" y="0"/>
                    <a:pt x="43559" y="0"/>
                  </a:cubicBezTo>
                  <a:close/>
                </a:path>
              </a:pathLst>
            </a:custGeom>
            <a:solidFill>
              <a:srgbClr val="9B407C"/>
            </a:solidFill>
          </p:spPr>
        </p:sp>
        <p:sp>
          <p:nvSpPr>
            <p:cNvPr name="TextBox 21" id="21"/>
            <p:cNvSpPr txBox="true"/>
            <p:nvPr/>
          </p:nvSpPr>
          <p:spPr>
            <a:xfrm>
              <a:off x="0" y="-38100"/>
              <a:ext cx="732845" cy="211351"/>
            </a:xfrm>
            <a:prstGeom prst="rect">
              <a:avLst/>
            </a:prstGeom>
          </p:spPr>
          <p:txBody>
            <a:bodyPr anchor="ctr" rtlCol="false" tIns="50800" lIns="50800" bIns="50800" rIns="50800"/>
            <a:lstStyle/>
            <a:p>
              <a:pPr algn="ctr">
                <a:lnSpc>
                  <a:spcPts val="2520"/>
                </a:lnSpc>
              </a:pPr>
            </a:p>
          </p:txBody>
        </p:sp>
      </p:grpSp>
      <p:sp>
        <p:nvSpPr>
          <p:cNvPr name="Freeform 22" id="22"/>
          <p:cNvSpPr/>
          <p:nvPr/>
        </p:nvSpPr>
        <p:spPr>
          <a:xfrm flipH="false" flipV="false" rot="0">
            <a:off x="976150" y="5289346"/>
            <a:ext cx="401929" cy="318529"/>
          </a:xfrm>
          <a:custGeom>
            <a:avLst/>
            <a:gdLst/>
            <a:ahLst/>
            <a:cxnLst/>
            <a:rect r="r" b="b" t="t" l="l"/>
            <a:pathLst>
              <a:path h="318529" w="401929">
                <a:moveTo>
                  <a:pt x="0" y="0"/>
                </a:moveTo>
                <a:lnTo>
                  <a:pt x="401929" y="0"/>
                </a:lnTo>
                <a:lnTo>
                  <a:pt x="401929" y="318528"/>
                </a:lnTo>
                <a:lnTo>
                  <a:pt x="0" y="3185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4238979" y="5207801"/>
            <a:ext cx="471606" cy="471606"/>
          </a:xfrm>
          <a:custGeom>
            <a:avLst/>
            <a:gdLst/>
            <a:ahLst/>
            <a:cxnLst/>
            <a:rect r="r" b="b" t="t" l="l"/>
            <a:pathLst>
              <a:path h="471606" w="471606">
                <a:moveTo>
                  <a:pt x="0" y="0"/>
                </a:moveTo>
                <a:lnTo>
                  <a:pt x="471606" y="0"/>
                </a:lnTo>
                <a:lnTo>
                  <a:pt x="471606" y="471607"/>
                </a:lnTo>
                <a:lnTo>
                  <a:pt x="0" y="471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a:hlinkClick r:id="rId15" tooltip="https://anvayaa.com"/>
          </p:cNvPr>
          <p:cNvSpPr/>
          <p:nvPr/>
        </p:nvSpPr>
        <p:spPr>
          <a:xfrm flipH="false" flipV="false" rot="0">
            <a:off x="7756872" y="2117373"/>
            <a:ext cx="5258413" cy="3306986"/>
          </a:xfrm>
          <a:custGeom>
            <a:avLst/>
            <a:gdLst/>
            <a:ahLst/>
            <a:cxnLst/>
            <a:rect r="r" b="b" t="t" l="l"/>
            <a:pathLst>
              <a:path h="3306986" w="5258413">
                <a:moveTo>
                  <a:pt x="0" y="0"/>
                </a:moveTo>
                <a:lnTo>
                  <a:pt x="5258413" y="0"/>
                </a:lnTo>
                <a:lnTo>
                  <a:pt x="5258413" y="3306985"/>
                </a:lnTo>
                <a:lnTo>
                  <a:pt x="0" y="3306985"/>
                </a:lnTo>
                <a:lnTo>
                  <a:pt x="0" y="0"/>
                </a:lnTo>
                <a:close/>
              </a:path>
            </a:pathLst>
          </a:custGeom>
          <a:blipFill>
            <a:blip r:embed="rId14"/>
            <a:stretch>
              <a:fillRect l="-7319" t="0" r="-24385" b="0"/>
            </a:stretch>
          </a:blipFill>
        </p:spPr>
      </p:sp>
      <p:sp>
        <p:nvSpPr>
          <p:cNvPr name="TextBox 25" id="25"/>
          <p:cNvSpPr txBox="true"/>
          <p:nvPr/>
        </p:nvSpPr>
        <p:spPr>
          <a:xfrm rot="0">
            <a:off x="780477" y="1209743"/>
            <a:ext cx="5756196" cy="621037"/>
          </a:xfrm>
          <a:prstGeom prst="rect">
            <a:avLst/>
          </a:prstGeom>
        </p:spPr>
        <p:txBody>
          <a:bodyPr anchor="t" rtlCol="false" tIns="0" lIns="0" bIns="0" rIns="0">
            <a:spAutoFit/>
          </a:bodyPr>
          <a:lstStyle/>
          <a:p>
            <a:pPr algn="l">
              <a:lnSpc>
                <a:spcPts val="5144"/>
              </a:lnSpc>
            </a:pPr>
            <a:r>
              <a:rPr lang="en-US" b="true" sz="3674" u="sng">
                <a:solidFill>
                  <a:srgbClr val="9B407C"/>
                </a:solidFill>
                <a:latin typeface="Montserrat Ultra-Bold"/>
                <a:ea typeface="Montserrat Ultra-Bold"/>
                <a:cs typeface="Montserrat Ultra-Bold"/>
                <a:sym typeface="Montserrat Ultra-Bold"/>
                <a:hlinkClick r:id="rId16" tooltip="https://anvayaa.com"/>
              </a:rPr>
              <a:t>ANVAYAA ELDER CARE</a:t>
            </a:r>
          </a:p>
        </p:txBody>
      </p:sp>
      <p:sp>
        <p:nvSpPr>
          <p:cNvPr name="TextBox 26" id="26"/>
          <p:cNvSpPr txBox="true"/>
          <p:nvPr/>
        </p:nvSpPr>
        <p:spPr>
          <a:xfrm rot="0">
            <a:off x="780477" y="1917369"/>
            <a:ext cx="4473213" cy="200004"/>
          </a:xfrm>
          <a:prstGeom prst="rect">
            <a:avLst/>
          </a:prstGeom>
        </p:spPr>
        <p:txBody>
          <a:bodyPr anchor="t" rtlCol="false" tIns="0" lIns="0" bIns="0" rIns="0">
            <a:spAutoFit/>
          </a:bodyPr>
          <a:lstStyle/>
          <a:p>
            <a:pPr algn="ctr">
              <a:lnSpc>
                <a:spcPts val="1608"/>
              </a:lnSpc>
            </a:pPr>
            <a:r>
              <a:rPr lang="en-US" sz="1149" b="true">
                <a:solidFill>
                  <a:srgbClr val="272030"/>
                </a:solidFill>
                <a:latin typeface="Montserrat Medium"/>
                <a:ea typeface="Montserrat Medium"/>
                <a:cs typeface="Montserrat Medium"/>
                <a:sym typeface="Montserrat Medium"/>
              </a:rPr>
              <a:t>SMART ELDER CARE MANAGEMENT &amp; SUPPORT PLATFORM</a:t>
            </a:r>
          </a:p>
        </p:txBody>
      </p:sp>
      <p:sp>
        <p:nvSpPr>
          <p:cNvPr name="TextBox 27" id="27"/>
          <p:cNvSpPr txBox="true"/>
          <p:nvPr/>
        </p:nvSpPr>
        <p:spPr>
          <a:xfrm rot="0">
            <a:off x="780477" y="2490862"/>
            <a:ext cx="6186644" cy="264160"/>
          </a:xfrm>
          <a:prstGeom prst="rect">
            <a:avLst/>
          </a:prstGeom>
        </p:spPr>
        <p:txBody>
          <a:bodyPr anchor="t" rtlCol="false" tIns="0" lIns="0" bIns="0" rIns="0">
            <a:spAutoFit/>
          </a:bodyPr>
          <a:lstStyle/>
          <a:p>
            <a:pPr algn="l">
              <a:lnSpc>
                <a:spcPts val="2240"/>
              </a:lnSpc>
            </a:pPr>
            <a:r>
              <a:rPr lang="en-US" sz="1600" b="true">
                <a:solidFill>
                  <a:srgbClr val="000000"/>
                </a:solidFill>
                <a:latin typeface="Montserrat Bold"/>
                <a:ea typeface="Montserrat Bold"/>
                <a:cs typeface="Montserrat Bold"/>
                <a:sym typeface="Montserrat Bold"/>
              </a:rPr>
              <a:t>Healthcare</a:t>
            </a:r>
            <a:r>
              <a:rPr lang="en-US" sz="1600">
                <a:solidFill>
                  <a:srgbClr val="000000"/>
                </a:solidFill>
                <a:latin typeface="Montserrat"/>
                <a:ea typeface="Montserrat"/>
                <a:cs typeface="Montserrat"/>
                <a:sym typeface="Montserrat"/>
              </a:rPr>
              <a:t>: Elder Care Management, Senior Citizen Services</a:t>
            </a:r>
          </a:p>
        </p:txBody>
      </p:sp>
      <p:sp>
        <p:nvSpPr>
          <p:cNvPr name="TextBox 28" id="28"/>
          <p:cNvSpPr txBox="true"/>
          <p:nvPr/>
        </p:nvSpPr>
        <p:spPr>
          <a:xfrm rot="0">
            <a:off x="780477" y="2902585"/>
            <a:ext cx="6186644" cy="1231265"/>
          </a:xfrm>
          <a:prstGeom prst="rect">
            <a:avLst/>
          </a:prstGeom>
        </p:spPr>
        <p:txBody>
          <a:bodyPr anchor="t" rtlCol="false" tIns="0" lIns="0" bIns="0" rIns="0">
            <a:spAutoFit/>
          </a:bodyPr>
          <a:lstStyle/>
          <a:p>
            <a:pPr algn="l">
              <a:lnSpc>
                <a:spcPts val="1960"/>
              </a:lnSpc>
            </a:pPr>
            <a:r>
              <a:rPr lang="en-US" sz="1400">
                <a:solidFill>
                  <a:srgbClr val="000000"/>
                </a:solidFill>
                <a:latin typeface="Montserrat"/>
                <a:ea typeface="Montserrat"/>
                <a:cs typeface="Montserrat"/>
                <a:sym typeface="Montserrat"/>
              </a:rPr>
              <a:t>Anvayaa Elder Care is a parent care platform that ensures elderly parents live safe, dignified, and emotionally supported lives when families are away. It acts as an extended family by combining on-ground support with dedicated care managers who provide trusted, long-term care coordination.</a:t>
            </a:r>
          </a:p>
        </p:txBody>
      </p:sp>
      <p:sp>
        <p:nvSpPr>
          <p:cNvPr name="TextBox 29" id="29"/>
          <p:cNvSpPr txBox="true"/>
          <p:nvPr/>
        </p:nvSpPr>
        <p:spPr>
          <a:xfrm rot="0">
            <a:off x="780477" y="6053082"/>
            <a:ext cx="1747116" cy="306705"/>
          </a:xfrm>
          <a:prstGeom prst="rect">
            <a:avLst/>
          </a:prstGeom>
        </p:spPr>
        <p:txBody>
          <a:bodyPr anchor="t" rtlCol="false" tIns="0" lIns="0" bIns="0" rIns="0">
            <a:spAutoFit/>
          </a:bodyPr>
          <a:lstStyle/>
          <a:p>
            <a:pPr algn="l">
              <a:lnSpc>
                <a:spcPts val="2520"/>
              </a:lnSpc>
            </a:pPr>
            <a:r>
              <a:rPr lang="en-US" sz="1800" b="true">
                <a:solidFill>
                  <a:srgbClr val="000000"/>
                </a:solidFill>
                <a:latin typeface="Montserrat Bold"/>
                <a:ea typeface="Montserrat Bold"/>
                <a:cs typeface="Montserrat Bold"/>
                <a:sym typeface="Montserrat Bold"/>
              </a:rPr>
              <a:t>Technologies</a:t>
            </a:r>
            <a:r>
              <a:rPr lang="en-US" sz="1800">
                <a:solidFill>
                  <a:srgbClr val="000000"/>
                </a:solidFill>
                <a:latin typeface="Montserrat"/>
                <a:ea typeface="Montserrat"/>
                <a:cs typeface="Montserrat"/>
                <a:sym typeface="Montserrat"/>
              </a:rPr>
              <a:t> </a:t>
            </a:r>
          </a:p>
        </p:txBody>
      </p:sp>
      <p:sp>
        <p:nvSpPr>
          <p:cNvPr name="TextBox 30" id="30"/>
          <p:cNvSpPr txBox="true"/>
          <p:nvPr/>
        </p:nvSpPr>
        <p:spPr>
          <a:xfrm rot="0">
            <a:off x="780477" y="6554791"/>
            <a:ext cx="3439452" cy="264160"/>
          </a:xfrm>
          <a:prstGeom prst="rect">
            <a:avLst/>
          </a:prstGeom>
        </p:spPr>
        <p:txBody>
          <a:bodyPr anchor="t" rtlCol="false" tIns="0" lIns="0" bIns="0" rIns="0">
            <a:spAutoFit/>
          </a:bodyPr>
          <a:lstStyle/>
          <a:p>
            <a:pPr algn="l">
              <a:lnSpc>
                <a:spcPts val="2240"/>
              </a:lnSpc>
            </a:pPr>
            <a:r>
              <a:rPr lang="en-US" sz="1600" b="true">
                <a:solidFill>
                  <a:srgbClr val="000000"/>
                </a:solidFill>
                <a:latin typeface="Montserrat Bold"/>
                <a:ea typeface="Montserrat Bold"/>
                <a:cs typeface="Montserrat Bold"/>
                <a:sym typeface="Montserrat Bold"/>
              </a:rPr>
              <a:t>Real-time Care Coordination</a:t>
            </a:r>
          </a:p>
        </p:txBody>
      </p:sp>
      <p:sp>
        <p:nvSpPr>
          <p:cNvPr name="TextBox 31" id="31"/>
          <p:cNvSpPr txBox="true"/>
          <p:nvPr/>
        </p:nvSpPr>
        <p:spPr>
          <a:xfrm rot="0">
            <a:off x="780477" y="7674610"/>
            <a:ext cx="12173523" cy="190868"/>
          </a:xfrm>
          <a:prstGeom prst="rect">
            <a:avLst/>
          </a:prstGeom>
        </p:spPr>
        <p:txBody>
          <a:bodyPr anchor="t" rtlCol="false" tIns="0" lIns="0" bIns="0" rIns="0">
            <a:spAutoFit/>
          </a:bodyPr>
          <a:lstStyle/>
          <a:p>
            <a:pPr algn="ctr">
              <a:lnSpc>
                <a:spcPts val="1554"/>
              </a:lnSpc>
            </a:pPr>
            <a:r>
              <a:rPr lang="en-US" sz="1110">
                <a:solidFill>
                  <a:srgbClr val="000000"/>
                </a:solidFill>
                <a:latin typeface="Montserrat"/>
                <a:ea typeface="Montserrat"/>
                <a:cs typeface="Montserrat"/>
                <a:sym typeface="Montserrat"/>
              </a:rPr>
              <a:t>Anvayaa gives us peace of mind knowing our parents are cared for like family, even when we are miles away.”</a:t>
            </a:r>
            <a:r>
              <a:rPr lang="en-US" sz="1110">
                <a:solidFill>
                  <a:srgbClr val="000000"/>
                </a:solidFill>
                <a:latin typeface="Montserrat"/>
                <a:ea typeface="Montserrat"/>
                <a:cs typeface="Montserrat"/>
                <a:sym typeface="Montserrat"/>
              </a:rPr>
              <a:t>— </a:t>
            </a:r>
            <a:r>
              <a:rPr lang="en-US" sz="1110" b="true">
                <a:solidFill>
                  <a:srgbClr val="000000"/>
                </a:solidFill>
                <a:latin typeface="Montserrat Bold"/>
                <a:ea typeface="Montserrat Bold"/>
                <a:cs typeface="Montserrat Bold"/>
                <a:sym typeface="Montserrat Bold"/>
              </a:rPr>
              <a:t>Care Subscriber</a:t>
            </a:r>
          </a:p>
        </p:txBody>
      </p:sp>
      <p:sp>
        <p:nvSpPr>
          <p:cNvPr name="TextBox 32" id="32"/>
          <p:cNvSpPr txBox="true"/>
          <p:nvPr/>
        </p:nvSpPr>
        <p:spPr>
          <a:xfrm rot="0">
            <a:off x="1580661" y="4415857"/>
            <a:ext cx="1098779" cy="488315"/>
          </a:xfrm>
          <a:prstGeom prst="rect">
            <a:avLst/>
          </a:prstGeom>
        </p:spPr>
        <p:txBody>
          <a:bodyPr anchor="t" rtlCol="false" tIns="0" lIns="0" bIns="0" rIns="0">
            <a:spAutoFit/>
          </a:bodyPr>
          <a:lstStyle/>
          <a:p>
            <a:pPr algn="l">
              <a:lnSpc>
                <a:spcPts val="1960"/>
              </a:lnSpc>
              <a:spcBef>
                <a:spcPct val="0"/>
              </a:spcBef>
            </a:pPr>
            <a:r>
              <a:rPr lang="en-US" sz="1400">
                <a:solidFill>
                  <a:srgbClr val="FFFFFF"/>
                </a:solidFill>
                <a:latin typeface="Montserrat"/>
                <a:ea typeface="Montserrat"/>
                <a:cs typeface="Montserrat"/>
                <a:sym typeface="Montserrat"/>
              </a:rPr>
              <a:t>Delivered in </a:t>
            </a:r>
          </a:p>
          <a:p>
            <a:pPr algn="l">
              <a:lnSpc>
                <a:spcPts val="1960"/>
              </a:lnSpc>
              <a:spcBef>
                <a:spcPct val="0"/>
              </a:spcBef>
            </a:pPr>
            <a:r>
              <a:rPr lang="en-US" b="true" sz="1400">
                <a:solidFill>
                  <a:srgbClr val="FFFFFF"/>
                </a:solidFill>
                <a:latin typeface="Montserrat Bold"/>
                <a:ea typeface="Montserrat Bold"/>
                <a:cs typeface="Montserrat Bold"/>
                <a:sym typeface="Montserrat Bold"/>
              </a:rPr>
              <a:t>8 months</a:t>
            </a:r>
          </a:p>
        </p:txBody>
      </p:sp>
      <p:sp>
        <p:nvSpPr>
          <p:cNvPr name="TextBox 33" id="33"/>
          <p:cNvSpPr txBox="true"/>
          <p:nvPr/>
        </p:nvSpPr>
        <p:spPr>
          <a:xfrm rot="0">
            <a:off x="3744516" y="4415857"/>
            <a:ext cx="1661223"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95% care qua</a:t>
            </a:r>
            <a:r>
              <a:rPr lang="en-US" b="true" sz="1400">
                <a:solidFill>
                  <a:srgbClr val="FFFFFF"/>
                </a:solidFill>
                <a:latin typeface="Montserrat Bold"/>
                <a:ea typeface="Montserrat Bold"/>
                <a:cs typeface="Montserrat Bold"/>
                <a:sym typeface="Montserrat Bold"/>
              </a:rPr>
              <a:t>lity satisfaction</a:t>
            </a:r>
          </a:p>
        </p:txBody>
      </p:sp>
      <p:sp>
        <p:nvSpPr>
          <p:cNvPr name="TextBox 34" id="34"/>
          <p:cNvSpPr txBox="true"/>
          <p:nvPr/>
        </p:nvSpPr>
        <p:spPr>
          <a:xfrm rot="0">
            <a:off x="780477" y="6863408"/>
            <a:ext cx="5604123" cy="488315"/>
          </a:xfrm>
          <a:prstGeom prst="rect">
            <a:avLst/>
          </a:prstGeom>
        </p:spPr>
        <p:txBody>
          <a:bodyPr anchor="t" rtlCol="false" tIns="0" lIns="0" bIns="0" rIns="0">
            <a:spAutoFit/>
          </a:bodyPr>
          <a:lstStyle/>
          <a:p>
            <a:pPr algn="l">
              <a:lnSpc>
                <a:spcPts val="1960"/>
              </a:lnSpc>
            </a:pPr>
            <a:r>
              <a:rPr lang="en-US" sz="1400">
                <a:solidFill>
                  <a:srgbClr val="000000"/>
                </a:solidFill>
                <a:latin typeface="Montserrat"/>
                <a:ea typeface="Montserrat"/>
                <a:cs typeface="Montserrat"/>
                <a:sym typeface="Montserrat"/>
              </a:rPr>
              <a:t>On-ground support, regular check-ins, and proactive care management delivered through a centralized digital platform.</a:t>
            </a:r>
          </a:p>
        </p:txBody>
      </p:sp>
      <p:sp>
        <p:nvSpPr>
          <p:cNvPr name="TextBox 35" id="35"/>
          <p:cNvSpPr txBox="true"/>
          <p:nvPr/>
        </p:nvSpPr>
        <p:spPr>
          <a:xfrm rot="0">
            <a:off x="7756872" y="5609089"/>
            <a:ext cx="1055517" cy="264160"/>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Industry</a:t>
            </a:r>
          </a:p>
        </p:txBody>
      </p:sp>
      <p:sp>
        <p:nvSpPr>
          <p:cNvPr name="TextBox 36" id="36"/>
          <p:cNvSpPr txBox="true"/>
          <p:nvPr/>
        </p:nvSpPr>
        <p:spPr>
          <a:xfrm rot="0">
            <a:off x="7756872" y="6018786"/>
            <a:ext cx="1055517" cy="264160"/>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Problem</a:t>
            </a:r>
          </a:p>
        </p:txBody>
      </p:sp>
      <p:sp>
        <p:nvSpPr>
          <p:cNvPr name="TextBox 37" id="37"/>
          <p:cNvSpPr txBox="true"/>
          <p:nvPr/>
        </p:nvSpPr>
        <p:spPr>
          <a:xfrm rot="0">
            <a:off x="7756872" y="6435224"/>
            <a:ext cx="1055517" cy="264160"/>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Solution</a:t>
            </a:r>
          </a:p>
        </p:txBody>
      </p:sp>
      <p:sp>
        <p:nvSpPr>
          <p:cNvPr name="TextBox 38" id="38"/>
          <p:cNvSpPr txBox="true"/>
          <p:nvPr/>
        </p:nvSpPr>
        <p:spPr>
          <a:xfrm rot="0">
            <a:off x="7756872" y="6849244"/>
            <a:ext cx="879997" cy="264160"/>
          </a:xfrm>
          <a:prstGeom prst="rect">
            <a:avLst/>
          </a:prstGeom>
        </p:spPr>
        <p:txBody>
          <a:bodyPr anchor="t" rtlCol="false" tIns="0" lIns="0" bIns="0" rIns="0">
            <a:spAutoFit/>
          </a:bodyPr>
          <a:lstStyle/>
          <a:p>
            <a:pPr algn="l">
              <a:lnSpc>
                <a:spcPts val="2239"/>
              </a:lnSpc>
            </a:pPr>
            <a:r>
              <a:rPr lang="en-US" sz="1599" b="true">
                <a:solidFill>
                  <a:srgbClr val="000000"/>
                </a:solidFill>
                <a:latin typeface="Montserrat Bold"/>
                <a:ea typeface="Montserrat Bold"/>
                <a:cs typeface="Montserrat Bold"/>
                <a:sym typeface="Montserrat Bold"/>
              </a:rPr>
              <a:t>Impact</a:t>
            </a:r>
          </a:p>
        </p:txBody>
      </p:sp>
      <p:sp>
        <p:nvSpPr>
          <p:cNvPr name="TextBox 39" id="39"/>
          <p:cNvSpPr txBox="true"/>
          <p:nvPr/>
        </p:nvSpPr>
        <p:spPr>
          <a:xfrm rot="0">
            <a:off x="8925886" y="6872267"/>
            <a:ext cx="4727629" cy="232664"/>
          </a:xfrm>
          <a:prstGeom prst="rect">
            <a:avLst/>
          </a:prstGeom>
        </p:spPr>
        <p:txBody>
          <a:bodyPr anchor="t" rtlCol="false" tIns="0" lIns="0" bIns="0" rIns="0">
            <a:spAutoFit/>
          </a:bodyPr>
          <a:lstStyle/>
          <a:p>
            <a:pPr algn="ctr">
              <a:lnSpc>
                <a:spcPts val="1876"/>
              </a:lnSpc>
              <a:spcBef>
                <a:spcPct val="0"/>
              </a:spcBef>
            </a:pPr>
            <a:r>
              <a:rPr lang="en-US" sz="1340">
                <a:solidFill>
                  <a:srgbClr val="000000"/>
                </a:solidFill>
                <a:latin typeface="Montserrat"/>
                <a:ea typeface="Montserrat"/>
                <a:cs typeface="Montserrat"/>
                <a:sym typeface="Montserrat"/>
              </a:rPr>
              <a:t>95% success rate, 5-min emergency response, reliability.</a:t>
            </a:r>
          </a:p>
        </p:txBody>
      </p:sp>
      <p:sp>
        <p:nvSpPr>
          <p:cNvPr name="TextBox 40" id="40"/>
          <p:cNvSpPr txBox="true"/>
          <p:nvPr/>
        </p:nvSpPr>
        <p:spPr>
          <a:xfrm rot="0">
            <a:off x="8925886" y="6440555"/>
            <a:ext cx="4539122" cy="240665"/>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On-ground care managers across 40+ Indian cities.</a:t>
            </a:r>
          </a:p>
        </p:txBody>
      </p:sp>
      <p:sp>
        <p:nvSpPr>
          <p:cNvPr name="TextBox 41" id="41"/>
          <p:cNvSpPr txBox="true"/>
          <p:nvPr/>
        </p:nvSpPr>
        <p:spPr>
          <a:xfrm rot="0">
            <a:off x="8726968" y="6042281"/>
            <a:ext cx="3875855" cy="240665"/>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Distant families lack reliable elder care.</a:t>
            </a:r>
          </a:p>
        </p:txBody>
      </p:sp>
      <p:sp>
        <p:nvSpPr>
          <p:cNvPr name="TextBox 42" id="42"/>
          <p:cNvSpPr txBox="true"/>
          <p:nvPr/>
        </p:nvSpPr>
        <p:spPr>
          <a:xfrm rot="0">
            <a:off x="8925886" y="5632584"/>
            <a:ext cx="4209912" cy="240665"/>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Healthcare / Elder Care / Senior Citizen Services</a:t>
            </a:r>
          </a:p>
        </p:txBody>
      </p:sp>
      <p:sp>
        <p:nvSpPr>
          <p:cNvPr name="TextBox 43" id="43"/>
          <p:cNvSpPr txBox="true"/>
          <p:nvPr/>
        </p:nvSpPr>
        <p:spPr>
          <a:xfrm rot="0">
            <a:off x="8785749" y="5621154"/>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4" id="44"/>
          <p:cNvSpPr txBox="true"/>
          <p:nvPr/>
        </p:nvSpPr>
        <p:spPr>
          <a:xfrm rot="0">
            <a:off x="8785749" y="6018786"/>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5" id="45"/>
          <p:cNvSpPr txBox="true"/>
          <p:nvPr/>
        </p:nvSpPr>
        <p:spPr>
          <a:xfrm rot="0">
            <a:off x="8785749" y="6428807"/>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6" id="46"/>
          <p:cNvSpPr txBox="true"/>
          <p:nvPr/>
        </p:nvSpPr>
        <p:spPr>
          <a:xfrm rot="0">
            <a:off x="8785749" y="6842259"/>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7" id="47"/>
          <p:cNvSpPr txBox="true"/>
          <p:nvPr/>
        </p:nvSpPr>
        <p:spPr>
          <a:xfrm rot="0">
            <a:off x="1587629" y="5185160"/>
            <a:ext cx="2071109"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5 m</a:t>
            </a:r>
            <a:r>
              <a:rPr lang="en-US" b="true" sz="1400">
                <a:solidFill>
                  <a:srgbClr val="FFFFFF"/>
                </a:solidFill>
                <a:latin typeface="Montserrat Bold"/>
                <a:ea typeface="Montserrat Bold"/>
                <a:cs typeface="Montserrat Bold"/>
                <a:sym typeface="Montserrat Bold"/>
              </a:rPr>
              <a:t>inutes emergency </a:t>
            </a:r>
          </a:p>
          <a:p>
            <a:pPr algn="l">
              <a:lnSpc>
                <a:spcPts val="1960"/>
              </a:lnSpc>
              <a:spcBef>
                <a:spcPct val="0"/>
              </a:spcBef>
            </a:pPr>
            <a:r>
              <a:rPr lang="en-US" b="true" sz="1400">
                <a:solidFill>
                  <a:srgbClr val="FFFFFF"/>
                </a:solidFill>
                <a:latin typeface="Montserrat Bold"/>
                <a:ea typeface="Montserrat Bold"/>
                <a:cs typeface="Montserrat Bold"/>
                <a:sym typeface="Montserrat Bold"/>
              </a:rPr>
              <a:t>response operational</a:t>
            </a:r>
          </a:p>
        </p:txBody>
      </p:sp>
      <p:sp>
        <p:nvSpPr>
          <p:cNvPr name="TextBox 48" id="48"/>
          <p:cNvSpPr txBox="true"/>
          <p:nvPr/>
        </p:nvSpPr>
        <p:spPr>
          <a:xfrm rot="0">
            <a:off x="4845057" y="5190165"/>
            <a:ext cx="1661223"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40+ c</a:t>
            </a:r>
            <a:r>
              <a:rPr lang="en-US" b="true" sz="1400">
                <a:solidFill>
                  <a:srgbClr val="FFFFFF"/>
                </a:solidFill>
                <a:latin typeface="Montserrat Bold"/>
                <a:ea typeface="Montserrat Bold"/>
                <a:cs typeface="Montserrat Bold"/>
                <a:sym typeface="Montserrat Bold"/>
              </a:rPr>
              <a:t>ities across india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9F6"/>
        </a:solidFill>
      </p:bgPr>
    </p:bg>
    <p:spTree>
      <p:nvGrpSpPr>
        <p:cNvPr id="1" name=""/>
        <p:cNvGrpSpPr/>
        <p:nvPr/>
      </p:nvGrpSpPr>
      <p:grpSpPr>
        <a:xfrm>
          <a:off x="0" y="0"/>
          <a:ext cx="0" cy="0"/>
          <a:chOff x="0" y="0"/>
          <a:chExt cx="0" cy="0"/>
        </a:xfrm>
      </p:grpSpPr>
      <p:grpSp>
        <p:nvGrpSpPr>
          <p:cNvPr name="Group 2" id="2"/>
          <p:cNvGrpSpPr/>
          <p:nvPr/>
        </p:nvGrpSpPr>
        <p:grpSpPr>
          <a:xfrm rot="0">
            <a:off x="780477" y="3567296"/>
            <a:ext cx="2995951" cy="623704"/>
            <a:chOff x="0" y="0"/>
            <a:chExt cx="832209" cy="173251"/>
          </a:xfrm>
        </p:grpSpPr>
        <p:sp>
          <p:nvSpPr>
            <p:cNvPr name="Freeform 3" id="3"/>
            <p:cNvSpPr/>
            <p:nvPr/>
          </p:nvSpPr>
          <p:spPr>
            <a:xfrm flipH="false" flipV="false" rot="0">
              <a:off x="0" y="0"/>
              <a:ext cx="832209" cy="173251"/>
            </a:xfrm>
            <a:custGeom>
              <a:avLst/>
              <a:gdLst/>
              <a:ahLst/>
              <a:cxnLst/>
              <a:rect r="r" b="b" t="t" l="l"/>
              <a:pathLst>
                <a:path h="173251" w="832209">
                  <a:moveTo>
                    <a:pt x="38358" y="0"/>
                  </a:moveTo>
                  <a:lnTo>
                    <a:pt x="793850" y="0"/>
                  </a:lnTo>
                  <a:cubicBezTo>
                    <a:pt x="804024" y="0"/>
                    <a:pt x="813780" y="4041"/>
                    <a:pt x="820974" y="11235"/>
                  </a:cubicBezTo>
                  <a:cubicBezTo>
                    <a:pt x="828167" y="18428"/>
                    <a:pt x="832209" y="28185"/>
                    <a:pt x="832209" y="38358"/>
                  </a:cubicBezTo>
                  <a:lnTo>
                    <a:pt x="832209" y="134893"/>
                  </a:lnTo>
                  <a:cubicBezTo>
                    <a:pt x="832209" y="156078"/>
                    <a:pt x="815035" y="173251"/>
                    <a:pt x="793850" y="173251"/>
                  </a:cubicBezTo>
                  <a:lnTo>
                    <a:pt x="38358" y="173251"/>
                  </a:lnTo>
                  <a:cubicBezTo>
                    <a:pt x="28185" y="173251"/>
                    <a:pt x="18428" y="169210"/>
                    <a:pt x="11235" y="162016"/>
                  </a:cubicBezTo>
                  <a:cubicBezTo>
                    <a:pt x="4041" y="154823"/>
                    <a:pt x="0" y="145066"/>
                    <a:pt x="0" y="134893"/>
                  </a:cubicBezTo>
                  <a:lnTo>
                    <a:pt x="0" y="38358"/>
                  </a:lnTo>
                  <a:cubicBezTo>
                    <a:pt x="0" y="28185"/>
                    <a:pt x="4041" y="18428"/>
                    <a:pt x="11235" y="11235"/>
                  </a:cubicBezTo>
                  <a:cubicBezTo>
                    <a:pt x="18428" y="4041"/>
                    <a:pt x="28185" y="0"/>
                    <a:pt x="38358" y="0"/>
                  </a:cubicBezTo>
                  <a:close/>
                </a:path>
              </a:pathLst>
            </a:custGeom>
            <a:solidFill>
              <a:srgbClr val="074533"/>
            </a:solidFill>
          </p:spPr>
        </p:sp>
        <p:sp>
          <p:nvSpPr>
            <p:cNvPr name="TextBox 4" id="4"/>
            <p:cNvSpPr txBox="true"/>
            <p:nvPr/>
          </p:nvSpPr>
          <p:spPr>
            <a:xfrm>
              <a:off x="0" y="-38100"/>
              <a:ext cx="832209" cy="211351"/>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3985977" y="3567296"/>
            <a:ext cx="2638243" cy="623704"/>
            <a:chOff x="0" y="0"/>
            <a:chExt cx="732845" cy="173251"/>
          </a:xfrm>
        </p:grpSpPr>
        <p:sp>
          <p:nvSpPr>
            <p:cNvPr name="Freeform 6" id="6"/>
            <p:cNvSpPr/>
            <p:nvPr/>
          </p:nvSpPr>
          <p:spPr>
            <a:xfrm flipH="false" flipV="false" rot="0">
              <a:off x="0" y="0"/>
              <a:ext cx="732845" cy="173251"/>
            </a:xfrm>
            <a:custGeom>
              <a:avLst/>
              <a:gdLst/>
              <a:ahLst/>
              <a:cxnLst/>
              <a:rect r="r" b="b" t="t" l="l"/>
              <a:pathLst>
                <a:path h="173251" w="732845">
                  <a:moveTo>
                    <a:pt x="43559" y="0"/>
                  </a:moveTo>
                  <a:lnTo>
                    <a:pt x="689286" y="0"/>
                  </a:lnTo>
                  <a:cubicBezTo>
                    <a:pt x="713343" y="0"/>
                    <a:pt x="732845" y="19502"/>
                    <a:pt x="732845" y="43559"/>
                  </a:cubicBezTo>
                  <a:lnTo>
                    <a:pt x="732845" y="129692"/>
                  </a:lnTo>
                  <a:cubicBezTo>
                    <a:pt x="732845" y="153749"/>
                    <a:pt x="713343" y="173251"/>
                    <a:pt x="689286" y="173251"/>
                  </a:cubicBezTo>
                  <a:lnTo>
                    <a:pt x="43559" y="173251"/>
                  </a:lnTo>
                  <a:cubicBezTo>
                    <a:pt x="32006" y="173251"/>
                    <a:pt x="20927" y="168662"/>
                    <a:pt x="12758" y="160493"/>
                  </a:cubicBezTo>
                  <a:cubicBezTo>
                    <a:pt x="4589" y="152324"/>
                    <a:pt x="0" y="141245"/>
                    <a:pt x="0" y="129692"/>
                  </a:cubicBezTo>
                  <a:lnTo>
                    <a:pt x="0" y="43559"/>
                  </a:lnTo>
                  <a:cubicBezTo>
                    <a:pt x="0" y="32006"/>
                    <a:pt x="4589" y="20927"/>
                    <a:pt x="12758" y="12758"/>
                  </a:cubicBezTo>
                  <a:cubicBezTo>
                    <a:pt x="20927" y="4589"/>
                    <a:pt x="32006" y="0"/>
                    <a:pt x="43559" y="0"/>
                  </a:cubicBezTo>
                  <a:close/>
                </a:path>
              </a:pathLst>
            </a:custGeom>
            <a:solidFill>
              <a:srgbClr val="074533"/>
            </a:solidFill>
          </p:spPr>
        </p:sp>
        <p:sp>
          <p:nvSpPr>
            <p:cNvPr name="TextBox 7" id="7"/>
            <p:cNvSpPr txBox="true"/>
            <p:nvPr/>
          </p:nvSpPr>
          <p:spPr>
            <a:xfrm>
              <a:off x="0" y="-38100"/>
              <a:ext cx="732845" cy="211351"/>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false" flipV="false" rot="0">
            <a:off x="904257" y="3572301"/>
            <a:ext cx="613694" cy="613694"/>
          </a:xfrm>
          <a:custGeom>
            <a:avLst/>
            <a:gdLst/>
            <a:ahLst/>
            <a:cxnLst/>
            <a:rect r="r" b="b" t="t" l="l"/>
            <a:pathLst>
              <a:path h="613694" w="613694">
                <a:moveTo>
                  <a:pt x="0" y="0"/>
                </a:moveTo>
                <a:lnTo>
                  <a:pt x="613694" y="0"/>
                </a:lnTo>
                <a:lnTo>
                  <a:pt x="613694" y="613694"/>
                </a:lnTo>
                <a:lnTo>
                  <a:pt x="0" y="6136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756872" y="1945944"/>
            <a:ext cx="5197128" cy="3392700"/>
            <a:chOff x="0" y="0"/>
            <a:chExt cx="642001" cy="419100"/>
          </a:xfrm>
        </p:grpSpPr>
        <p:sp>
          <p:nvSpPr>
            <p:cNvPr name="Freeform 10" id="10"/>
            <p:cNvSpPr/>
            <p:nvPr/>
          </p:nvSpPr>
          <p:spPr>
            <a:xfrm flipH="false" flipV="false" rot="0">
              <a:off x="0" y="0"/>
              <a:ext cx="642001" cy="419100"/>
            </a:xfrm>
            <a:custGeom>
              <a:avLst/>
              <a:gdLst/>
              <a:ahLst/>
              <a:cxnLst/>
              <a:rect r="r" b="b" t="t" l="l"/>
              <a:pathLst>
                <a:path h="419100" w="642001">
                  <a:moveTo>
                    <a:pt x="22112" y="0"/>
                  </a:moveTo>
                  <a:lnTo>
                    <a:pt x="619889" y="0"/>
                  </a:lnTo>
                  <a:cubicBezTo>
                    <a:pt x="632101" y="0"/>
                    <a:pt x="642001" y="9900"/>
                    <a:pt x="642001" y="22112"/>
                  </a:cubicBezTo>
                  <a:lnTo>
                    <a:pt x="642001" y="396988"/>
                  </a:lnTo>
                  <a:cubicBezTo>
                    <a:pt x="642001" y="409200"/>
                    <a:pt x="632101" y="419100"/>
                    <a:pt x="619889" y="419100"/>
                  </a:cubicBezTo>
                  <a:lnTo>
                    <a:pt x="22112" y="419100"/>
                  </a:lnTo>
                  <a:cubicBezTo>
                    <a:pt x="9900" y="419100"/>
                    <a:pt x="0" y="409200"/>
                    <a:pt x="0" y="396988"/>
                  </a:cubicBezTo>
                  <a:lnTo>
                    <a:pt x="0" y="22112"/>
                  </a:lnTo>
                  <a:cubicBezTo>
                    <a:pt x="0" y="9900"/>
                    <a:pt x="9900" y="0"/>
                    <a:pt x="22112" y="0"/>
                  </a:cubicBezTo>
                  <a:close/>
                </a:path>
              </a:pathLst>
            </a:custGeom>
            <a:solidFill>
              <a:srgbClr val="FFFFFF"/>
            </a:solidFill>
          </p:spPr>
        </p:sp>
        <p:sp>
          <p:nvSpPr>
            <p:cNvPr name="TextBox 11" id="11"/>
            <p:cNvSpPr txBox="true"/>
            <p:nvPr/>
          </p:nvSpPr>
          <p:spPr>
            <a:xfrm>
              <a:off x="0" y="-28575"/>
              <a:ext cx="642001" cy="447675"/>
            </a:xfrm>
            <a:prstGeom prst="rect">
              <a:avLst/>
            </a:prstGeom>
          </p:spPr>
          <p:txBody>
            <a:bodyPr anchor="ctr" rtlCol="false" tIns="50800" lIns="50800" bIns="50800" rIns="50800"/>
            <a:lstStyle/>
            <a:p>
              <a:pPr algn="ctr">
                <a:lnSpc>
                  <a:spcPts val="2239"/>
                </a:lnSpc>
              </a:pPr>
            </a:p>
          </p:txBody>
        </p:sp>
      </p:grpSp>
      <p:sp>
        <p:nvSpPr>
          <p:cNvPr name="Freeform 12" id="12"/>
          <p:cNvSpPr/>
          <p:nvPr/>
        </p:nvSpPr>
        <p:spPr>
          <a:xfrm flipH="false" flipV="false" rot="0">
            <a:off x="4734892" y="6647876"/>
            <a:ext cx="400023" cy="424826"/>
          </a:xfrm>
          <a:custGeom>
            <a:avLst/>
            <a:gdLst/>
            <a:ahLst/>
            <a:cxnLst/>
            <a:rect r="r" b="b" t="t" l="l"/>
            <a:pathLst>
              <a:path h="424826" w="400023">
                <a:moveTo>
                  <a:pt x="0" y="0"/>
                </a:moveTo>
                <a:lnTo>
                  <a:pt x="400023" y="0"/>
                </a:lnTo>
                <a:lnTo>
                  <a:pt x="400023" y="424826"/>
                </a:lnTo>
                <a:lnTo>
                  <a:pt x="0" y="424826"/>
                </a:lnTo>
                <a:lnTo>
                  <a:pt x="0" y="0"/>
                </a:lnTo>
                <a:close/>
              </a:path>
            </a:pathLst>
          </a:custGeom>
          <a:blipFill>
            <a:blip r:embed="rId4"/>
            <a:stretch>
              <a:fillRect l="-45672" t="0" r="-43971" b="0"/>
            </a:stretch>
          </a:blipFill>
        </p:spPr>
      </p:sp>
      <p:sp>
        <p:nvSpPr>
          <p:cNvPr name="Freeform 13" id="13"/>
          <p:cNvSpPr/>
          <p:nvPr/>
        </p:nvSpPr>
        <p:spPr>
          <a:xfrm flipH="false" flipV="false" rot="0">
            <a:off x="2748246" y="7191402"/>
            <a:ext cx="470697" cy="470697"/>
          </a:xfrm>
          <a:custGeom>
            <a:avLst/>
            <a:gdLst/>
            <a:ahLst/>
            <a:cxnLst/>
            <a:rect r="r" b="b" t="t" l="l"/>
            <a:pathLst>
              <a:path h="470697" w="470697">
                <a:moveTo>
                  <a:pt x="0" y="0"/>
                </a:moveTo>
                <a:lnTo>
                  <a:pt x="470697" y="0"/>
                </a:lnTo>
                <a:lnTo>
                  <a:pt x="470697" y="470697"/>
                </a:lnTo>
                <a:lnTo>
                  <a:pt x="0" y="470697"/>
                </a:lnTo>
                <a:lnTo>
                  <a:pt x="0" y="0"/>
                </a:lnTo>
                <a:close/>
              </a:path>
            </a:pathLst>
          </a:custGeom>
          <a:blipFill>
            <a:blip r:embed="rId5"/>
            <a:stretch>
              <a:fillRect l="0" t="0" r="0" b="0"/>
            </a:stretch>
          </a:blipFill>
        </p:spPr>
      </p:sp>
      <p:sp>
        <p:nvSpPr>
          <p:cNvPr name="Freeform 14" id="14"/>
          <p:cNvSpPr/>
          <p:nvPr/>
        </p:nvSpPr>
        <p:spPr>
          <a:xfrm flipH="false" flipV="false" rot="0">
            <a:off x="4711561" y="7172256"/>
            <a:ext cx="508988" cy="508988"/>
          </a:xfrm>
          <a:custGeom>
            <a:avLst/>
            <a:gdLst/>
            <a:ahLst/>
            <a:cxnLst/>
            <a:rect r="r" b="b" t="t" l="l"/>
            <a:pathLst>
              <a:path h="508988" w="508988">
                <a:moveTo>
                  <a:pt x="0" y="0"/>
                </a:moveTo>
                <a:lnTo>
                  <a:pt x="508988" y="0"/>
                </a:lnTo>
                <a:lnTo>
                  <a:pt x="508988" y="508989"/>
                </a:lnTo>
                <a:lnTo>
                  <a:pt x="0" y="508989"/>
                </a:lnTo>
                <a:lnTo>
                  <a:pt x="0" y="0"/>
                </a:lnTo>
                <a:close/>
              </a:path>
            </a:pathLst>
          </a:custGeom>
          <a:blipFill>
            <a:blip r:embed="rId6"/>
            <a:stretch>
              <a:fillRect l="0" t="0" r="0" b="0"/>
            </a:stretch>
          </a:blipFill>
        </p:spPr>
      </p:sp>
      <p:sp>
        <p:nvSpPr>
          <p:cNvPr name="Freeform 15" id="15"/>
          <p:cNvSpPr/>
          <p:nvPr/>
        </p:nvSpPr>
        <p:spPr>
          <a:xfrm flipH="false" flipV="false" rot="0">
            <a:off x="2748246" y="6639697"/>
            <a:ext cx="441184" cy="441184"/>
          </a:xfrm>
          <a:custGeom>
            <a:avLst/>
            <a:gdLst/>
            <a:ahLst/>
            <a:cxnLst/>
            <a:rect r="r" b="b" t="t" l="l"/>
            <a:pathLst>
              <a:path h="441184" w="441184">
                <a:moveTo>
                  <a:pt x="0" y="0"/>
                </a:moveTo>
                <a:lnTo>
                  <a:pt x="441184" y="0"/>
                </a:lnTo>
                <a:lnTo>
                  <a:pt x="441184" y="441184"/>
                </a:lnTo>
                <a:lnTo>
                  <a:pt x="0" y="441184"/>
                </a:lnTo>
                <a:lnTo>
                  <a:pt x="0" y="0"/>
                </a:lnTo>
                <a:close/>
              </a:path>
            </a:pathLst>
          </a:custGeom>
          <a:blipFill>
            <a:blip r:embed="rId7"/>
            <a:stretch>
              <a:fillRect l="0" t="0" r="0" b="0"/>
            </a:stretch>
          </a:blipFill>
        </p:spPr>
      </p:sp>
      <p:sp>
        <p:nvSpPr>
          <p:cNvPr name="Freeform 16" id="16">
            <a:hlinkClick r:id="rId9" tooltip="https://gccxglobal.com"/>
          </p:cNvPr>
          <p:cNvSpPr/>
          <p:nvPr/>
        </p:nvSpPr>
        <p:spPr>
          <a:xfrm flipH="false" flipV="false" rot="0">
            <a:off x="7762963" y="2354978"/>
            <a:ext cx="5191037" cy="2712317"/>
          </a:xfrm>
          <a:custGeom>
            <a:avLst/>
            <a:gdLst/>
            <a:ahLst/>
            <a:cxnLst/>
            <a:rect r="r" b="b" t="t" l="l"/>
            <a:pathLst>
              <a:path h="2712317" w="5191037">
                <a:moveTo>
                  <a:pt x="0" y="0"/>
                </a:moveTo>
                <a:lnTo>
                  <a:pt x="5191037" y="0"/>
                </a:lnTo>
                <a:lnTo>
                  <a:pt x="5191037" y="2712317"/>
                </a:lnTo>
                <a:lnTo>
                  <a:pt x="0" y="2712317"/>
                </a:lnTo>
                <a:lnTo>
                  <a:pt x="0" y="0"/>
                </a:lnTo>
                <a:close/>
              </a:path>
            </a:pathLst>
          </a:custGeom>
          <a:blipFill>
            <a:blip r:embed="rId8"/>
            <a:stretch>
              <a:fillRect l="0" t="0" r="0" b="0"/>
            </a:stretch>
          </a:blipFill>
        </p:spPr>
      </p:sp>
      <p:grpSp>
        <p:nvGrpSpPr>
          <p:cNvPr name="Group 17" id="17"/>
          <p:cNvGrpSpPr/>
          <p:nvPr/>
        </p:nvGrpSpPr>
        <p:grpSpPr>
          <a:xfrm rot="0">
            <a:off x="780477" y="4305300"/>
            <a:ext cx="2995951" cy="623704"/>
            <a:chOff x="0" y="0"/>
            <a:chExt cx="832209" cy="173251"/>
          </a:xfrm>
        </p:grpSpPr>
        <p:sp>
          <p:nvSpPr>
            <p:cNvPr name="Freeform 18" id="18"/>
            <p:cNvSpPr/>
            <p:nvPr/>
          </p:nvSpPr>
          <p:spPr>
            <a:xfrm flipH="false" flipV="false" rot="0">
              <a:off x="0" y="0"/>
              <a:ext cx="832209" cy="173251"/>
            </a:xfrm>
            <a:custGeom>
              <a:avLst/>
              <a:gdLst/>
              <a:ahLst/>
              <a:cxnLst/>
              <a:rect r="r" b="b" t="t" l="l"/>
              <a:pathLst>
                <a:path h="173251" w="832209">
                  <a:moveTo>
                    <a:pt x="38358" y="0"/>
                  </a:moveTo>
                  <a:lnTo>
                    <a:pt x="793850" y="0"/>
                  </a:lnTo>
                  <a:cubicBezTo>
                    <a:pt x="804024" y="0"/>
                    <a:pt x="813780" y="4041"/>
                    <a:pt x="820974" y="11235"/>
                  </a:cubicBezTo>
                  <a:cubicBezTo>
                    <a:pt x="828167" y="18428"/>
                    <a:pt x="832209" y="28185"/>
                    <a:pt x="832209" y="38358"/>
                  </a:cubicBezTo>
                  <a:lnTo>
                    <a:pt x="832209" y="134893"/>
                  </a:lnTo>
                  <a:cubicBezTo>
                    <a:pt x="832209" y="156078"/>
                    <a:pt x="815035" y="173251"/>
                    <a:pt x="793850" y="173251"/>
                  </a:cubicBezTo>
                  <a:lnTo>
                    <a:pt x="38358" y="173251"/>
                  </a:lnTo>
                  <a:cubicBezTo>
                    <a:pt x="28185" y="173251"/>
                    <a:pt x="18428" y="169210"/>
                    <a:pt x="11235" y="162016"/>
                  </a:cubicBezTo>
                  <a:cubicBezTo>
                    <a:pt x="4041" y="154823"/>
                    <a:pt x="0" y="145066"/>
                    <a:pt x="0" y="134893"/>
                  </a:cubicBezTo>
                  <a:lnTo>
                    <a:pt x="0" y="38358"/>
                  </a:lnTo>
                  <a:cubicBezTo>
                    <a:pt x="0" y="28185"/>
                    <a:pt x="4041" y="18428"/>
                    <a:pt x="11235" y="11235"/>
                  </a:cubicBezTo>
                  <a:cubicBezTo>
                    <a:pt x="18428" y="4041"/>
                    <a:pt x="28185" y="0"/>
                    <a:pt x="38358" y="0"/>
                  </a:cubicBezTo>
                  <a:close/>
                </a:path>
              </a:pathLst>
            </a:custGeom>
            <a:solidFill>
              <a:srgbClr val="074533"/>
            </a:solidFill>
          </p:spPr>
        </p:sp>
        <p:sp>
          <p:nvSpPr>
            <p:cNvPr name="TextBox 19" id="19"/>
            <p:cNvSpPr txBox="true"/>
            <p:nvPr/>
          </p:nvSpPr>
          <p:spPr>
            <a:xfrm>
              <a:off x="0" y="-38100"/>
              <a:ext cx="832209" cy="211351"/>
            </a:xfrm>
            <a:prstGeom prst="rect">
              <a:avLst/>
            </a:prstGeom>
          </p:spPr>
          <p:txBody>
            <a:bodyPr anchor="ctr" rtlCol="false" tIns="50800" lIns="50800" bIns="50800" rIns="50800"/>
            <a:lstStyle/>
            <a:p>
              <a:pPr algn="ctr">
                <a:lnSpc>
                  <a:spcPts val="2520"/>
                </a:lnSpc>
              </a:pPr>
            </a:p>
          </p:txBody>
        </p:sp>
      </p:grpSp>
      <p:grpSp>
        <p:nvGrpSpPr>
          <p:cNvPr name="Group 20" id="20"/>
          <p:cNvGrpSpPr/>
          <p:nvPr/>
        </p:nvGrpSpPr>
        <p:grpSpPr>
          <a:xfrm rot="0">
            <a:off x="3985977" y="4312297"/>
            <a:ext cx="2638243" cy="623704"/>
            <a:chOff x="0" y="0"/>
            <a:chExt cx="732845" cy="173251"/>
          </a:xfrm>
        </p:grpSpPr>
        <p:sp>
          <p:nvSpPr>
            <p:cNvPr name="Freeform 21" id="21"/>
            <p:cNvSpPr/>
            <p:nvPr/>
          </p:nvSpPr>
          <p:spPr>
            <a:xfrm flipH="false" flipV="false" rot="0">
              <a:off x="0" y="0"/>
              <a:ext cx="732845" cy="173251"/>
            </a:xfrm>
            <a:custGeom>
              <a:avLst/>
              <a:gdLst/>
              <a:ahLst/>
              <a:cxnLst/>
              <a:rect r="r" b="b" t="t" l="l"/>
              <a:pathLst>
                <a:path h="173251" w="732845">
                  <a:moveTo>
                    <a:pt x="43559" y="0"/>
                  </a:moveTo>
                  <a:lnTo>
                    <a:pt x="689286" y="0"/>
                  </a:lnTo>
                  <a:cubicBezTo>
                    <a:pt x="713343" y="0"/>
                    <a:pt x="732845" y="19502"/>
                    <a:pt x="732845" y="43559"/>
                  </a:cubicBezTo>
                  <a:lnTo>
                    <a:pt x="732845" y="129692"/>
                  </a:lnTo>
                  <a:cubicBezTo>
                    <a:pt x="732845" y="153749"/>
                    <a:pt x="713343" y="173251"/>
                    <a:pt x="689286" y="173251"/>
                  </a:cubicBezTo>
                  <a:lnTo>
                    <a:pt x="43559" y="173251"/>
                  </a:lnTo>
                  <a:cubicBezTo>
                    <a:pt x="32006" y="173251"/>
                    <a:pt x="20927" y="168662"/>
                    <a:pt x="12758" y="160493"/>
                  </a:cubicBezTo>
                  <a:cubicBezTo>
                    <a:pt x="4589" y="152324"/>
                    <a:pt x="0" y="141245"/>
                    <a:pt x="0" y="129692"/>
                  </a:cubicBezTo>
                  <a:lnTo>
                    <a:pt x="0" y="43559"/>
                  </a:lnTo>
                  <a:cubicBezTo>
                    <a:pt x="0" y="32006"/>
                    <a:pt x="4589" y="20927"/>
                    <a:pt x="12758" y="12758"/>
                  </a:cubicBezTo>
                  <a:cubicBezTo>
                    <a:pt x="20927" y="4589"/>
                    <a:pt x="32006" y="0"/>
                    <a:pt x="43559" y="0"/>
                  </a:cubicBezTo>
                  <a:close/>
                </a:path>
              </a:pathLst>
            </a:custGeom>
            <a:solidFill>
              <a:srgbClr val="074533"/>
            </a:solidFill>
          </p:spPr>
        </p:sp>
        <p:sp>
          <p:nvSpPr>
            <p:cNvPr name="TextBox 22" id="22"/>
            <p:cNvSpPr txBox="true"/>
            <p:nvPr/>
          </p:nvSpPr>
          <p:spPr>
            <a:xfrm>
              <a:off x="0" y="-38100"/>
              <a:ext cx="732845" cy="211351"/>
            </a:xfrm>
            <a:prstGeom prst="rect">
              <a:avLst/>
            </a:prstGeom>
          </p:spPr>
          <p:txBody>
            <a:bodyPr anchor="ctr" rtlCol="false" tIns="50800" lIns="50800" bIns="50800" rIns="50800"/>
            <a:lstStyle/>
            <a:p>
              <a:pPr algn="ctr">
                <a:lnSpc>
                  <a:spcPts val="2520"/>
                </a:lnSpc>
              </a:pPr>
            </a:p>
          </p:txBody>
        </p:sp>
      </p:grpSp>
      <p:sp>
        <p:nvSpPr>
          <p:cNvPr name="Freeform 23" id="23"/>
          <p:cNvSpPr/>
          <p:nvPr/>
        </p:nvSpPr>
        <p:spPr>
          <a:xfrm flipH="false" flipV="false" rot="0">
            <a:off x="1077936" y="4440238"/>
            <a:ext cx="266336" cy="353828"/>
          </a:xfrm>
          <a:custGeom>
            <a:avLst/>
            <a:gdLst/>
            <a:ahLst/>
            <a:cxnLst/>
            <a:rect r="r" b="b" t="t" l="l"/>
            <a:pathLst>
              <a:path h="353828" w="266336">
                <a:moveTo>
                  <a:pt x="0" y="0"/>
                </a:moveTo>
                <a:lnTo>
                  <a:pt x="266336" y="0"/>
                </a:lnTo>
                <a:lnTo>
                  <a:pt x="266336" y="353828"/>
                </a:lnTo>
                <a:lnTo>
                  <a:pt x="0" y="3538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4219929" y="3714756"/>
            <a:ext cx="313577" cy="328783"/>
          </a:xfrm>
          <a:custGeom>
            <a:avLst/>
            <a:gdLst/>
            <a:ahLst/>
            <a:cxnLst/>
            <a:rect r="r" b="b" t="t" l="l"/>
            <a:pathLst>
              <a:path h="328783" w="313577">
                <a:moveTo>
                  <a:pt x="0" y="0"/>
                </a:moveTo>
                <a:lnTo>
                  <a:pt x="313577" y="0"/>
                </a:lnTo>
                <a:lnTo>
                  <a:pt x="313577" y="328784"/>
                </a:lnTo>
                <a:lnTo>
                  <a:pt x="0" y="3287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0">
            <a:off x="4219929" y="4459586"/>
            <a:ext cx="324601" cy="329127"/>
          </a:xfrm>
          <a:custGeom>
            <a:avLst/>
            <a:gdLst/>
            <a:ahLst/>
            <a:cxnLst/>
            <a:rect r="r" b="b" t="t" l="l"/>
            <a:pathLst>
              <a:path h="329127" w="324601">
                <a:moveTo>
                  <a:pt x="0" y="0"/>
                </a:moveTo>
                <a:lnTo>
                  <a:pt x="324601" y="0"/>
                </a:lnTo>
                <a:lnTo>
                  <a:pt x="324601" y="329127"/>
                </a:lnTo>
                <a:lnTo>
                  <a:pt x="0" y="32912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6" id="26">
            <a:hlinkClick r:id="rId17" tooltip="https://gccxglobal.com"/>
          </p:cNvPr>
          <p:cNvSpPr/>
          <p:nvPr/>
        </p:nvSpPr>
        <p:spPr>
          <a:xfrm flipH="false" flipV="false" rot="0">
            <a:off x="11594997" y="1486029"/>
            <a:ext cx="1359003" cy="545333"/>
          </a:xfrm>
          <a:custGeom>
            <a:avLst/>
            <a:gdLst/>
            <a:ahLst/>
            <a:cxnLst/>
            <a:rect r="r" b="b" t="t" l="l"/>
            <a:pathLst>
              <a:path h="545333" w="1359003">
                <a:moveTo>
                  <a:pt x="0" y="0"/>
                </a:moveTo>
                <a:lnTo>
                  <a:pt x="1359003" y="0"/>
                </a:lnTo>
                <a:lnTo>
                  <a:pt x="1359003" y="545333"/>
                </a:lnTo>
                <a:lnTo>
                  <a:pt x="0" y="545333"/>
                </a:lnTo>
                <a:lnTo>
                  <a:pt x="0" y="0"/>
                </a:lnTo>
                <a:close/>
              </a:path>
            </a:pathLst>
          </a:custGeom>
          <a:blipFill>
            <a:blip r:embed="rId16"/>
            <a:stretch>
              <a:fillRect l="0" t="0" r="0" b="0"/>
            </a:stretch>
          </a:blipFill>
        </p:spPr>
      </p:sp>
      <p:sp>
        <p:nvSpPr>
          <p:cNvPr name="TextBox 27" id="27"/>
          <p:cNvSpPr txBox="true"/>
          <p:nvPr/>
        </p:nvSpPr>
        <p:spPr>
          <a:xfrm rot="0">
            <a:off x="780477" y="1209743"/>
            <a:ext cx="1379458" cy="621037"/>
          </a:xfrm>
          <a:prstGeom prst="rect">
            <a:avLst/>
          </a:prstGeom>
        </p:spPr>
        <p:txBody>
          <a:bodyPr anchor="t" rtlCol="false" tIns="0" lIns="0" bIns="0" rIns="0">
            <a:spAutoFit/>
          </a:bodyPr>
          <a:lstStyle/>
          <a:p>
            <a:pPr algn="l">
              <a:lnSpc>
                <a:spcPts val="5144"/>
              </a:lnSpc>
            </a:pPr>
            <a:r>
              <a:rPr lang="en-US" b="true" sz="3674" u="sng">
                <a:solidFill>
                  <a:srgbClr val="074533"/>
                </a:solidFill>
                <a:latin typeface="Montserrat Ultra-Bold"/>
                <a:ea typeface="Montserrat Ultra-Bold"/>
                <a:cs typeface="Montserrat Ultra-Bold"/>
                <a:sym typeface="Montserrat Ultra-Bold"/>
                <a:hlinkClick r:id="rId18" tooltip="https://gccxglobal.com"/>
              </a:rPr>
              <a:t>GCCX</a:t>
            </a:r>
          </a:p>
        </p:txBody>
      </p:sp>
      <p:sp>
        <p:nvSpPr>
          <p:cNvPr name="TextBox 28" id="28"/>
          <p:cNvSpPr txBox="true"/>
          <p:nvPr/>
        </p:nvSpPr>
        <p:spPr>
          <a:xfrm rot="0">
            <a:off x="780477" y="1917369"/>
            <a:ext cx="6105599" cy="199411"/>
          </a:xfrm>
          <a:prstGeom prst="rect">
            <a:avLst/>
          </a:prstGeom>
        </p:spPr>
        <p:txBody>
          <a:bodyPr anchor="t" rtlCol="false" tIns="0" lIns="0" bIns="0" rIns="0">
            <a:spAutoFit/>
          </a:bodyPr>
          <a:lstStyle/>
          <a:p>
            <a:pPr algn="l">
              <a:lnSpc>
                <a:spcPts val="1608"/>
              </a:lnSpc>
            </a:pPr>
            <a:r>
              <a:rPr lang="en-US" sz="1149" b="true">
                <a:solidFill>
                  <a:srgbClr val="272030"/>
                </a:solidFill>
                <a:latin typeface="Montserrat Semi-Bold"/>
                <a:ea typeface="Montserrat Semi-Bold"/>
                <a:cs typeface="Montserrat Semi-Bold"/>
                <a:sym typeface="Montserrat Semi-Bold"/>
              </a:rPr>
              <a:t>AI-POWERED GLOBAL CAPABILITY CENTER (GCC) DECISION &amp; SETUP PLATFORM</a:t>
            </a:r>
          </a:p>
        </p:txBody>
      </p:sp>
      <p:sp>
        <p:nvSpPr>
          <p:cNvPr name="TextBox 29" id="29"/>
          <p:cNvSpPr txBox="true"/>
          <p:nvPr/>
        </p:nvSpPr>
        <p:spPr>
          <a:xfrm rot="0">
            <a:off x="780477" y="2500387"/>
            <a:ext cx="6562425" cy="826770"/>
          </a:xfrm>
          <a:prstGeom prst="rect">
            <a:avLst/>
          </a:prstGeom>
        </p:spPr>
        <p:txBody>
          <a:bodyPr anchor="t" rtlCol="false" tIns="0" lIns="0" bIns="0" rIns="0">
            <a:spAutoFit/>
          </a:bodyPr>
          <a:lstStyle/>
          <a:p>
            <a:pPr algn="l">
              <a:lnSpc>
                <a:spcPts val="1680"/>
              </a:lnSpc>
            </a:pPr>
            <a:r>
              <a:rPr lang="en-US" sz="1200">
                <a:solidFill>
                  <a:srgbClr val="000000"/>
                </a:solidFill>
                <a:latin typeface="Montserrat"/>
                <a:ea typeface="Montserrat"/>
                <a:cs typeface="Montserrat"/>
                <a:sym typeface="Montserrat"/>
              </a:rPr>
              <a:t>GCCX is an intelligent platform that helps global enterprises evaluate, plan, and initiate their India GCC setup through AI-driven insights, cost simulation, and structured request workflows. It enables leadership teams to make faster, data-backed expansion decisions with automated reports and real-time assistance.</a:t>
            </a:r>
          </a:p>
        </p:txBody>
      </p:sp>
      <p:sp>
        <p:nvSpPr>
          <p:cNvPr name="TextBox 30" id="30"/>
          <p:cNvSpPr txBox="true"/>
          <p:nvPr/>
        </p:nvSpPr>
        <p:spPr>
          <a:xfrm rot="0">
            <a:off x="780477" y="6670526"/>
            <a:ext cx="1747116" cy="240665"/>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Technologies :</a:t>
            </a:r>
          </a:p>
        </p:txBody>
      </p:sp>
      <p:sp>
        <p:nvSpPr>
          <p:cNvPr name="TextBox 31" id="31"/>
          <p:cNvSpPr txBox="true"/>
          <p:nvPr/>
        </p:nvSpPr>
        <p:spPr>
          <a:xfrm rot="0">
            <a:off x="3313255" y="6691353"/>
            <a:ext cx="1115962" cy="318823"/>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TypeScript (Supabase)</a:t>
            </a:r>
          </a:p>
        </p:txBody>
      </p:sp>
      <p:sp>
        <p:nvSpPr>
          <p:cNvPr name="TextBox 32" id="32"/>
          <p:cNvSpPr txBox="true"/>
          <p:nvPr/>
        </p:nvSpPr>
        <p:spPr>
          <a:xfrm rot="0">
            <a:off x="1628286" y="3744528"/>
            <a:ext cx="2001877" cy="24066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Del</a:t>
            </a:r>
            <a:r>
              <a:rPr lang="en-US" b="true" sz="1400">
                <a:solidFill>
                  <a:srgbClr val="FFFFFF"/>
                </a:solidFill>
                <a:latin typeface="Montserrat Bold"/>
                <a:ea typeface="Montserrat Bold"/>
                <a:cs typeface="Montserrat Bold"/>
                <a:sym typeface="Montserrat Bold"/>
              </a:rPr>
              <a:t>ivered in 4 weeks</a:t>
            </a:r>
          </a:p>
        </p:txBody>
      </p:sp>
      <p:sp>
        <p:nvSpPr>
          <p:cNvPr name="TextBox 33" id="33"/>
          <p:cNvSpPr txBox="true"/>
          <p:nvPr/>
        </p:nvSpPr>
        <p:spPr>
          <a:xfrm rot="0">
            <a:off x="4734892" y="3620703"/>
            <a:ext cx="1889328"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80 % fast</a:t>
            </a:r>
            <a:r>
              <a:rPr lang="en-US" b="true" sz="1400">
                <a:solidFill>
                  <a:srgbClr val="FFFFFF"/>
                </a:solidFill>
                <a:latin typeface="Montserrat Bold"/>
                <a:ea typeface="Montserrat Bold"/>
                <a:cs typeface="Montserrat Bold"/>
                <a:sym typeface="Montserrat Bold"/>
              </a:rPr>
              <a:t>er setup time</a:t>
            </a:r>
          </a:p>
        </p:txBody>
      </p:sp>
      <p:sp>
        <p:nvSpPr>
          <p:cNvPr name="TextBox 34" id="34"/>
          <p:cNvSpPr txBox="true"/>
          <p:nvPr/>
        </p:nvSpPr>
        <p:spPr>
          <a:xfrm rot="0">
            <a:off x="3344406" y="7338777"/>
            <a:ext cx="1115962" cy="156898"/>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Next.js</a:t>
            </a:r>
          </a:p>
        </p:txBody>
      </p:sp>
      <p:sp>
        <p:nvSpPr>
          <p:cNvPr name="TextBox 35" id="35"/>
          <p:cNvSpPr txBox="true"/>
          <p:nvPr/>
        </p:nvSpPr>
        <p:spPr>
          <a:xfrm rot="0">
            <a:off x="5258917" y="6772315"/>
            <a:ext cx="1213574" cy="156898"/>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OpenAI</a:t>
            </a:r>
          </a:p>
        </p:txBody>
      </p:sp>
      <p:sp>
        <p:nvSpPr>
          <p:cNvPr name="TextBox 36" id="36"/>
          <p:cNvSpPr txBox="true"/>
          <p:nvPr/>
        </p:nvSpPr>
        <p:spPr>
          <a:xfrm rot="0">
            <a:off x="5275653" y="7434027"/>
            <a:ext cx="1180100" cy="156898"/>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Resend</a:t>
            </a:r>
          </a:p>
        </p:txBody>
      </p:sp>
      <p:sp>
        <p:nvSpPr>
          <p:cNvPr name="TextBox 37" id="37"/>
          <p:cNvSpPr txBox="true"/>
          <p:nvPr/>
        </p:nvSpPr>
        <p:spPr>
          <a:xfrm rot="0">
            <a:off x="8994857" y="5659889"/>
            <a:ext cx="2482213" cy="174625"/>
          </a:xfrm>
          <a:prstGeom prst="rect">
            <a:avLst/>
          </a:prstGeom>
        </p:spPr>
        <p:txBody>
          <a:bodyPr anchor="t" rtlCol="false" tIns="0" lIns="0" bIns="0" rIns="0">
            <a:spAutoFit/>
          </a:bodyPr>
          <a:lstStyle/>
          <a:p>
            <a:pPr algn="l">
              <a:lnSpc>
                <a:spcPts val="1400"/>
              </a:lnSpc>
              <a:spcBef>
                <a:spcPct val="0"/>
              </a:spcBef>
            </a:pPr>
            <a:r>
              <a:rPr lang="en-US" sz="1000">
                <a:solidFill>
                  <a:srgbClr val="000000"/>
                </a:solidFill>
                <a:latin typeface="Montserrat"/>
                <a:ea typeface="Montserrat"/>
                <a:cs typeface="Montserrat"/>
                <a:sym typeface="Montserrat"/>
              </a:rPr>
              <a:t>Global Capability Centers</a:t>
            </a:r>
          </a:p>
        </p:txBody>
      </p:sp>
      <p:sp>
        <p:nvSpPr>
          <p:cNvPr name="TextBox 38" id="38"/>
          <p:cNvSpPr txBox="true"/>
          <p:nvPr/>
        </p:nvSpPr>
        <p:spPr>
          <a:xfrm rot="0">
            <a:off x="8785749" y="5615122"/>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39" id="39"/>
          <p:cNvSpPr txBox="true"/>
          <p:nvPr/>
        </p:nvSpPr>
        <p:spPr>
          <a:xfrm rot="0">
            <a:off x="7756872" y="5615122"/>
            <a:ext cx="1055517" cy="240665"/>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Industry</a:t>
            </a:r>
          </a:p>
        </p:txBody>
      </p:sp>
      <p:sp>
        <p:nvSpPr>
          <p:cNvPr name="TextBox 40" id="40"/>
          <p:cNvSpPr txBox="true"/>
          <p:nvPr/>
        </p:nvSpPr>
        <p:spPr>
          <a:xfrm rot="0">
            <a:off x="7756872" y="5957786"/>
            <a:ext cx="1055517" cy="240665"/>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Problem</a:t>
            </a:r>
          </a:p>
        </p:txBody>
      </p:sp>
      <p:sp>
        <p:nvSpPr>
          <p:cNvPr name="TextBox 41" id="41"/>
          <p:cNvSpPr txBox="true"/>
          <p:nvPr/>
        </p:nvSpPr>
        <p:spPr>
          <a:xfrm rot="0">
            <a:off x="8994857" y="5957786"/>
            <a:ext cx="4022051" cy="517525"/>
          </a:xfrm>
          <a:prstGeom prst="rect">
            <a:avLst/>
          </a:prstGeom>
        </p:spPr>
        <p:txBody>
          <a:bodyPr anchor="t" rtlCol="false" tIns="0" lIns="0" bIns="0" rIns="0">
            <a:spAutoFit/>
          </a:bodyPr>
          <a:lstStyle/>
          <a:p>
            <a:pPr algn="l">
              <a:lnSpc>
                <a:spcPts val="1400"/>
              </a:lnSpc>
              <a:spcBef>
                <a:spcPct val="0"/>
              </a:spcBef>
            </a:pPr>
            <a:r>
              <a:rPr lang="en-US" sz="1000">
                <a:solidFill>
                  <a:srgbClr val="000000"/>
                </a:solidFill>
                <a:latin typeface="Montserrat"/>
                <a:ea typeface="Montserrat"/>
                <a:cs typeface="Montserrat"/>
                <a:sym typeface="Montserrat"/>
              </a:rPr>
              <a:t>Enterprises l</a:t>
            </a:r>
            <a:r>
              <a:rPr lang="en-US" sz="1000">
                <a:solidFill>
                  <a:srgbClr val="000000"/>
                </a:solidFill>
                <a:latin typeface="Montserrat"/>
                <a:ea typeface="Montserrat"/>
                <a:cs typeface="Montserrat"/>
                <a:sym typeface="Montserrat"/>
              </a:rPr>
              <a:t>ack a centralized, data-driven system to evaluate GCC expansion opportunities and manage setup requests efficiently.</a:t>
            </a:r>
          </a:p>
        </p:txBody>
      </p:sp>
      <p:sp>
        <p:nvSpPr>
          <p:cNvPr name="TextBox 42" id="42"/>
          <p:cNvSpPr txBox="true"/>
          <p:nvPr/>
        </p:nvSpPr>
        <p:spPr>
          <a:xfrm rot="0">
            <a:off x="8785749" y="5957786"/>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3" id="43"/>
          <p:cNvSpPr txBox="true"/>
          <p:nvPr/>
        </p:nvSpPr>
        <p:spPr>
          <a:xfrm rot="0">
            <a:off x="7756872" y="6553815"/>
            <a:ext cx="1055517" cy="240665"/>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Solution</a:t>
            </a:r>
          </a:p>
        </p:txBody>
      </p:sp>
      <p:sp>
        <p:nvSpPr>
          <p:cNvPr name="TextBox 44" id="44"/>
          <p:cNvSpPr txBox="true"/>
          <p:nvPr/>
        </p:nvSpPr>
        <p:spPr>
          <a:xfrm rot="0">
            <a:off x="8994857" y="6563340"/>
            <a:ext cx="3959143" cy="336550"/>
          </a:xfrm>
          <a:prstGeom prst="rect">
            <a:avLst/>
          </a:prstGeom>
        </p:spPr>
        <p:txBody>
          <a:bodyPr anchor="t" rtlCol="false" tIns="0" lIns="0" bIns="0" rIns="0">
            <a:spAutoFit/>
          </a:bodyPr>
          <a:lstStyle/>
          <a:p>
            <a:pPr algn="l">
              <a:lnSpc>
                <a:spcPts val="1399"/>
              </a:lnSpc>
              <a:spcBef>
                <a:spcPct val="0"/>
              </a:spcBef>
            </a:pPr>
            <a:r>
              <a:rPr lang="en-US" sz="999">
                <a:solidFill>
                  <a:srgbClr val="000000"/>
                </a:solidFill>
                <a:latin typeface="Montserrat"/>
                <a:ea typeface="Montserrat"/>
                <a:cs typeface="Montserrat"/>
                <a:sym typeface="Montserrat"/>
              </a:rPr>
              <a:t>AI-powered insights, cost simulation, and automated reporting in a single decision-support platform.</a:t>
            </a:r>
          </a:p>
        </p:txBody>
      </p:sp>
      <p:sp>
        <p:nvSpPr>
          <p:cNvPr name="TextBox 45" id="45"/>
          <p:cNvSpPr txBox="true"/>
          <p:nvPr/>
        </p:nvSpPr>
        <p:spPr>
          <a:xfrm rot="0">
            <a:off x="8785749" y="6553815"/>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6" id="46"/>
          <p:cNvSpPr txBox="true"/>
          <p:nvPr/>
        </p:nvSpPr>
        <p:spPr>
          <a:xfrm rot="0">
            <a:off x="7756872" y="7061200"/>
            <a:ext cx="879997" cy="240665"/>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Impact</a:t>
            </a:r>
          </a:p>
        </p:txBody>
      </p:sp>
      <p:sp>
        <p:nvSpPr>
          <p:cNvPr name="TextBox 47" id="47"/>
          <p:cNvSpPr txBox="true"/>
          <p:nvPr/>
        </p:nvSpPr>
        <p:spPr>
          <a:xfrm rot="0">
            <a:off x="8994857" y="7070725"/>
            <a:ext cx="3959143" cy="508000"/>
          </a:xfrm>
          <a:prstGeom prst="rect">
            <a:avLst/>
          </a:prstGeom>
        </p:spPr>
        <p:txBody>
          <a:bodyPr anchor="t" rtlCol="false" tIns="0" lIns="0" bIns="0" rIns="0">
            <a:spAutoFit/>
          </a:bodyPr>
          <a:lstStyle/>
          <a:p>
            <a:pPr algn="l">
              <a:lnSpc>
                <a:spcPts val="1399"/>
              </a:lnSpc>
              <a:spcBef>
                <a:spcPct val="0"/>
              </a:spcBef>
            </a:pPr>
            <a:r>
              <a:rPr lang="en-US" sz="999">
                <a:solidFill>
                  <a:srgbClr val="000000"/>
                </a:solidFill>
                <a:latin typeface="Montserrat"/>
                <a:ea typeface="Montserrat"/>
                <a:cs typeface="Montserrat"/>
                <a:sym typeface="Montserrat"/>
              </a:rPr>
              <a:t>Faster GCC decision-making, structured request management, and improved leadership visibility into India expansion opportunities.</a:t>
            </a:r>
          </a:p>
        </p:txBody>
      </p:sp>
      <p:sp>
        <p:nvSpPr>
          <p:cNvPr name="TextBox 48" id="48"/>
          <p:cNvSpPr txBox="true"/>
          <p:nvPr/>
        </p:nvSpPr>
        <p:spPr>
          <a:xfrm rot="0">
            <a:off x="8785749" y="7061200"/>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9" id="49"/>
          <p:cNvSpPr txBox="true"/>
          <p:nvPr/>
        </p:nvSpPr>
        <p:spPr>
          <a:xfrm rot="0">
            <a:off x="780477" y="5240802"/>
            <a:ext cx="1582341" cy="240665"/>
          </a:xfrm>
          <a:prstGeom prst="rect">
            <a:avLst/>
          </a:prstGeom>
        </p:spPr>
        <p:txBody>
          <a:bodyPr anchor="t" rtlCol="false" tIns="0" lIns="0" bIns="0" rIns="0">
            <a:spAutoFit/>
          </a:bodyPr>
          <a:lstStyle/>
          <a:p>
            <a:pPr algn="l">
              <a:lnSpc>
                <a:spcPts val="1960"/>
              </a:lnSpc>
              <a:spcBef>
                <a:spcPct val="0"/>
              </a:spcBef>
            </a:pPr>
            <a:r>
              <a:rPr lang="en-US" b="true" sz="1400">
                <a:solidFill>
                  <a:srgbClr val="000000"/>
                </a:solidFill>
                <a:latin typeface="Montserrat Bold"/>
                <a:ea typeface="Montserrat Bold"/>
                <a:cs typeface="Montserrat Bold"/>
                <a:sym typeface="Montserrat Bold"/>
              </a:rPr>
              <a:t>Key Capabilities :</a:t>
            </a:r>
          </a:p>
        </p:txBody>
      </p:sp>
      <p:sp>
        <p:nvSpPr>
          <p:cNvPr name="TextBox 50" id="50"/>
          <p:cNvSpPr txBox="true"/>
          <p:nvPr/>
        </p:nvSpPr>
        <p:spPr>
          <a:xfrm rot="0">
            <a:off x="2693192" y="5212227"/>
            <a:ext cx="2370162" cy="1078991"/>
          </a:xfrm>
          <a:prstGeom prst="rect">
            <a:avLst/>
          </a:prstGeom>
        </p:spPr>
        <p:txBody>
          <a:bodyPr anchor="t" rtlCol="false" tIns="0" lIns="0" bIns="0" rIns="0">
            <a:spAutoFit/>
          </a:bodyPr>
          <a:lstStyle/>
          <a:p>
            <a:pPr algn="l">
              <a:lnSpc>
                <a:spcPts val="2244"/>
              </a:lnSpc>
            </a:pPr>
            <a:r>
              <a:rPr lang="en-US" b="true" sz="1200">
                <a:solidFill>
                  <a:srgbClr val="000000"/>
                </a:solidFill>
                <a:latin typeface="Montserrat Medium"/>
                <a:ea typeface="Montserrat Medium"/>
                <a:cs typeface="Montserrat Medium"/>
                <a:sym typeface="Montserrat Medium"/>
              </a:rPr>
              <a:t>AI Insights Assistant</a:t>
            </a:r>
          </a:p>
          <a:p>
            <a:pPr algn="l">
              <a:lnSpc>
                <a:spcPts val="2244"/>
              </a:lnSpc>
            </a:pPr>
            <a:r>
              <a:rPr lang="en-US" b="true" sz="1200">
                <a:solidFill>
                  <a:srgbClr val="000000"/>
                </a:solidFill>
                <a:latin typeface="Montserrat Medium"/>
                <a:ea typeface="Montserrat Medium"/>
                <a:cs typeface="Montserrat Medium"/>
                <a:sym typeface="Montserrat Medium"/>
              </a:rPr>
              <a:t>India Opportunity Calculator</a:t>
            </a:r>
          </a:p>
          <a:p>
            <a:pPr algn="l">
              <a:lnSpc>
                <a:spcPts val="2244"/>
              </a:lnSpc>
            </a:pPr>
            <a:r>
              <a:rPr lang="en-US" b="true" sz="1200">
                <a:solidFill>
                  <a:srgbClr val="000000"/>
                </a:solidFill>
                <a:latin typeface="Montserrat Medium"/>
                <a:ea typeface="Montserrat Medium"/>
                <a:cs typeface="Montserrat Medium"/>
                <a:sym typeface="Montserrat Medium"/>
              </a:rPr>
              <a:t>Request Submission Workflow</a:t>
            </a:r>
          </a:p>
          <a:p>
            <a:pPr algn="l">
              <a:lnSpc>
                <a:spcPts val="2244"/>
              </a:lnSpc>
            </a:pPr>
            <a:r>
              <a:rPr lang="en-US" b="true" sz="1200">
                <a:solidFill>
                  <a:srgbClr val="000000"/>
                </a:solidFill>
                <a:latin typeface="Montserrat Medium"/>
                <a:ea typeface="Montserrat Medium"/>
                <a:cs typeface="Montserrat Medium"/>
                <a:sym typeface="Montserrat Medium"/>
              </a:rPr>
              <a:t>Automated Reports</a:t>
            </a:r>
          </a:p>
        </p:txBody>
      </p:sp>
      <p:sp>
        <p:nvSpPr>
          <p:cNvPr name="TextBox 51" id="51"/>
          <p:cNvSpPr txBox="true"/>
          <p:nvPr/>
        </p:nvSpPr>
        <p:spPr>
          <a:xfrm rot="0">
            <a:off x="1628286" y="4358707"/>
            <a:ext cx="1822637" cy="48831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70% cost </a:t>
            </a:r>
            <a:r>
              <a:rPr lang="en-US" b="true" sz="1400">
                <a:solidFill>
                  <a:srgbClr val="FFFFFF"/>
                </a:solidFill>
                <a:latin typeface="Montserrat Bold"/>
                <a:ea typeface="Montserrat Bold"/>
                <a:cs typeface="Montserrat Bold"/>
                <a:sym typeface="Montserrat Bold"/>
              </a:rPr>
              <a:t>reduction for global teams</a:t>
            </a:r>
          </a:p>
        </p:txBody>
      </p:sp>
      <p:sp>
        <p:nvSpPr>
          <p:cNvPr name="TextBox 52" id="52"/>
          <p:cNvSpPr txBox="true"/>
          <p:nvPr/>
        </p:nvSpPr>
        <p:spPr>
          <a:xfrm rot="0">
            <a:off x="4734892" y="4489530"/>
            <a:ext cx="1661223" cy="24066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98% s</a:t>
            </a:r>
            <a:r>
              <a:rPr lang="en-US" b="true" sz="1400">
                <a:solidFill>
                  <a:srgbClr val="FFFFFF"/>
                </a:solidFill>
                <a:latin typeface="Montserrat Bold"/>
                <a:ea typeface="Montserrat Bold"/>
                <a:cs typeface="Montserrat Bold"/>
                <a:sym typeface="Montserrat Bold"/>
              </a:rPr>
              <a:t>uccess rate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9F6"/>
        </a:solidFill>
      </p:bgPr>
    </p:bg>
    <p:spTree>
      <p:nvGrpSpPr>
        <p:cNvPr id="1" name=""/>
        <p:cNvGrpSpPr/>
        <p:nvPr/>
      </p:nvGrpSpPr>
      <p:grpSpPr>
        <a:xfrm>
          <a:off x="0" y="0"/>
          <a:ext cx="0" cy="0"/>
          <a:chOff x="0" y="0"/>
          <a:chExt cx="0" cy="0"/>
        </a:xfrm>
      </p:grpSpPr>
      <p:grpSp>
        <p:nvGrpSpPr>
          <p:cNvPr name="Group 2" id="2"/>
          <p:cNvGrpSpPr/>
          <p:nvPr/>
        </p:nvGrpSpPr>
        <p:grpSpPr>
          <a:xfrm rot="0">
            <a:off x="780477" y="4423437"/>
            <a:ext cx="2995951" cy="623704"/>
            <a:chOff x="0" y="0"/>
            <a:chExt cx="832209" cy="173251"/>
          </a:xfrm>
        </p:grpSpPr>
        <p:sp>
          <p:nvSpPr>
            <p:cNvPr name="Freeform 3" id="3"/>
            <p:cNvSpPr/>
            <p:nvPr/>
          </p:nvSpPr>
          <p:spPr>
            <a:xfrm flipH="false" flipV="false" rot="0">
              <a:off x="0" y="0"/>
              <a:ext cx="832209" cy="173251"/>
            </a:xfrm>
            <a:custGeom>
              <a:avLst/>
              <a:gdLst/>
              <a:ahLst/>
              <a:cxnLst/>
              <a:rect r="r" b="b" t="t" l="l"/>
              <a:pathLst>
                <a:path h="173251" w="832209">
                  <a:moveTo>
                    <a:pt x="38358" y="0"/>
                  </a:moveTo>
                  <a:lnTo>
                    <a:pt x="793850" y="0"/>
                  </a:lnTo>
                  <a:cubicBezTo>
                    <a:pt x="804024" y="0"/>
                    <a:pt x="813780" y="4041"/>
                    <a:pt x="820974" y="11235"/>
                  </a:cubicBezTo>
                  <a:cubicBezTo>
                    <a:pt x="828167" y="18428"/>
                    <a:pt x="832209" y="28185"/>
                    <a:pt x="832209" y="38358"/>
                  </a:cubicBezTo>
                  <a:lnTo>
                    <a:pt x="832209" y="134893"/>
                  </a:lnTo>
                  <a:cubicBezTo>
                    <a:pt x="832209" y="156078"/>
                    <a:pt x="815035" y="173251"/>
                    <a:pt x="793850" y="173251"/>
                  </a:cubicBezTo>
                  <a:lnTo>
                    <a:pt x="38358" y="173251"/>
                  </a:lnTo>
                  <a:cubicBezTo>
                    <a:pt x="28185" y="173251"/>
                    <a:pt x="18428" y="169210"/>
                    <a:pt x="11235" y="162016"/>
                  </a:cubicBezTo>
                  <a:cubicBezTo>
                    <a:pt x="4041" y="154823"/>
                    <a:pt x="0" y="145066"/>
                    <a:pt x="0" y="134893"/>
                  </a:cubicBezTo>
                  <a:lnTo>
                    <a:pt x="0" y="38358"/>
                  </a:lnTo>
                  <a:cubicBezTo>
                    <a:pt x="0" y="28185"/>
                    <a:pt x="4041" y="18428"/>
                    <a:pt x="11235" y="11235"/>
                  </a:cubicBezTo>
                  <a:cubicBezTo>
                    <a:pt x="18428" y="4041"/>
                    <a:pt x="28185" y="0"/>
                    <a:pt x="38358" y="0"/>
                  </a:cubicBezTo>
                  <a:close/>
                </a:path>
              </a:pathLst>
            </a:custGeom>
            <a:solidFill>
              <a:srgbClr val="4DBD9E"/>
            </a:solidFill>
          </p:spPr>
        </p:sp>
        <p:sp>
          <p:nvSpPr>
            <p:cNvPr name="TextBox 4" id="4"/>
            <p:cNvSpPr txBox="true"/>
            <p:nvPr/>
          </p:nvSpPr>
          <p:spPr>
            <a:xfrm>
              <a:off x="0" y="-38100"/>
              <a:ext cx="832209" cy="211351"/>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3985977" y="4423437"/>
            <a:ext cx="3032630" cy="623704"/>
            <a:chOff x="0" y="0"/>
            <a:chExt cx="842397" cy="173251"/>
          </a:xfrm>
        </p:grpSpPr>
        <p:sp>
          <p:nvSpPr>
            <p:cNvPr name="Freeform 6" id="6"/>
            <p:cNvSpPr/>
            <p:nvPr/>
          </p:nvSpPr>
          <p:spPr>
            <a:xfrm flipH="false" flipV="false" rot="0">
              <a:off x="0" y="0"/>
              <a:ext cx="842397" cy="173251"/>
            </a:xfrm>
            <a:custGeom>
              <a:avLst/>
              <a:gdLst/>
              <a:ahLst/>
              <a:cxnLst/>
              <a:rect r="r" b="b" t="t" l="l"/>
              <a:pathLst>
                <a:path h="173251" w="842397">
                  <a:moveTo>
                    <a:pt x="37894" y="0"/>
                  </a:moveTo>
                  <a:lnTo>
                    <a:pt x="804503" y="0"/>
                  </a:lnTo>
                  <a:cubicBezTo>
                    <a:pt x="814553" y="0"/>
                    <a:pt x="824192" y="3992"/>
                    <a:pt x="831298" y="11099"/>
                  </a:cubicBezTo>
                  <a:cubicBezTo>
                    <a:pt x="838405" y="18206"/>
                    <a:pt x="842397" y="27844"/>
                    <a:pt x="842397" y="37894"/>
                  </a:cubicBezTo>
                  <a:lnTo>
                    <a:pt x="842397" y="135357"/>
                  </a:lnTo>
                  <a:cubicBezTo>
                    <a:pt x="842397" y="156285"/>
                    <a:pt x="825431" y="173251"/>
                    <a:pt x="804503" y="173251"/>
                  </a:cubicBezTo>
                  <a:lnTo>
                    <a:pt x="37894" y="173251"/>
                  </a:lnTo>
                  <a:cubicBezTo>
                    <a:pt x="27844" y="173251"/>
                    <a:pt x="18206" y="169259"/>
                    <a:pt x="11099" y="162152"/>
                  </a:cubicBezTo>
                  <a:cubicBezTo>
                    <a:pt x="3992" y="155046"/>
                    <a:pt x="0" y="145407"/>
                    <a:pt x="0" y="135357"/>
                  </a:cubicBezTo>
                  <a:lnTo>
                    <a:pt x="0" y="37894"/>
                  </a:lnTo>
                  <a:cubicBezTo>
                    <a:pt x="0" y="27844"/>
                    <a:pt x="3992" y="18206"/>
                    <a:pt x="11099" y="11099"/>
                  </a:cubicBezTo>
                  <a:cubicBezTo>
                    <a:pt x="18206" y="3992"/>
                    <a:pt x="27844" y="0"/>
                    <a:pt x="37894" y="0"/>
                  </a:cubicBezTo>
                  <a:close/>
                </a:path>
              </a:pathLst>
            </a:custGeom>
            <a:solidFill>
              <a:srgbClr val="4DBD9E"/>
            </a:solidFill>
          </p:spPr>
        </p:sp>
        <p:sp>
          <p:nvSpPr>
            <p:cNvPr name="TextBox 7" id="7"/>
            <p:cNvSpPr txBox="true"/>
            <p:nvPr/>
          </p:nvSpPr>
          <p:spPr>
            <a:xfrm>
              <a:off x="0" y="-38100"/>
              <a:ext cx="842397" cy="211351"/>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false" flipV="false" rot="0">
            <a:off x="904257" y="4428442"/>
            <a:ext cx="613694" cy="613694"/>
          </a:xfrm>
          <a:custGeom>
            <a:avLst/>
            <a:gdLst/>
            <a:ahLst/>
            <a:cxnLst/>
            <a:rect r="r" b="b" t="t" l="l"/>
            <a:pathLst>
              <a:path h="613694" w="613694">
                <a:moveTo>
                  <a:pt x="0" y="0"/>
                </a:moveTo>
                <a:lnTo>
                  <a:pt x="613694" y="0"/>
                </a:lnTo>
                <a:lnTo>
                  <a:pt x="613694" y="613693"/>
                </a:lnTo>
                <a:lnTo>
                  <a:pt x="0" y="6136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756872" y="1945944"/>
            <a:ext cx="5197128" cy="3392700"/>
            <a:chOff x="0" y="0"/>
            <a:chExt cx="642001" cy="419100"/>
          </a:xfrm>
        </p:grpSpPr>
        <p:sp>
          <p:nvSpPr>
            <p:cNvPr name="Freeform 10" id="10"/>
            <p:cNvSpPr/>
            <p:nvPr/>
          </p:nvSpPr>
          <p:spPr>
            <a:xfrm flipH="false" flipV="false" rot="0">
              <a:off x="0" y="0"/>
              <a:ext cx="642001" cy="419100"/>
            </a:xfrm>
            <a:custGeom>
              <a:avLst/>
              <a:gdLst/>
              <a:ahLst/>
              <a:cxnLst/>
              <a:rect r="r" b="b" t="t" l="l"/>
              <a:pathLst>
                <a:path h="419100" w="642001">
                  <a:moveTo>
                    <a:pt x="22112" y="0"/>
                  </a:moveTo>
                  <a:lnTo>
                    <a:pt x="619889" y="0"/>
                  </a:lnTo>
                  <a:cubicBezTo>
                    <a:pt x="632101" y="0"/>
                    <a:pt x="642001" y="9900"/>
                    <a:pt x="642001" y="22112"/>
                  </a:cubicBezTo>
                  <a:lnTo>
                    <a:pt x="642001" y="396988"/>
                  </a:lnTo>
                  <a:cubicBezTo>
                    <a:pt x="642001" y="409200"/>
                    <a:pt x="632101" y="419100"/>
                    <a:pt x="619889" y="419100"/>
                  </a:cubicBezTo>
                  <a:lnTo>
                    <a:pt x="22112" y="419100"/>
                  </a:lnTo>
                  <a:cubicBezTo>
                    <a:pt x="9900" y="419100"/>
                    <a:pt x="0" y="409200"/>
                    <a:pt x="0" y="396988"/>
                  </a:cubicBezTo>
                  <a:lnTo>
                    <a:pt x="0" y="22112"/>
                  </a:lnTo>
                  <a:cubicBezTo>
                    <a:pt x="0" y="9900"/>
                    <a:pt x="9900" y="0"/>
                    <a:pt x="22112" y="0"/>
                  </a:cubicBezTo>
                  <a:close/>
                </a:path>
              </a:pathLst>
            </a:custGeom>
            <a:solidFill>
              <a:srgbClr val="FFFFFF"/>
            </a:solidFill>
          </p:spPr>
        </p:sp>
        <p:sp>
          <p:nvSpPr>
            <p:cNvPr name="TextBox 11" id="11"/>
            <p:cNvSpPr txBox="true"/>
            <p:nvPr/>
          </p:nvSpPr>
          <p:spPr>
            <a:xfrm>
              <a:off x="0" y="-28575"/>
              <a:ext cx="642001" cy="447675"/>
            </a:xfrm>
            <a:prstGeom prst="rect">
              <a:avLst/>
            </a:prstGeom>
          </p:spPr>
          <p:txBody>
            <a:bodyPr anchor="ctr" rtlCol="false" tIns="50800" lIns="50800" bIns="50800" rIns="50800"/>
            <a:lstStyle/>
            <a:p>
              <a:pPr algn="ctr">
                <a:lnSpc>
                  <a:spcPts val="2239"/>
                </a:lnSpc>
              </a:pPr>
            </a:p>
          </p:txBody>
        </p:sp>
      </p:grpSp>
      <p:sp>
        <p:nvSpPr>
          <p:cNvPr name="Freeform 12" id="12"/>
          <p:cNvSpPr/>
          <p:nvPr/>
        </p:nvSpPr>
        <p:spPr>
          <a:xfrm flipH="false" flipV="false" rot="0">
            <a:off x="4394089" y="6290114"/>
            <a:ext cx="400023" cy="424826"/>
          </a:xfrm>
          <a:custGeom>
            <a:avLst/>
            <a:gdLst/>
            <a:ahLst/>
            <a:cxnLst/>
            <a:rect r="r" b="b" t="t" l="l"/>
            <a:pathLst>
              <a:path h="424826" w="400023">
                <a:moveTo>
                  <a:pt x="0" y="0"/>
                </a:moveTo>
                <a:lnTo>
                  <a:pt x="400023" y="0"/>
                </a:lnTo>
                <a:lnTo>
                  <a:pt x="400023" y="424826"/>
                </a:lnTo>
                <a:lnTo>
                  <a:pt x="0" y="424826"/>
                </a:lnTo>
                <a:lnTo>
                  <a:pt x="0" y="0"/>
                </a:lnTo>
                <a:close/>
              </a:path>
            </a:pathLst>
          </a:custGeom>
          <a:blipFill>
            <a:blip r:embed="rId4"/>
            <a:stretch>
              <a:fillRect l="-45672" t="0" r="-43971" b="0"/>
            </a:stretch>
          </a:blipFill>
        </p:spPr>
      </p:sp>
      <p:sp>
        <p:nvSpPr>
          <p:cNvPr name="Freeform 13" id="13"/>
          <p:cNvSpPr/>
          <p:nvPr/>
        </p:nvSpPr>
        <p:spPr>
          <a:xfrm flipH="false" flipV="false" rot="0">
            <a:off x="2407442" y="6833640"/>
            <a:ext cx="470697" cy="470697"/>
          </a:xfrm>
          <a:custGeom>
            <a:avLst/>
            <a:gdLst/>
            <a:ahLst/>
            <a:cxnLst/>
            <a:rect r="r" b="b" t="t" l="l"/>
            <a:pathLst>
              <a:path h="470697" w="470697">
                <a:moveTo>
                  <a:pt x="0" y="0"/>
                </a:moveTo>
                <a:lnTo>
                  <a:pt x="470697" y="0"/>
                </a:lnTo>
                <a:lnTo>
                  <a:pt x="470697" y="470697"/>
                </a:lnTo>
                <a:lnTo>
                  <a:pt x="0" y="470697"/>
                </a:lnTo>
                <a:lnTo>
                  <a:pt x="0" y="0"/>
                </a:lnTo>
                <a:close/>
              </a:path>
            </a:pathLst>
          </a:custGeom>
          <a:blipFill>
            <a:blip r:embed="rId5"/>
            <a:stretch>
              <a:fillRect l="0" t="0" r="0" b="0"/>
            </a:stretch>
          </a:blipFill>
        </p:spPr>
      </p:sp>
      <p:sp>
        <p:nvSpPr>
          <p:cNvPr name="Freeform 14" id="14"/>
          <p:cNvSpPr/>
          <p:nvPr/>
        </p:nvSpPr>
        <p:spPr>
          <a:xfrm flipH="false" flipV="false" rot="0">
            <a:off x="4370757" y="6814494"/>
            <a:ext cx="508988" cy="508988"/>
          </a:xfrm>
          <a:custGeom>
            <a:avLst/>
            <a:gdLst/>
            <a:ahLst/>
            <a:cxnLst/>
            <a:rect r="r" b="b" t="t" l="l"/>
            <a:pathLst>
              <a:path h="508988" w="508988">
                <a:moveTo>
                  <a:pt x="0" y="0"/>
                </a:moveTo>
                <a:lnTo>
                  <a:pt x="508989" y="0"/>
                </a:lnTo>
                <a:lnTo>
                  <a:pt x="508989" y="508988"/>
                </a:lnTo>
                <a:lnTo>
                  <a:pt x="0" y="508988"/>
                </a:lnTo>
                <a:lnTo>
                  <a:pt x="0" y="0"/>
                </a:lnTo>
                <a:close/>
              </a:path>
            </a:pathLst>
          </a:custGeom>
          <a:blipFill>
            <a:blip r:embed="rId6"/>
            <a:stretch>
              <a:fillRect l="0" t="0" r="0" b="0"/>
            </a:stretch>
          </a:blipFill>
        </p:spPr>
      </p:sp>
      <p:sp>
        <p:nvSpPr>
          <p:cNvPr name="Freeform 15" id="15"/>
          <p:cNvSpPr/>
          <p:nvPr/>
        </p:nvSpPr>
        <p:spPr>
          <a:xfrm flipH="false" flipV="false" rot="0">
            <a:off x="2407442" y="6281935"/>
            <a:ext cx="441184" cy="441184"/>
          </a:xfrm>
          <a:custGeom>
            <a:avLst/>
            <a:gdLst/>
            <a:ahLst/>
            <a:cxnLst/>
            <a:rect r="r" b="b" t="t" l="l"/>
            <a:pathLst>
              <a:path h="441184" w="441184">
                <a:moveTo>
                  <a:pt x="0" y="0"/>
                </a:moveTo>
                <a:lnTo>
                  <a:pt x="441185" y="0"/>
                </a:lnTo>
                <a:lnTo>
                  <a:pt x="441185" y="441184"/>
                </a:lnTo>
                <a:lnTo>
                  <a:pt x="0" y="441184"/>
                </a:lnTo>
                <a:lnTo>
                  <a:pt x="0" y="0"/>
                </a:lnTo>
                <a:close/>
              </a:path>
            </a:pathLst>
          </a:custGeom>
          <a:blipFill>
            <a:blip r:embed="rId7"/>
            <a:stretch>
              <a:fillRect l="0" t="0" r="0" b="0"/>
            </a:stretch>
          </a:blipFill>
        </p:spPr>
      </p:sp>
      <p:grpSp>
        <p:nvGrpSpPr>
          <p:cNvPr name="Group 16" id="16"/>
          <p:cNvGrpSpPr/>
          <p:nvPr/>
        </p:nvGrpSpPr>
        <p:grpSpPr>
          <a:xfrm rot="0">
            <a:off x="780477" y="5218591"/>
            <a:ext cx="2995951" cy="623704"/>
            <a:chOff x="0" y="0"/>
            <a:chExt cx="832209" cy="173251"/>
          </a:xfrm>
        </p:grpSpPr>
        <p:sp>
          <p:nvSpPr>
            <p:cNvPr name="Freeform 17" id="17"/>
            <p:cNvSpPr/>
            <p:nvPr/>
          </p:nvSpPr>
          <p:spPr>
            <a:xfrm flipH="false" flipV="false" rot="0">
              <a:off x="0" y="0"/>
              <a:ext cx="832209" cy="173251"/>
            </a:xfrm>
            <a:custGeom>
              <a:avLst/>
              <a:gdLst/>
              <a:ahLst/>
              <a:cxnLst/>
              <a:rect r="r" b="b" t="t" l="l"/>
              <a:pathLst>
                <a:path h="173251" w="832209">
                  <a:moveTo>
                    <a:pt x="38358" y="0"/>
                  </a:moveTo>
                  <a:lnTo>
                    <a:pt x="793850" y="0"/>
                  </a:lnTo>
                  <a:cubicBezTo>
                    <a:pt x="804024" y="0"/>
                    <a:pt x="813780" y="4041"/>
                    <a:pt x="820974" y="11235"/>
                  </a:cubicBezTo>
                  <a:cubicBezTo>
                    <a:pt x="828167" y="18428"/>
                    <a:pt x="832209" y="28185"/>
                    <a:pt x="832209" y="38358"/>
                  </a:cubicBezTo>
                  <a:lnTo>
                    <a:pt x="832209" y="134893"/>
                  </a:lnTo>
                  <a:cubicBezTo>
                    <a:pt x="832209" y="156078"/>
                    <a:pt x="815035" y="173251"/>
                    <a:pt x="793850" y="173251"/>
                  </a:cubicBezTo>
                  <a:lnTo>
                    <a:pt x="38358" y="173251"/>
                  </a:lnTo>
                  <a:cubicBezTo>
                    <a:pt x="28185" y="173251"/>
                    <a:pt x="18428" y="169210"/>
                    <a:pt x="11235" y="162016"/>
                  </a:cubicBezTo>
                  <a:cubicBezTo>
                    <a:pt x="4041" y="154823"/>
                    <a:pt x="0" y="145066"/>
                    <a:pt x="0" y="134893"/>
                  </a:cubicBezTo>
                  <a:lnTo>
                    <a:pt x="0" y="38358"/>
                  </a:lnTo>
                  <a:cubicBezTo>
                    <a:pt x="0" y="28185"/>
                    <a:pt x="4041" y="18428"/>
                    <a:pt x="11235" y="11235"/>
                  </a:cubicBezTo>
                  <a:cubicBezTo>
                    <a:pt x="18428" y="4041"/>
                    <a:pt x="28185" y="0"/>
                    <a:pt x="38358" y="0"/>
                  </a:cubicBezTo>
                  <a:close/>
                </a:path>
              </a:pathLst>
            </a:custGeom>
            <a:solidFill>
              <a:srgbClr val="4DBD9E"/>
            </a:solidFill>
          </p:spPr>
        </p:sp>
        <p:sp>
          <p:nvSpPr>
            <p:cNvPr name="TextBox 18" id="18"/>
            <p:cNvSpPr txBox="true"/>
            <p:nvPr/>
          </p:nvSpPr>
          <p:spPr>
            <a:xfrm>
              <a:off x="0" y="-38100"/>
              <a:ext cx="832209" cy="211351"/>
            </a:xfrm>
            <a:prstGeom prst="rect">
              <a:avLst/>
            </a:prstGeom>
          </p:spPr>
          <p:txBody>
            <a:bodyPr anchor="ctr" rtlCol="false" tIns="50800" lIns="50800" bIns="50800" rIns="50800"/>
            <a:lstStyle/>
            <a:p>
              <a:pPr algn="ctr">
                <a:lnSpc>
                  <a:spcPts val="2520"/>
                </a:lnSpc>
              </a:pPr>
            </a:p>
          </p:txBody>
        </p:sp>
      </p:grpSp>
      <p:grpSp>
        <p:nvGrpSpPr>
          <p:cNvPr name="Group 19" id="19"/>
          <p:cNvGrpSpPr/>
          <p:nvPr/>
        </p:nvGrpSpPr>
        <p:grpSpPr>
          <a:xfrm rot="0">
            <a:off x="3985977" y="5218591"/>
            <a:ext cx="2872023" cy="623704"/>
            <a:chOff x="0" y="0"/>
            <a:chExt cx="797784" cy="173251"/>
          </a:xfrm>
        </p:grpSpPr>
        <p:sp>
          <p:nvSpPr>
            <p:cNvPr name="Freeform 20" id="20"/>
            <p:cNvSpPr/>
            <p:nvPr/>
          </p:nvSpPr>
          <p:spPr>
            <a:xfrm flipH="false" flipV="false" rot="0">
              <a:off x="0" y="0"/>
              <a:ext cx="797784" cy="173251"/>
            </a:xfrm>
            <a:custGeom>
              <a:avLst/>
              <a:gdLst/>
              <a:ahLst/>
              <a:cxnLst/>
              <a:rect r="r" b="b" t="t" l="l"/>
              <a:pathLst>
                <a:path h="173251" w="797784">
                  <a:moveTo>
                    <a:pt x="40013" y="0"/>
                  </a:moveTo>
                  <a:lnTo>
                    <a:pt x="757771" y="0"/>
                  </a:lnTo>
                  <a:cubicBezTo>
                    <a:pt x="768383" y="0"/>
                    <a:pt x="778561" y="4216"/>
                    <a:pt x="786064" y="11720"/>
                  </a:cubicBezTo>
                  <a:cubicBezTo>
                    <a:pt x="793568" y="19224"/>
                    <a:pt x="797784" y="29401"/>
                    <a:pt x="797784" y="40013"/>
                  </a:cubicBezTo>
                  <a:lnTo>
                    <a:pt x="797784" y="133238"/>
                  </a:lnTo>
                  <a:cubicBezTo>
                    <a:pt x="797784" y="155337"/>
                    <a:pt x="779870" y="173251"/>
                    <a:pt x="757771" y="173251"/>
                  </a:cubicBezTo>
                  <a:lnTo>
                    <a:pt x="40013" y="173251"/>
                  </a:lnTo>
                  <a:cubicBezTo>
                    <a:pt x="29401" y="173251"/>
                    <a:pt x="19224" y="169035"/>
                    <a:pt x="11720" y="161532"/>
                  </a:cubicBezTo>
                  <a:cubicBezTo>
                    <a:pt x="4216" y="154028"/>
                    <a:pt x="0" y="143850"/>
                    <a:pt x="0" y="133238"/>
                  </a:cubicBezTo>
                  <a:lnTo>
                    <a:pt x="0" y="40013"/>
                  </a:lnTo>
                  <a:cubicBezTo>
                    <a:pt x="0" y="29401"/>
                    <a:pt x="4216" y="19224"/>
                    <a:pt x="11720" y="11720"/>
                  </a:cubicBezTo>
                  <a:cubicBezTo>
                    <a:pt x="19224" y="4216"/>
                    <a:pt x="29401" y="0"/>
                    <a:pt x="40013" y="0"/>
                  </a:cubicBezTo>
                  <a:close/>
                </a:path>
              </a:pathLst>
            </a:custGeom>
            <a:solidFill>
              <a:srgbClr val="4DBD9E"/>
            </a:solidFill>
          </p:spPr>
        </p:sp>
        <p:sp>
          <p:nvSpPr>
            <p:cNvPr name="TextBox 21" id="21"/>
            <p:cNvSpPr txBox="true"/>
            <p:nvPr/>
          </p:nvSpPr>
          <p:spPr>
            <a:xfrm>
              <a:off x="0" y="-38100"/>
              <a:ext cx="797784" cy="211351"/>
            </a:xfrm>
            <a:prstGeom prst="rect">
              <a:avLst/>
            </a:prstGeom>
          </p:spPr>
          <p:txBody>
            <a:bodyPr anchor="ctr" rtlCol="false" tIns="50800" lIns="50800" bIns="50800" rIns="50800"/>
            <a:lstStyle/>
            <a:p>
              <a:pPr algn="ctr">
                <a:lnSpc>
                  <a:spcPts val="2520"/>
                </a:lnSpc>
              </a:pPr>
            </a:p>
          </p:txBody>
        </p:sp>
      </p:grpSp>
      <p:sp>
        <p:nvSpPr>
          <p:cNvPr name="Freeform 22" id="22"/>
          <p:cNvSpPr/>
          <p:nvPr/>
        </p:nvSpPr>
        <p:spPr>
          <a:xfrm flipH="false" flipV="false" rot="0">
            <a:off x="4172881" y="5275604"/>
            <a:ext cx="461895" cy="509677"/>
          </a:xfrm>
          <a:custGeom>
            <a:avLst/>
            <a:gdLst/>
            <a:ahLst/>
            <a:cxnLst/>
            <a:rect r="r" b="b" t="t" l="l"/>
            <a:pathLst>
              <a:path h="509677" w="461895">
                <a:moveTo>
                  <a:pt x="0" y="0"/>
                </a:moveTo>
                <a:lnTo>
                  <a:pt x="461895" y="0"/>
                </a:lnTo>
                <a:lnTo>
                  <a:pt x="461895" y="509677"/>
                </a:lnTo>
                <a:lnTo>
                  <a:pt x="0" y="5096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4202860" y="4563221"/>
            <a:ext cx="401938" cy="401938"/>
          </a:xfrm>
          <a:custGeom>
            <a:avLst/>
            <a:gdLst/>
            <a:ahLst/>
            <a:cxnLst/>
            <a:rect r="r" b="b" t="t" l="l"/>
            <a:pathLst>
              <a:path h="401938" w="401938">
                <a:moveTo>
                  <a:pt x="0" y="0"/>
                </a:moveTo>
                <a:lnTo>
                  <a:pt x="401938" y="0"/>
                </a:lnTo>
                <a:lnTo>
                  <a:pt x="401938" y="401938"/>
                </a:lnTo>
                <a:lnTo>
                  <a:pt x="0" y="40193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1075899" y="5328304"/>
            <a:ext cx="270410" cy="406631"/>
          </a:xfrm>
          <a:custGeom>
            <a:avLst/>
            <a:gdLst/>
            <a:ahLst/>
            <a:cxnLst/>
            <a:rect r="r" b="b" t="t" l="l"/>
            <a:pathLst>
              <a:path h="406631" w="270410">
                <a:moveTo>
                  <a:pt x="0" y="0"/>
                </a:moveTo>
                <a:lnTo>
                  <a:pt x="270410" y="0"/>
                </a:lnTo>
                <a:lnTo>
                  <a:pt x="270410" y="406631"/>
                </a:lnTo>
                <a:lnTo>
                  <a:pt x="0" y="40663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a:hlinkClick r:id="rId15" tooltip="https://www.ninjahire.co"/>
          </p:cNvPr>
          <p:cNvSpPr/>
          <p:nvPr/>
        </p:nvSpPr>
        <p:spPr>
          <a:xfrm flipH="false" flipV="false" rot="0">
            <a:off x="7810539" y="1983122"/>
            <a:ext cx="5079700" cy="3384350"/>
          </a:xfrm>
          <a:custGeom>
            <a:avLst/>
            <a:gdLst/>
            <a:ahLst/>
            <a:cxnLst/>
            <a:rect r="r" b="b" t="t" l="l"/>
            <a:pathLst>
              <a:path h="3384350" w="5079700">
                <a:moveTo>
                  <a:pt x="0" y="0"/>
                </a:moveTo>
                <a:lnTo>
                  <a:pt x="5079700" y="0"/>
                </a:lnTo>
                <a:lnTo>
                  <a:pt x="5079700" y="3384350"/>
                </a:lnTo>
                <a:lnTo>
                  <a:pt x="0" y="3384350"/>
                </a:lnTo>
                <a:lnTo>
                  <a:pt x="0" y="0"/>
                </a:lnTo>
                <a:close/>
              </a:path>
            </a:pathLst>
          </a:custGeom>
          <a:blipFill>
            <a:blip r:embed="rId14"/>
            <a:stretch>
              <a:fillRect l="0" t="0" r="0" b="0"/>
            </a:stretch>
          </a:blipFill>
        </p:spPr>
      </p:sp>
      <p:sp>
        <p:nvSpPr>
          <p:cNvPr name="Freeform 26" id="26">
            <a:hlinkClick r:id="rId17" tooltip="https://www.ninjahire.co"/>
          </p:cNvPr>
          <p:cNvSpPr/>
          <p:nvPr/>
        </p:nvSpPr>
        <p:spPr>
          <a:xfrm flipH="false" flipV="false" rot="0">
            <a:off x="11719610" y="904950"/>
            <a:ext cx="1297299" cy="1297299"/>
          </a:xfrm>
          <a:custGeom>
            <a:avLst/>
            <a:gdLst/>
            <a:ahLst/>
            <a:cxnLst/>
            <a:rect r="r" b="b" t="t" l="l"/>
            <a:pathLst>
              <a:path h="1297299" w="1297299">
                <a:moveTo>
                  <a:pt x="0" y="0"/>
                </a:moveTo>
                <a:lnTo>
                  <a:pt x="1297299" y="0"/>
                </a:lnTo>
                <a:lnTo>
                  <a:pt x="1297299" y="1297299"/>
                </a:lnTo>
                <a:lnTo>
                  <a:pt x="0" y="1297299"/>
                </a:lnTo>
                <a:lnTo>
                  <a:pt x="0" y="0"/>
                </a:lnTo>
                <a:close/>
              </a:path>
            </a:pathLst>
          </a:custGeom>
          <a:blipFill>
            <a:blip r:embed="rId16"/>
            <a:stretch>
              <a:fillRect l="0" t="0" r="0" b="0"/>
            </a:stretch>
          </a:blipFill>
        </p:spPr>
      </p:sp>
      <p:sp>
        <p:nvSpPr>
          <p:cNvPr name="TextBox 27" id="27"/>
          <p:cNvSpPr txBox="true"/>
          <p:nvPr/>
        </p:nvSpPr>
        <p:spPr>
          <a:xfrm rot="0">
            <a:off x="780477" y="1209743"/>
            <a:ext cx="2723436" cy="621037"/>
          </a:xfrm>
          <a:prstGeom prst="rect">
            <a:avLst/>
          </a:prstGeom>
        </p:spPr>
        <p:txBody>
          <a:bodyPr anchor="t" rtlCol="false" tIns="0" lIns="0" bIns="0" rIns="0">
            <a:spAutoFit/>
          </a:bodyPr>
          <a:lstStyle/>
          <a:p>
            <a:pPr algn="l">
              <a:lnSpc>
                <a:spcPts val="5144"/>
              </a:lnSpc>
            </a:pPr>
            <a:r>
              <a:rPr lang="en-US" b="true" sz="3674" u="sng">
                <a:solidFill>
                  <a:srgbClr val="4DBD9E"/>
                </a:solidFill>
                <a:latin typeface="Montserrat Ultra-Bold"/>
                <a:ea typeface="Montserrat Ultra-Bold"/>
                <a:cs typeface="Montserrat Ultra-Bold"/>
                <a:sym typeface="Montserrat Ultra-Bold"/>
                <a:hlinkClick r:id="rId18" tooltip="https://www.ninjahire.co"/>
              </a:rPr>
              <a:t>NINJAHIRE</a:t>
            </a:r>
          </a:p>
        </p:txBody>
      </p:sp>
      <p:sp>
        <p:nvSpPr>
          <p:cNvPr name="TextBox 28" id="28"/>
          <p:cNvSpPr txBox="true"/>
          <p:nvPr/>
        </p:nvSpPr>
        <p:spPr>
          <a:xfrm rot="0">
            <a:off x="780477" y="1917369"/>
            <a:ext cx="6238131" cy="199411"/>
          </a:xfrm>
          <a:prstGeom prst="rect">
            <a:avLst/>
          </a:prstGeom>
        </p:spPr>
        <p:txBody>
          <a:bodyPr anchor="t" rtlCol="false" tIns="0" lIns="0" bIns="0" rIns="0">
            <a:spAutoFit/>
          </a:bodyPr>
          <a:lstStyle/>
          <a:p>
            <a:pPr algn="l">
              <a:lnSpc>
                <a:spcPts val="1608"/>
              </a:lnSpc>
            </a:pPr>
            <a:r>
              <a:rPr lang="en-US" sz="1149" b="true">
                <a:solidFill>
                  <a:srgbClr val="272030"/>
                </a:solidFill>
                <a:latin typeface="Montserrat Semi-Bold"/>
                <a:ea typeface="Montserrat Semi-Bold"/>
                <a:cs typeface="Montserrat Semi-Bold"/>
                <a:sym typeface="Montserrat Semi-Bold"/>
              </a:rPr>
              <a:t>AI-POWERED TALENT ACQUISITION COPILOT &amp; HIRING WORKFLOW AUTOMATION</a:t>
            </a:r>
          </a:p>
        </p:txBody>
      </p:sp>
      <p:sp>
        <p:nvSpPr>
          <p:cNvPr name="TextBox 29" id="29"/>
          <p:cNvSpPr txBox="true"/>
          <p:nvPr/>
        </p:nvSpPr>
        <p:spPr>
          <a:xfrm rot="0">
            <a:off x="780477" y="3215667"/>
            <a:ext cx="6562425" cy="1036320"/>
          </a:xfrm>
          <a:prstGeom prst="rect">
            <a:avLst/>
          </a:prstGeom>
        </p:spPr>
        <p:txBody>
          <a:bodyPr anchor="t" rtlCol="false" tIns="0" lIns="0" bIns="0" rIns="0">
            <a:spAutoFit/>
          </a:bodyPr>
          <a:lstStyle/>
          <a:p>
            <a:pPr algn="l">
              <a:lnSpc>
                <a:spcPts val="1680"/>
              </a:lnSpc>
            </a:pPr>
            <a:r>
              <a:rPr lang="en-US" sz="1200">
                <a:solidFill>
                  <a:srgbClr val="000000"/>
                </a:solidFill>
                <a:latin typeface="Montserrat"/>
                <a:ea typeface="Montserrat"/>
                <a:cs typeface="Montserrat"/>
                <a:sym typeface="Montserrat"/>
              </a:rPr>
              <a:t>Ninjahire is an AI-powered recruitment agent designed to act as a dedicated co-pilot for hiring managers and recruiters. Through natural conversational workflows, it manages the entire hiring lifecycle — from generating optimized job descriptions and sourcing qualified candidates to coordinating interviews and streamlining communication — all within a unified interface.</a:t>
            </a:r>
          </a:p>
        </p:txBody>
      </p:sp>
      <p:sp>
        <p:nvSpPr>
          <p:cNvPr name="TextBox 30" id="30"/>
          <p:cNvSpPr txBox="true"/>
          <p:nvPr/>
        </p:nvSpPr>
        <p:spPr>
          <a:xfrm rot="0">
            <a:off x="780477" y="6312763"/>
            <a:ext cx="1747116" cy="240665"/>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Technologies :</a:t>
            </a:r>
          </a:p>
        </p:txBody>
      </p:sp>
      <p:sp>
        <p:nvSpPr>
          <p:cNvPr name="TextBox 31" id="31"/>
          <p:cNvSpPr txBox="true"/>
          <p:nvPr/>
        </p:nvSpPr>
        <p:spPr>
          <a:xfrm rot="0">
            <a:off x="2972452" y="6333590"/>
            <a:ext cx="1115962" cy="318823"/>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TypeScript (Supabase)</a:t>
            </a:r>
          </a:p>
        </p:txBody>
      </p:sp>
      <p:sp>
        <p:nvSpPr>
          <p:cNvPr name="TextBox 32" id="32"/>
          <p:cNvSpPr txBox="true"/>
          <p:nvPr/>
        </p:nvSpPr>
        <p:spPr>
          <a:xfrm rot="0">
            <a:off x="1562122" y="4606451"/>
            <a:ext cx="2129091" cy="240665"/>
          </a:xfrm>
          <a:prstGeom prst="rect">
            <a:avLst/>
          </a:prstGeom>
        </p:spPr>
        <p:txBody>
          <a:bodyPr anchor="t" rtlCol="false" tIns="0" lIns="0" bIns="0" rIns="0">
            <a:spAutoFit/>
          </a:bodyPr>
          <a:lstStyle/>
          <a:p>
            <a:pPr algn="l">
              <a:lnSpc>
                <a:spcPts val="1960"/>
              </a:lnSpc>
              <a:spcBef>
                <a:spcPct val="0"/>
              </a:spcBef>
            </a:pPr>
            <a:r>
              <a:rPr lang="en-US" b="true" sz="1400">
                <a:solidFill>
                  <a:srgbClr val="000000"/>
                </a:solidFill>
                <a:latin typeface="Montserrat Bold"/>
                <a:ea typeface="Montserrat Bold"/>
                <a:cs typeface="Montserrat Bold"/>
                <a:sym typeface="Montserrat Bold"/>
              </a:rPr>
              <a:t>Del</a:t>
            </a:r>
            <a:r>
              <a:rPr lang="en-US" b="true" sz="1400">
                <a:solidFill>
                  <a:srgbClr val="000000"/>
                </a:solidFill>
                <a:latin typeface="Montserrat Bold"/>
                <a:ea typeface="Montserrat Bold"/>
                <a:cs typeface="Montserrat Bold"/>
                <a:sym typeface="Montserrat Bold"/>
              </a:rPr>
              <a:t>ivered in 2 Months</a:t>
            </a:r>
          </a:p>
        </p:txBody>
      </p:sp>
      <p:sp>
        <p:nvSpPr>
          <p:cNvPr name="TextBox 33" id="33"/>
          <p:cNvSpPr txBox="true"/>
          <p:nvPr/>
        </p:nvSpPr>
        <p:spPr>
          <a:xfrm rot="0">
            <a:off x="4734892" y="4476844"/>
            <a:ext cx="2123108" cy="488315"/>
          </a:xfrm>
          <a:prstGeom prst="rect">
            <a:avLst/>
          </a:prstGeom>
        </p:spPr>
        <p:txBody>
          <a:bodyPr anchor="t" rtlCol="false" tIns="0" lIns="0" bIns="0" rIns="0">
            <a:spAutoFit/>
          </a:bodyPr>
          <a:lstStyle/>
          <a:p>
            <a:pPr algn="l">
              <a:lnSpc>
                <a:spcPts val="1960"/>
              </a:lnSpc>
              <a:spcBef>
                <a:spcPct val="0"/>
              </a:spcBef>
            </a:pPr>
            <a:r>
              <a:rPr lang="en-US" b="true" sz="1400">
                <a:solidFill>
                  <a:srgbClr val="000000"/>
                </a:solidFill>
                <a:latin typeface="Montserrat Bold"/>
                <a:ea typeface="Montserrat Bold"/>
                <a:cs typeface="Montserrat Bold"/>
                <a:sym typeface="Montserrat Bold"/>
              </a:rPr>
              <a:t>Enhanced</a:t>
            </a:r>
            <a:r>
              <a:rPr lang="en-US" b="true" sz="1400">
                <a:solidFill>
                  <a:srgbClr val="000000"/>
                </a:solidFill>
                <a:latin typeface="Montserrat Bold"/>
                <a:ea typeface="Montserrat Bold"/>
                <a:cs typeface="Montserrat Bold"/>
                <a:sym typeface="Montserrat Bold"/>
              </a:rPr>
              <a:t> </a:t>
            </a:r>
            <a:r>
              <a:rPr lang="en-US" b="true" sz="1400">
                <a:solidFill>
                  <a:srgbClr val="000000"/>
                </a:solidFill>
                <a:latin typeface="Montserrat Bold"/>
                <a:ea typeface="Montserrat Bold"/>
                <a:cs typeface="Montserrat Bold"/>
                <a:sym typeface="Montserrat Bold"/>
              </a:rPr>
              <a:t>recruitment efficiency by 90%</a:t>
            </a:r>
          </a:p>
        </p:txBody>
      </p:sp>
      <p:sp>
        <p:nvSpPr>
          <p:cNvPr name="TextBox 34" id="34"/>
          <p:cNvSpPr txBox="true"/>
          <p:nvPr/>
        </p:nvSpPr>
        <p:spPr>
          <a:xfrm rot="0">
            <a:off x="3003603" y="6981014"/>
            <a:ext cx="1115962" cy="156898"/>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Next.js</a:t>
            </a:r>
          </a:p>
        </p:txBody>
      </p:sp>
      <p:sp>
        <p:nvSpPr>
          <p:cNvPr name="TextBox 35" id="35"/>
          <p:cNvSpPr txBox="true"/>
          <p:nvPr/>
        </p:nvSpPr>
        <p:spPr>
          <a:xfrm rot="0">
            <a:off x="4918113" y="6414553"/>
            <a:ext cx="1213574" cy="156898"/>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OpenAI</a:t>
            </a:r>
          </a:p>
        </p:txBody>
      </p:sp>
      <p:sp>
        <p:nvSpPr>
          <p:cNvPr name="TextBox 36" id="36"/>
          <p:cNvSpPr txBox="true"/>
          <p:nvPr/>
        </p:nvSpPr>
        <p:spPr>
          <a:xfrm rot="0">
            <a:off x="4934850" y="7076264"/>
            <a:ext cx="1180100" cy="156898"/>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Resend</a:t>
            </a:r>
          </a:p>
        </p:txBody>
      </p:sp>
      <p:grpSp>
        <p:nvGrpSpPr>
          <p:cNvPr name="Group 37" id="37"/>
          <p:cNvGrpSpPr/>
          <p:nvPr/>
        </p:nvGrpSpPr>
        <p:grpSpPr>
          <a:xfrm rot="0">
            <a:off x="7756872" y="5643697"/>
            <a:ext cx="5260037" cy="1716412"/>
            <a:chOff x="0" y="0"/>
            <a:chExt cx="7013382" cy="2288550"/>
          </a:xfrm>
        </p:grpSpPr>
        <p:sp>
          <p:nvSpPr>
            <p:cNvPr name="TextBox 38" id="38"/>
            <p:cNvSpPr txBox="true"/>
            <p:nvPr/>
          </p:nvSpPr>
          <p:spPr>
            <a:xfrm rot="0">
              <a:off x="1650647" y="41490"/>
              <a:ext cx="5278857" cy="223308"/>
            </a:xfrm>
            <a:prstGeom prst="rect">
              <a:avLst/>
            </a:prstGeom>
          </p:spPr>
          <p:txBody>
            <a:bodyPr anchor="t" rtlCol="false" tIns="0" lIns="0" bIns="0" rIns="0">
              <a:spAutoFit/>
            </a:bodyPr>
            <a:lstStyle/>
            <a:p>
              <a:pPr algn="l">
                <a:lnSpc>
                  <a:spcPts val="1400"/>
                </a:lnSpc>
                <a:spcBef>
                  <a:spcPct val="0"/>
                </a:spcBef>
              </a:pPr>
              <a:r>
                <a:rPr lang="en-US" sz="1000">
                  <a:solidFill>
                    <a:srgbClr val="000000"/>
                  </a:solidFill>
                  <a:latin typeface="Montserrat"/>
                  <a:ea typeface="Montserrat"/>
                  <a:cs typeface="Montserrat"/>
                  <a:sym typeface="Montserrat"/>
                </a:rPr>
                <a:t>HR Tech / Recruiting &amp; Talent Acquisition</a:t>
              </a:r>
            </a:p>
          </p:txBody>
        </p:sp>
        <p:sp>
          <p:nvSpPr>
            <p:cNvPr name="TextBox 39" id="39"/>
            <p:cNvSpPr txBox="true"/>
            <p:nvPr/>
          </p:nvSpPr>
          <p:spPr>
            <a:xfrm rot="0">
              <a:off x="1371835" y="-28575"/>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0" id="40"/>
            <p:cNvSpPr txBox="true"/>
            <p:nvPr/>
          </p:nvSpPr>
          <p:spPr>
            <a:xfrm rot="0">
              <a:off x="0" y="-28575"/>
              <a:ext cx="1407355" cy="311362"/>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Industry</a:t>
              </a:r>
            </a:p>
          </p:txBody>
        </p:sp>
        <p:sp>
          <p:nvSpPr>
            <p:cNvPr name="TextBox 41" id="41"/>
            <p:cNvSpPr txBox="true"/>
            <p:nvPr/>
          </p:nvSpPr>
          <p:spPr>
            <a:xfrm rot="0">
              <a:off x="0" y="539623"/>
              <a:ext cx="1407355" cy="311362"/>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Problem</a:t>
              </a:r>
            </a:p>
          </p:txBody>
        </p:sp>
        <p:sp>
          <p:nvSpPr>
            <p:cNvPr name="TextBox 42" id="42"/>
            <p:cNvSpPr txBox="true"/>
            <p:nvPr/>
          </p:nvSpPr>
          <p:spPr>
            <a:xfrm rot="0">
              <a:off x="1650647" y="584496"/>
              <a:ext cx="5362735" cy="451908"/>
            </a:xfrm>
            <a:prstGeom prst="rect">
              <a:avLst/>
            </a:prstGeom>
          </p:spPr>
          <p:txBody>
            <a:bodyPr anchor="t" rtlCol="false" tIns="0" lIns="0" bIns="0" rIns="0">
              <a:spAutoFit/>
            </a:bodyPr>
            <a:lstStyle/>
            <a:p>
              <a:pPr algn="l">
                <a:lnSpc>
                  <a:spcPts val="1400"/>
                </a:lnSpc>
                <a:spcBef>
                  <a:spcPct val="0"/>
                </a:spcBef>
              </a:pPr>
              <a:r>
                <a:rPr lang="en-US" sz="1000">
                  <a:solidFill>
                    <a:srgbClr val="000000"/>
                  </a:solidFill>
                  <a:latin typeface="Montserrat"/>
                  <a:ea typeface="Montserrat"/>
                  <a:cs typeface="Montserrat"/>
                  <a:sym typeface="Montserrat"/>
                </a:rPr>
                <a:t>Recruiters lose 2 days per cycle on screening, follow-ups, and scheduling across scattered tools.</a:t>
              </a:r>
            </a:p>
          </p:txBody>
        </p:sp>
        <p:sp>
          <p:nvSpPr>
            <p:cNvPr name="TextBox 43" id="43"/>
            <p:cNvSpPr txBox="true"/>
            <p:nvPr/>
          </p:nvSpPr>
          <p:spPr>
            <a:xfrm rot="0">
              <a:off x="1371835" y="508296"/>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4" id="44"/>
            <p:cNvSpPr txBox="true"/>
            <p:nvPr/>
          </p:nvSpPr>
          <p:spPr>
            <a:xfrm rot="0">
              <a:off x="0" y="1116963"/>
              <a:ext cx="1407355" cy="311362"/>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Solution</a:t>
              </a:r>
            </a:p>
          </p:txBody>
        </p:sp>
        <p:sp>
          <p:nvSpPr>
            <p:cNvPr name="TextBox 45" id="45"/>
            <p:cNvSpPr txBox="true"/>
            <p:nvPr/>
          </p:nvSpPr>
          <p:spPr>
            <a:xfrm rot="0">
              <a:off x="1650647" y="1182454"/>
              <a:ext cx="5278857" cy="442383"/>
            </a:xfrm>
            <a:prstGeom prst="rect">
              <a:avLst/>
            </a:prstGeom>
          </p:spPr>
          <p:txBody>
            <a:bodyPr anchor="t" rtlCol="false" tIns="0" lIns="0" bIns="0" rIns="0">
              <a:spAutoFit/>
            </a:bodyPr>
            <a:lstStyle/>
            <a:p>
              <a:pPr algn="l">
                <a:lnSpc>
                  <a:spcPts val="1399"/>
                </a:lnSpc>
                <a:spcBef>
                  <a:spcPct val="0"/>
                </a:spcBef>
              </a:pPr>
              <a:r>
                <a:rPr lang="en-US" sz="999">
                  <a:solidFill>
                    <a:srgbClr val="000000"/>
                  </a:solidFill>
                  <a:latin typeface="Montserrat"/>
                  <a:ea typeface="Montserrat"/>
                  <a:cs typeface="Montserrat"/>
                  <a:sym typeface="Montserrat"/>
                </a:rPr>
                <a:t>LangGraph supervisor orchestrating 20+ agents with Microsoft Teams integration.</a:t>
              </a:r>
            </a:p>
          </p:txBody>
        </p:sp>
        <p:sp>
          <p:nvSpPr>
            <p:cNvPr name="TextBox 46" id="46"/>
            <p:cNvSpPr txBox="true"/>
            <p:nvPr/>
          </p:nvSpPr>
          <p:spPr>
            <a:xfrm rot="0">
              <a:off x="1371835" y="1096541"/>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7" id="47"/>
            <p:cNvSpPr txBox="true"/>
            <p:nvPr/>
          </p:nvSpPr>
          <p:spPr>
            <a:xfrm rot="0">
              <a:off x="0" y="1781185"/>
              <a:ext cx="1173329" cy="311362"/>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Impact</a:t>
              </a:r>
            </a:p>
          </p:txBody>
        </p:sp>
        <p:sp>
          <p:nvSpPr>
            <p:cNvPr name="TextBox 48" id="48"/>
            <p:cNvSpPr txBox="true"/>
            <p:nvPr/>
          </p:nvSpPr>
          <p:spPr>
            <a:xfrm rot="0">
              <a:off x="1650647" y="1846166"/>
              <a:ext cx="5278857" cy="442383"/>
            </a:xfrm>
            <a:prstGeom prst="rect">
              <a:avLst/>
            </a:prstGeom>
          </p:spPr>
          <p:txBody>
            <a:bodyPr anchor="t" rtlCol="false" tIns="0" lIns="0" bIns="0" rIns="0">
              <a:spAutoFit/>
            </a:bodyPr>
            <a:lstStyle/>
            <a:p>
              <a:pPr algn="l">
                <a:lnSpc>
                  <a:spcPts val="1399"/>
                </a:lnSpc>
                <a:spcBef>
                  <a:spcPct val="0"/>
                </a:spcBef>
              </a:pPr>
              <a:r>
                <a:rPr lang="en-US" sz="999">
                  <a:solidFill>
                    <a:srgbClr val="000000"/>
                  </a:solidFill>
                  <a:latin typeface="Montserrat"/>
                  <a:ea typeface="Montserrat"/>
                  <a:cs typeface="Montserrat"/>
                  <a:sym typeface="Montserrat"/>
                </a:rPr>
                <a:t>90% faster screening, 60% cost-per-hire cut, 80% automation, 10x candidate volume.</a:t>
              </a:r>
            </a:p>
          </p:txBody>
        </p:sp>
        <p:sp>
          <p:nvSpPr>
            <p:cNvPr name="TextBox 49" id="49"/>
            <p:cNvSpPr txBox="true"/>
            <p:nvPr/>
          </p:nvSpPr>
          <p:spPr>
            <a:xfrm rot="0">
              <a:off x="1371835" y="1765522"/>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grpSp>
      <p:sp>
        <p:nvSpPr>
          <p:cNvPr name="TextBox 50" id="50"/>
          <p:cNvSpPr txBox="true"/>
          <p:nvPr/>
        </p:nvSpPr>
        <p:spPr>
          <a:xfrm rot="0">
            <a:off x="2652454" y="2859114"/>
            <a:ext cx="4929485" cy="240665"/>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Talent Acquisition Copilot, Hiring Workflow Automation</a:t>
            </a:r>
          </a:p>
        </p:txBody>
      </p:sp>
      <p:sp>
        <p:nvSpPr>
          <p:cNvPr name="TextBox 51" id="51"/>
          <p:cNvSpPr txBox="true"/>
          <p:nvPr/>
        </p:nvSpPr>
        <p:spPr>
          <a:xfrm rot="0">
            <a:off x="2652454" y="2518754"/>
            <a:ext cx="2745358" cy="240665"/>
          </a:xfrm>
          <a:prstGeom prst="rect">
            <a:avLst/>
          </a:prstGeom>
        </p:spPr>
        <p:txBody>
          <a:bodyPr anchor="t" rtlCol="false" tIns="0" lIns="0" bIns="0" rIns="0">
            <a:spAutoFit/>
          </a:bodyPr>
          <a:lstStyle/>
          <a:p>
            <a:pPr algn="ctr">
              <a:lnSpc>
                <a:spcPts val="1960"/>
              </a:lnSpc>
              <a:spcBef>
                <a:spcPct val="0"/>
              </a:spcBef>
            </a:pPr>
            <a:r>
              <a:rPr lang="en-US" sz="1400">
                <a:solidFill>
                  <a:srgbClr val="000000"/>
                </a:solidFill>
                <a:latin typeface="Montserrat"/>
                <a:ea typeface="Montserrat"/>
                <a:cs typeface="Montserrat"/>
                <a:sym typeface="Montserrat"/>
              </a:rPr>
              <a:t>Recruiting &amp; Talent Acquisition</a:t>
            </a:r>
          </a:p>
        </p:txBody>
      </p:sp>
      <p:sp>
        <p:nvSpPr>
          <p:cNvPr name="TextBox 52" id="52"/>
          <p:cNvSpPr txBox="true"/>
          <p:nvPr/>
        </p:nvSpPr>
        <p:spPr>
          <a:xfrm rot="0">
            <a:off x="762000" y="2859114"/>
            <a:ext cx="1733996" cy="240665"/>
          </a:xfrm>
          <a:prstGeom prst="rect">
            <a:avLst/>
          </a:prstGeom>
        </p:spPr>
        <p:txBody>
          <a:bodyPr anchor="t" rtlCol="false" tIns="0" lIns="0" bIns="0" rIns="0">
            <a:spAutoFit/>
          </a:bodyPr>
          <a:lstStyle/>
          <a:p>
            <a:pPr algn="ctr">
              <a:lnSpc>
                <a:spcPts val="1960"/>
              </a:lnSpc>
              <a:spcBef>
                <a:spcPct val="0"/>
              </a:spcBef>
            </a:pPr>
            <a:r>
              <a:rPr lang="en-US" b="true" sz="1400">
                <a:solidFill>
                  <a:srgbClr val="000000"/>
                </a:solidFill>
                <a:latin typeface="Montserrat Semi-Bold"/>
                <a:ea typeface="Montserrat Semi-Bold"/>
                <a:cs typeface="Montserrat Semi-Bold"/>
                <a:sym typeface="Montserrat Semi-Bold"/>
              </a:rPr>
              <a:t>Core Product Tags </a:t>
            </a:r>
          </a:p>
        </p:txBody>
      </p:sp>
      <p:sp>
        <p:nvSpPr>
          <p:cNvPr name="TextBox 53" id="53"/>
          <p:cNvSpPr txBox="true"/>
          <p:nvPr/>
        </p:nvSpPr>
        <p:spPr>
          <a:xfrm rot="0">
            <a:off x="762707" y="2518754"/>
            <a:ext cx="1662187" cy="240665"/>
          </a:xfrm>
          <a:prstGeom prst="rect">
            <a:avLst/>
          </a:prstGeom>
        </p:spPr>
        <p:txBody>
          <a:bodyPr anchor="t" rtlCol="false" tIns="0" lIns="0" bIns="0" rIns="0">
            <a:spAutoFit/>
          </a:bodyPr>
          <a:lstStyle/>
          <a:p>
            <a:pPr algn="ctr">
              <a:lnSpc>
                <a:spcPts val="1960"/>
              </a:lnSpc>
              <a:spcBef>
                <a:spcPct val="0"/>
              </a:spcBef>
            </a:pPr>
            <a:r>
              <a:rPr lang="en-US" b="true" sz="1400">
                <a:solidFill>
                  <a:srgbClr val="000000"/>
                </a:solidFill>
                <a:latin typeface="Montserrat Semi-Bold"/>
                <a:ea typeface="Montserrat Semi-Bold"/>
                <a:cs typeface="Montserrat Semi-Bold"/>
                <a:sym typeface="Montserrat Semi-Bold"/>
              </a:rPr>
              <a:t>P</a:t>
            </a:r>
            <a:r>
              <a:rPr lang="en-US" b="true" sz="1400">
                <a:solidFill>
                  <a:srgbClr val="000000"/>
                </a:solidFill>
                <a:latin typeface="Montserrat Semi-Bold"/>
                <a:ea typeface="Montserrat Semi-Bold"/>
                <a:cs typeface="Montserrat Semi-Bold"/>
                <a:sym typeface="Montserrat Semi-Bold"/>
              </a:rPr>
              <a:t>rimary Category </a:t>
            </a:r>
          </a:p>
        </p:txBody>
      </p:sp>
      <p:sp>
        <p:nvSpPr>
          <p:cNvPr name="TextBox 54" id="54"/>
          <p:cNvSpPr txBox="true"/>
          <p:nvPr/>
        </p:nvSpPr>
        <p:spPr>
          <a:xfrm rot="0">
            <a:off x="2509525" y="2507007"/>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55" id="55"/>
          <p:cNvSpPr txBox="true"/>
          <p:nvPr/>
        </p:nvSpPr>
        <p:spPr>
          <a:xfrm rot="0">
            <a:off x="2509525" y="2847367"/>
            <a:ext cx="53280"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56" id="56"/>
          <p:cNvSpPr txBox="true"/>
          <p:nvPr/>
        </p:nvSpPr>
        <p:spPr>
          <a:xfrm rot="0">
            <a:off x="1562122" y="5273174"/>
            <a:ext cx="2129091" cy="488315"/>
          </a:xfrm>
          <a:prstGeom prst="rect">
            <a:avLst/>
          </a:prstGeom>
        </p:spPr>
        <p:txBody>
          <a:bodyPr anchor="t" rtlCol="false" tIns="0" lIns="0" bIns="0" rIns="0">
            <a:spAutoFit/>
          </a:bodyPr>
          <a:lstStyle/>
          <a:p>
            <a:pPr algn="l">
              <a:lnSpc>
                <a:spcPts val="1960"/>
              </a:lnSpc>
              <a:spcBef>
                <a:spcPct val="0"/>
              </a:spcBef>
            </a:pPr>
            <a:r>
              <a:rPr lang="en-US" b="true" sz="1400">
                <a:solidFill>
                  <a:srgbClr val="000000"/>
                </a:solidFill>
                <a:latin typeface="Montserrat Bold"/>
                <a:ea typeface="Montserrat Bold"/>
                <a:cs typeface="Montserrat Bold"/>
                <a:sym typeface="Montserrat Bold"/>
              </a:rPr>
              <a:t>R</a:t>
            </a:r>
            <a:r>
              <a:rPr lang="en-US" b="true" sz="1400">
                <a:solidFill>
                  <a:srgbClr val="000000"/>
                </a:solidFill>
                <a:latin typeface="Montserrat Bold"/>
                <a:ea typeface="Montserrat Bold"/>
                <a:cs typeface="Montserrat Bold"/>
                <a:sym typeface="Montserrat Bold"/>
              </a:rPr>
              <a:t>educed hiring time up to by 75%</a:t>
            </a:r>
          </a:p>
        </p:txBody>
      </p:sp>
      <p:sp>
        <p:nvSpPr>
          <p:cNvPr name="TextBox 57" id="57"/>
          <p:cNvSpPr txBox="true"/>
          <p:nvPr/>
        </p:nvSpPr>
        <p:spPr>
          <a:xfrm rot="0">
            <a:off x="4763467" y="5271998"/>
            <a:ext cx="1889328" cy="488315"/>
          </a:xfrm>
          <a:prstGeom prst="rect">
            <a:avLst/>
          </a:prstGeom>
        </p:spPr>
        <p:txBody>
          <a:bodyPr anchor="t" rtlCol="false" tIns="0" lIns="0" bIns="0" rIns="0">
            <a:spAutoFit/>
          </a:bodyPr>
          <a:lstStyle/>
          <a:p>
            <a:pPr algn="l">
              <a:lnSpc>
                <a:spcPts val="1960"/>
              </a:lnSpc>
              <a:spcBef>
                <a:spcPct val="0"/>
              </a:spcBef>
            </a:pPr>
            <a:r>
              <a:rPr lang="en-US" b="true" sz="1400">
                <a:solidFill>
                  <a:srgbClr val="000000"/>
                </a:solidFill>
                <a:latin typeface="Montserrat Bold"/>
                <a:ea typeface="Montserrat Bold"/>
                <a:cs typeface="Montserrat Bold"/>
                <a:sym typeface="Montserrat Bold"/>
              </a:rPr>
              <a:t>Impr</a:t>
            </a:r>
            <a:r>
              <a:rPr lang="en-US" b="true" sz="1400">
                <a:solidFill>
                  <a:srgbClr val="000000"/>
                </a:solidFill>
                <a:latin typeface="Montserrat Bold"/>
                <a:ea typeface="Montserrat Bold"/>
                <a:cs typeface="Montserrat Bold"/>
                <a:sym typeface="Montserrat Bold"/>
              </a:rPr>
              <a:t>ov</a:t>
            </a:r>
            <a:r>
              <a:rPr lang="en-US" b="true" sz="1400">
                <a:solidFill>
                  <a:srgbClr val="000000"/>
                </a:solidFill>
                <a:latin typeface="Montserrat Bold"/>
                <a:ea typeface="Montserrat Bold"/>
                <a:cs typeface="Montserrat Bold"/>
                <a:sym typeface="Montserrat Bold"/>
              </a:rPr>
              <a:t>ed candidate quality by 85%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9F6"/>
        </a:solidFill>
      </p:bgPr>
    </p:bg>
    <p:spTree>
      <p:nvGrpSpPr>
        <p:cNvPr id="1" name=""/>
        <p:cNvGrpSpPr/>
        <p:nvPr/>
      </p:nvGrpSpPr>
      <p:grpSpPr>
        <a:xfrm>
          <a:off x="0" y="0"/>
          <a:ext cx="0" cy="0"/>
          <a:chOff x="0" y="0"/>
          <a:chExt cx="0" cy="0"/>
        </a:xfrm>
      </p:grpSpPr>
      <p:grpSp>
        <p:nvGrpSpPr>
          <p:cNvPr name="Group 2" id="2"/>
          <p:cNvGrpSpPr/>
          <p:nvPr/>
        </p:nvGrpSpPr>
        <p:grpSpPr>
          <a:xfrm rot="0">
            <a:off x="780477" y="3567296"/>
            <a:ext cx="2995951" cy="623704"/>
            <a:chOff x="0" y="0"/>
            <a:chExt cx="832209" cy="173251"/>
          </a:xfrm>
        </p:grpSpPr>
        <p:sp>
          <p:nvSpPr>
            <p:cNvPr name="Freeform 3" id="3"/>
            <p:cNvSpPr/>
            <p:nvPr/>
          </p:nvSpPr>
          <p:spPr>
            <a:xfrm flipH="false" flipV="false" rot="0">
              <a:off x="0" y="0"/>
              <a:ext cx="832209" cy="173251"/>
            </a:xfrm>
            <a:custGeom>
              <a:avLst/>
              <a:gdLst/>
              <a:ahLst/>
              <a:cxnLst/>
              <a:rect r="r" b="b" t="t" l="l"/>
              <a:pathLst>
                <a:path h="173251" w="832209">
                  <a:moveTo>
                    <a:pt x="38358" y="0"/>
                  </a:moveTo>
                  <a:lnTo>
                    <a:pt x="793850" y="0"/>
                  </a:lnTo>
                  <a:cubicBezTo>
                    <a:pt x="804024" y="0"/>
                    <a:pt x="813780" y="4041"/>
                    <a:pt x="820974" y="11235"/>
                  </a:cubicBezTo>
                  <a:cubicBezTo>
                    <a:pt x="828167" y="18428"/>
                    <a:pt x="832209" y="28185"/>
                    <a:pt x="832209" y="38358"/>
                  </a:cubicBezTo>
                  <a:lnTo>
                    <a:pt x="832209" y="134893"/>
                  </a:lnTo>
                  <a:cubicBezTo>
                    <a:pt x="832209" y="156078"/>
                    <a:pt x="815035" y="173251"/>
                    <a:pt x="793850" y="173251"/>
                  </a:cubicBezTo>
                  <a:lnTo>
                    <a:pt x="38358" y="173251"/>
                  </a:lnTo>
                  <a:cubicBezTo>
                    <a:pt x="28185" y="173251"/>
                    <a:pt x="18428" y="169210"/>
                    <a:pt x="11235" y="162016"/>
                  </a:cubicBezTo>
                  <a:cubicBezTo>
                    <a:pt x="4041" y="154823"/>
                    <a:pt x="0" y="145066"/>
                    <a:pt x="0" y="134893"/>
                  </a:cubicBezTo>
                  <a:lnTo>
                    <a:pt x="0" y="38358"/>
                  </a:lnTo>
                  <a:cubicBezTo>
                    <a:pt x="0" y="28185"/>
                    <a:pt x="4041" y="18428"/>
                    <a:pt x="11235" y="11235"/>
                  </a:cubicBezTo>
                  <a:cubicBezTo>
                    <a:pt x="18428" y="4041"/>
                    <a:pt x="28185" y="0"/>
                    <a:pt x="38358" y="0"/>
                  </a:cubicBezTo>
                  <a:close/>
                </a:path>
              </a:pathLst>
            </a:custGeom>
            <a:solidFill>
              <a:srgbClr val="9B407C"/>
            </a:solidFill>
          </p:spPr>
        </p:sp>
        <p:sp>
          <p:nvSpPr>
            <p:cNvPr name="TextBox 4" id="4"/>
            <p:cNvSpPr txBox="true"/>
            <p:nvPr/>
          </p:nvSpPr>
          <p:spPr>
            <a:xfrm>
              <a:off x="0" y="-38100"/>
              <a:ext cx="832209" cy="211351"/>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3985977" y="3567296"/>
            <a:ext cx="2638243" cy="623704"/>
            <a:chOff x="0" y="0"/>
            <a:chExt cx="732845" cy="173251"/>
          </a:xfrm>
        </p:grpSpPr>
        <p:sp>
          <p:nvSpPr>
            <p:cNvPr name="Freeform 6" id="6"/>
            <p:cNvSpPr/>
            <p:nvPr/>
          </p:nvSpPr>
          <p:spPr>
            <a:xfrm flipH="false" flipV="false" rot="0">
              <a:off x="0" y="0"/>
              <a:ext cx="732845" cy="173251"/>
            </a:xfrm>
            <a:custGeom>
              <a:avLst/>
              <a:gdLst/>
              <a:ahLst/>
              <a:cxnLst/>
              <a:rect r="r" b="b" t="t" l="l"/>
              <a:pathLst>
                <a:path h="173251" w="732845">
                  <a:moveTo>
                    <a:pt x="43559" y="0"/>
                  </a:moveTo>
                  <a:lnTo>
                    <a:pt x="689286" y="0"/>
                  </a:lnTo>
                  <a:cubicBezTo>
                    <a:pt x="713343" y="0"/>
                    <a:pt x="732845" y="19502"/>
                    <a:pt x="732845" y="43559"/>
                  </a:cubicBezTo>
                  <a:lnTo>
                    <a:pt x="732845" y="129692"/>
                  </a:lnTo>
                  <a:cubicBezTo>
                    <a:pt x="732845" y="153749"/>
                    <a:pt x="713343" y="173251"/>
                    <a:pt x="689286" y="173251"/>
                  </a:cubicBezTo>
                  <a:lnTo>
                    <a:pt x="43559" y="173251"/>
                  </a:lnTo>
                  <a:cubicBezTo>
                    <a:pt x="32006" y="173251"/>
                    <a:pt x="20927" y="168662"/>
                    <a:pt x="12758" y="160493"/>
                  </a:cubicBezTo>
                  <a:cubicBezTo>
                    <a:pt x="4589" y="152324"/>
                    <a:pt x="0" y="141245"/>
                    <a:pt x="0" y="129692"/>
                  </a:cubicBezTo>
                  <a:lnTo>
                    <a:pt x="0" y="43559"/>
                  </a:lnTo>
                  <a:cubicBezTo>
                    <a:pt x="0" y="32006"/>
                    <a:pt x="4589" y="20927"/>
                    <a:pt x="12758" y="12758"/>
                  </a:cubicBezTo>
                  <a:cubicBezTo>
                    <a:pt x="20927" y="4589"/>
                    <a:pt x="32006" y="0"/>
                    <a:pt x="43559" y="0"/>
                  </a:cubicBezTo>
                  <a:close/>
                </a:path>
              </a:pathLst>
            </a:custGeom>
            <a:solidFill>
              <a:srgbClr val="9B407C"/>
            </a:solidFill>
          </p:spPr>
        </p:sp>
        <p:sp>
          <p:nvSpPr>
            <p:cNvPr name="TextBox 7" id="7"/>
            <p:cNvSpPr txBox="true"/>
            <p:nvPr/>
          </p:nvSpPr>
          <p:spPr>
            <a:xfrm>
              <a:off x="0" y="-38100"/>
              <a:ext cx="732845" cy="211351"/>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false" flipV="false" rot="0">
            <a:off x="904257" y="3572301"/>
            <a:ext cx="613694" cy="613694"/>
          </a:xfrm>
          <a:custGeom>
            <a:avLst/>
            <a:gdLst/>
            <a:ahLst/>
            <a:cxnLst/>
            <a:rect r="r" b="b" t="t" l="l"/>
            <a:pathLst>
              <a:path h="613694" w="613694">
                <a:moveTo>
                  <a:pt x="0" y="0"/>
                </a:moveTo>
                <a:lnTo>
                  <a:pt x="613694" y="0"/>
                </a:lnTo>
                <a:lnTo>
                  <a:pt x="613694" y="613694"/>
                </a:lnTo>
                <a:lnTo>
                  <a:pt x="0" y="6136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679839" y="5788575"/>
            <a:ext cx="400023" cy="424826"/>
          </a:xfrm>
          <a:custGeom>
            <a:avLst/>
            <a:gdLst/>
            <a:ahLst/>
            <a:cxnLst/>
            <a:rect r="r" b="b" t="t" l="l"/>
            <a:pathLst>
              <a:path h="424826" w="400023">
                <a:moveTo>
                  <a:pt x="0" y="0"/>
                </a:moveTo>
                <a:lnTo>
                  <a:pt x="400023" y="0"/>
                </a:lnTo>
                <a:lnTo>
                  <a:pt x="400023" y="424826"/>
                </a:lnTo>
                <a:lnTo>
                  <a:pt x="0" y="424826"/>
                </a:lnTo>
                <a:lnTo>
                  <a:pt x="0" y="0"/>
                </a:lnTo>
                <a:close/>
              </a:path>
            </a:pathLst>
          </a:custGeom>
          <a:blipFill>
            <a:blip r:embed="rId4"/>
            <a:stretch>
              <a:fillRect l="-45672" t="0" r="-43971" b="0"/>
            </a:stretch>
          </a:blipFill>
        </p:spPr>
      </p:sp>
      <p:sp>
        <p:nvSpPr>
          <p:cNvPr name="Freeform 10" id="10"/>
          <p:cNvSpPr/>
          <p:nvPr/>
        </p:nvSpPr>
        <p:spPr>
          <a:xfrm flipH="false" flipV="false" rot="0">
            <a:off x="2693192" y="6332101"/>
            <a:ext cx="470697" cy="470697"/>
          </a:xfrm>
          <a:custGeom>
            <a:avLst/>
            <a:gdLst/>
            <a:ahLst/>
            <a:cxnLst/>
            <a:rect r="r" b="b" t="t" l="l"/>
            <a:pathLst>
              <a:path h="470697" w="470697">
                <a:moveTo>
                  <a:pt x="0" y="0"/>
                </a:moveTo>
                <a:lnTo>
                  <a:pt x="470697" y="0"/>
                </a:lnTo>
                <a:lnTo>
                  <a:pt x="470697" y="470697"/>
                </a:lnTo>
                <a:lnTo>
                  <a:pt x="0" y="470697"/>
                </a:lnTo>
                <a:lnTo>
                  <a:pt x="0" y="0"/>
                </a:lnTo>
                <a:close/>
              </a:path>
            </a:pathLst>
          </a:custGeom>
          <a:blipFill>
            <a:blip r:embed="rId5"/>
            <a:stretch>
              <a:fillRect l="0" t="0" r="0" b="0"/>
            </a:stretch>
          </a:blipFill>
        </p:spPr>
      </p:sp>
      <p:sp>
        <p:nvSpPr>
          <p:cNvPr name="Freeform 11" id="11"/>
          <p:cNvSpPr/>
          <p:nvPr/>
        </p:nvSpPr>
        <p:spPr>
          <a:xfrm flipH="false" flipV="false" rot="0">
            <a:off x="4656507" y="6312955"/>
            <a:ext cx="508988" cy="508988"/>
          </a:xfrm>
          <a:custGeom>
            <a:avLst/>
            <a:gdLst/>
            <a:ahLst/>
            <a:cxnLst/>
            <a:rect r="r" b="b" t="t" l="l"/>
            <a:pathLst>
              <a:path h="508988" w="508988">
                <a:moveTo>
                  <a:pt x="0" y="0"/>
                </a:moveTo>
                <a:lnTo>
                  <a:pt x="508989" y="0"/>
                </a:lnTo>
                <a:lnTo>
                  <a:pt x="508989" y="508988"/>
                </a:lnTo>
                <a:lnTo>
                  <a:pt x="0" y="508988"/>
                </a:lnTo>
                <a:lnTo>
                  <a:pt x="0" y="0"/>
                </a:lnTo>
                <a:close/>
              </a:path>
            </a:pathLst>
          </a:custGeom>
          <a:blipFill>
            <a:blip r:embed="rId6"/>
            <a:stretch>
              <a:fillRect l="0" t="0" r="0" b="0"/>
            </a:stretch>
          </a:blipFill>
        </p:spPr>
      </p:sp>
      <p:sp>
        <p:nvSpPr>
          <p:cNvPr name="Freeform 12" id="12"/>
          <p:cNvSpPr/>
          <p:nvPr/>
        </p:nvSpPr>
        <p:spPr>
          <a:xfrm flipH="false" flipV="false" rot="0">
            <a:off x="2693192" y="5780396"/>
            <a:ext cx="441184" cy="441184"/>
          </a:xfrm>
          <a:custGeom>
            <a:avLst/>
            <a:gdLst/>
            <a:ahLst/>
            <a:cxnLst/>
            <a:rect r="r" b="b" t="t" l="l"/>
            <a:pathLst>
              <a:path h="441184" w="441184">
                <a:moveTo>
                  <a:pt x="0" y="0"/>
                </a:moveTo>
                <a:lnTo>
                  <a:pt x="441185" y="0"/>
                </a:lnTo>
                <a:lnTo>
                  <a:pt x="441185" y="441184"/>
                </a:lnTo>
                <a:lnTo>
                  <a:pt x="0" y="441184"/>
                </a:lnTo>
                <a:lnTo>
                  <a:pt x="0" y="0"/>
                </a:lnTo>
                <a:close/>
              </a:path>
            </a:pathLst>
          </a:custGeom>
          <a:blipFill>
            <a:blip r:embed="rId7"/>
            <a:stretch>
              <a:fillRect l="0" t="0" r="0" b="0"/>
            </a:stretch>
          </a:blipFill>
        </p:spPr>
      </p:sp>
      <p:grpSp>
        <p:nvGrpSpPr>
          <p:cNvPr name="Group 13" id="13"/>
          <p:cNvGrpSpPr/>
          <p:nvPr/>
        </p:nvGrpSpPr>
        <p:grpSpPr>
          <a:xfrm rot="0">
            <a:off x="780477" y="4362450"/>
            <a:ext cx="2995951" cy="970271"/>
            <a:chOff x="0" y="0"/>
            <a:chExt cx="832209" cy="269520"/>
          </a:xfrm>
        </p:grpSpPr>
        <p:sp>
          <p:nvSpPr>
            <p:cNvPr name="Freeform 14" id="14"/>
            <p:cNvSpPr/>
            <p:nvPr/>
          </p:nvSpPr>
          <p:spPr>
            <a:xfrm flipH="false" flipV="false" rot="0">
              <a:off x="0" y="0"/>
              <a:ext cx="832209" cy="269520"/>
            </a:xfrm>
            <a:custGeom>
              <a:avLst/>
              <a:gdLst/>
              <a:ahLst/>
              <a:cxnLst/>
              <a:rect r="r" b="b" t="t" l="l"/>
              <a:pathLst>
                <a:path h="269520" w="832209">
                  <a:moveTo>
                    <a:pt x="38358" y="0"/>
                  </a:moveTo>
                  <a:lnTo>
                    <a:pt x="793850" y="0"/>
                  </a:lnTo>
                  <a:cubicBezTo>
                    <a:pt x="804024" y="0"/>
                    <a:pt x="813780" y="4041"/>
                    <a:pt x="820974" y="11235"/>
                  </a:cubicBezTo>
                  <a:cubicBezTo>
                    <a:pt x="828167" y="18428"/>
                    <a:pt x="832209" y="28185"/>
                    <a:pt x="832209" y="38358"/>
                  </a:cubicBezTo>
                  <a:lnTo>
                    <a:pt x="832209" y="231161"/>
                  </a:lnTo>
                  <a:cubicBezTo>
                    <a:pt x="832209" y="241335"/>
                    <a:pt x="828167" y="251091"/>
                    <a:pt x="820974" y="258285"/>
                  </a:cubicBezTo>
                  <a:cubicBezTo>
                    <a:pt x="813780" y="265478"/>
                    <a:pt x="804024" y="269520"/>
                    <a:pt x="793850" y="269520"/>
                  </a:cubicBezTo>
                  <a:lnTo>
                    <a:pt x="38358" y="269520"/>
                  </a:lnTo>
                  <a:cubicBezTo>
                    <a:pt x="28185" y="269520"/>
                    <a:pt x="18428" y="265478"/>
                    <a:pt x="11235" y="258285"/>
                  </a:cubicBezTo>
                  <a:cubicBezTo>
                    <a:pt x="4041" y="251091"/>
                    <a:pt x="0" y="241335"/>
                    <a:pt x="0" y="231161"/>
                  </a:cubicBezTo>
                  <a:lnTo>
                    <a:pt x="0" y="38358"/>
                  </a:lnTo>
                  <a:cubicBezTo>
                    <a:pt x="0" y="28185"/>
                    <a:pt x="4041" y="18428"/>
                    <a:pt x="11235" y="11235"/>
                  </a:cubicBezTo>
                  <a:cubicBezTo>
                    <a:pt x="18428" y="4041"/>
                    <a:pt x="28185" y="0"/>
                    <a:pt x="38358" y="0"/>
                  </a:cubicBezTo>
                  <a:close/>
                </a:path>
              </a:pathLst>
            </a:custGeom>
            <a:solidFill>
              <a:srgbClr val="9B407C"/>
            </a:solidFill>
          </p:spPr>
        </p:sp>
        <p:sp>
          <p:nvSpPr>
            <p:cNvPr name="TextBox 15" id="15"/>
            <p:cNvSpPr txBox="true"/>
            <p:nvPr/>
          </p:nvSpPr>
          <p:spPr>
            <a:xfrm>
              <a:off x="0" y="-38100"/>
              <a:ext cx="832209" cy="307620"/>
            </a:xfrm>
            <a:prstGeom prst="rect">
              <a:avLst/>
            </a:prstGeom>
          </p:spPr>
          <p:txBody>
            <a:bodyPr anchor="ctr" rtlCol="false" tIns="50800" lIns="50800" bIns="50800" rIns="50800"/>
            <a:lstStyle/>
            <a:p>
              <a:pPr algn="ctr">
                <a:lnSpc>
                  <a:spcPts val="2520"/>
                </a:lnSpc>
              </a:pPr>
            </a:p>
          </p:txBody>
        </p:sp>
      </p:grpSp>
      <p:grpSp>
        <p:nvGrpSpPr>
          <p:cNvPr name="Group 16" id="16"/>
          <p:cNvGrpSpPr/>
          <p:nvPr/>
        </p:nvGrpSpPr>
        <p:grpSpPr>
          <a:xfrm rot="0">
            <a:off x="3985977" y="4362450"/>
            <a:ext cx="2638243" cy="970271"/>
            <a:chOff x="0" y="0"/>
            <a:chExt cx="732845" cy="269520"/>
          </a:xfrm>
        </p:grpSpPr>
        <p:sp>
          <p:nvSpPr>
            <p:cNvPr name="Freeform 17" id="17"/>
            <p:cNvSpPr/>
            <p:nvPr/>
          </p:nvSpPr>
          <p:spPr>
            <a:xfrm flipH="false" flipV="false" rot="0">
              <a:off x="0" y="0"/>
              <a:ext cx="732845" cy="269520"/>
            </a:xfrm>
            <a:custGeom>
              <a:avLst/>
              <a:gdLst/>
              <a:ahLst/>
              <a:cxnLst/>
              <a:rect r="r" b="b" t="t" l="l"/>
              <a:pathLst>
                <a:path h="269520" w="732845">
                  <a:moveTo>
                    <a:pt x="43559" y="0"/>
                  </a:moveTo>
                  <a:lnTo>
                    <a:pt x="689286" y="0"/>
                  </a:lnTo>
                  <a:cubicBezTo>
                    <a:pt x="713343" y="0"/>
                    <a:pt x="732845" y="19502"/>
                    <a:pt x="732845" y="43559"/>
                  </a:cubicBezTo>
                  <a:lnTo>
                    <a:pt x="732845" y="225961"/>
                  </a:lnTo>
                  <a:cubicBezTo>
                    <a:pt x="732845" y="237513"/>
                    <a:pt x="728256" y="248593"/>
                    <a:pt x="720087" y="256762"/>
                  </a:cubicBezTo>
                  <a:cubicBezTo>
                    <a:pt x="711918" y="264930"/>
                    <a:pt x="700839" y="269520"/>
                    <a:pt x="689286" y="269520"/>
                  </a:cubicBezTo>
                  <a:lnTo>
                    <a:pt x="43559" y="269520"/>
                  </a:lnTo>
                  <a:cubicBezTo>
                    <a:pt x="19502" y="269520"/>
                    <a:pt x="0" y="250018"/>
                    <a:pt x="0" y="225961"/>
                  </a:cubicBezTo>
                  <a:lnTo>
                    <a:pt x="0" y="43559"/>
                  </a:lnTo>
                  <a:cubicBezTo>
                    <a:pt x="0" y="32006"/>
                    <a:pt x="4589" y="20927"/>
                    <a:pt x="12758" y="12758"/>
                  </a:cubicBezTo>
                  <a:cubicBezTo>
                    <a:pt x="20927" y="4589"/>
                    <a:pt x="32006" y="0"/>
                    <a:pt x="43559" y="0"/>
                  </a:cubicBezTo>
                  <a:close/>
                </a:path>
              </a:pathLst>
            </a:custGeom>
            <a:solidFill>
              <a:srgbClr val="9B407C"/>
            </a:solidFill>
          </p:spPr>
        </p:sp>
        <p:sp>
          <p:nvSpPr>
            <p:cNvPr name="TextBox 18" id="18"/>
            <p:cNvSpPr txBox="true"/>
            <p:nvPr/>
          </p:nvSpPr>
          <p:spPr>
            <a:xfrm>
              <a:off x="0" y="-38100"/>
              <a:ext cx="732845" cy="307620"/>
            </a:xfrm>
            <a:prstGeom prst="rect">
              <a:avLst/>
            </a:prstGeom>
          </p:spPr>
          <p:txBody>
            <a:bodyPr anchor="ctr" rtlCol="false" tIns="50800" lIns="50800" bIns="50800" rIns="50800"/>
            <a:lstStyle/>
            <a:p>
              <a:pPr algn="ctr">
                <a:lnSpc>
                  <a:spcPts val="2520"/>
                </a:lnSpc>
              </a:pPr>
            </a:p>
          </p:txBody>
        </p:sp>
      </p:grpSp>
      <p:sp>
        <p:nvSpPr>
          <p:cNvPr name="Freeform 19" id="19"/>
          <p:cNvSpPr/>
          <p:nvPr/>
        </p:nvSpPr>
        <p:spPr>
          <a:xfrm flipH="false" flipV="false" rot="0">
            <a:off x="958231" y="4664137"/>
            <a:ext cx="505746" cy="366896"/>
          </a:xfrm>
          <a:custGeom>
            <a:avLst/>
            <a:gdLst/>
            <a:ahLst/>
            <a:cxnLst/>
            <a:rect r="r" b="b" t="t" l="l"/>
            <a:pathLst>
              <a:path h="366896" w="505746">
                <a:moveTo>
                  <a:pt x="0" y="0"/>
                </a:moveTo>
                <a:lnTo>
                  <a:pt x="505746" y="0"/>
                </a:lnTo>
                <a:lnTo>
                  <a:pt x="505746" y="366896"/>
                </a:lnTo>
                <a:lnTo>
                  <a:pt x="0" y="366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4181537" y="4664137"/>
            <a:ext cx="386576" cy="366896"/>
          </a:xfrm>
          <a:custGeom>
            <a:avLst/>
            <a:gdLst/>
            <a:ahLst/>
            <a:cxnLst/>
            <a:rect r="r" b="b" t="t" l="l"/>
            <a:pathLst>
              <a:path h="366896" w="386576">
                <a:moveTo>
                  <a:pt x="0" y="0"/>
                </a:moveTo>
                <a:lnTo>
                  <a:pt x="386576" y="0"/>
                </a:lnTo>
                <a:lnTo>
                  <a:pt x="386576" y="366896"/>
                </a:lnTo>
                <a:lnTo>
                  <a:pt x="0" y="3668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4194277" y="3701166"/>
            <a:ext cx="361096" cy="367528"/>
          </a:xfrm>
          <a:custGeom>
            <a:avLst/>
            <a:gdLst/>
            <a:ahLst/>
            <a:cxnLst/>
            <a:rect r="r" b="b" t="t" l="l"/>
            <a:pathLst>
              <a:path h="367528" w="361096">
                <a:moveTo>
                  <a:pt x="0" y="0"/>
                </a:moveTo>
                <a:lnTo>
                  <a:pt x="361096" y="0"/>
                </a:lnTo>
                <a:lnTo>
                  <a:pt x="361096" y="367528"/>
                </a:lnTo>
                <a:lnTo>
                  <a:pt x="0" y="3675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a:hlinkClick r:id="rId15" tooltip="https://anvayaa.com/dementia-care/"/>
          </p:cNvPr>
          <p:cNvSpPr/>
          <p:nvPr/>
        </p:nvSpPr>
        <p:spPr>
          <a:xfrm flipH="false" flipV="false" rot="0">
            <a:off x="7438151" y="2537580"/>
            <a:ext cx="6161295" cy="2795140"/>
          </a:xfrm>
          <a:custGeom>
            <a:avLst/>
            <a:gdLst/>
            <a:ahLst/>
            <a:cxnLst/>
            <a:rect r="r" b="b" t="t" l="l"/>
            <a:pathLst>
              <a:path h="2795140" w="6161295">
                <a:moveTo>
                  <a:pt x="0" y="0"/>
                </a:moveTo>
                <a:lnTo>
                  <a:pt x="6161296" y="0"/>
                </a:lnTo>
                <a:lnTo>
                  <a:pt x="6161296" y="2795141"/>
                </a:lnTo>
                <a:lnTo>
                  <a:pt x="0" y="2795141"/>
                </a:lnTo>
                <a:lnTo>
                  <a:pt x="0" y="0"/>
                </a:lnTo>
                <a:close/>
              </a:path>
            </a:pathLst>
          </a:custGeom>
          <a:blipFill>
            <a:blip r:embed="rId14"/>
            <a:stretch>
              <a:fillRect l="-1055" t="-1143" r="-1480" b="0"/>
            </a:stretch>
          </a:blipFill>
        </p:spPr>
      </p:sp>
      <p:sp>
        <p:nvSpPr>
          <p:cNvPr name="TextBox 23" id="23"/>
          <p:cNvSpPr txBox="true"/>
          <p:nvPr/>
        </p:nvSpPr>
        <p:spPr>
          <a:xfrm rot="0">
            <a:off x="780477" y="1209743"/>
            <a:ext cx="6768822" cy="621037"/>
          </a:xfrm>
          <a:prstGeom prst="rect">
            <a:avLst/>
          </a:prstGeom>
        </p:spPr>
        <p:txBody>
          <a:bodyPr anchor="t" rtlCol="false" tIns="0" lIns="0" bIns="0" rIns="0">
            <a:spAutoFit/>
          </a:bodyPr>
          <a:lstStyle/>
          <a:p>
            <a:pPr algn="l">
              <a:lnSpc>
                <a:spcPts val="5144"/>
              </a:lnSpc>
            </a:pPr>
            <a:r>
              <a:rPr lang="en-US" b="true" sz="3674" u="sng">
                <a:solidFill>
                  <a:srgbClr val="9B407C"/>
                </a:solidFill>
                <a:latin typeface="Montserrat Ultra-Bold"/>
                <a:ea typeface="Montserrat Ultra-Bold"/>
                <a:cs typeface="Montserrat Ultra-Bold"/>
                <a:sym typeface="Montserrat Ultra-Bold"/>
                <a:hlinkClick r:id="rId16" tooltip="https://anvayaa.com/dementia-care/"/>
              </a:rPr>
              <a:t>DEMENTIA CARE ANVAYAA</a:t>
            </a:r>
          </a:p>
        </p:txBody>
      </p:sp>
      <p:sp>
        <p:nvSpPr>
          <p:cNvPr name="TextBox 24" id="24"/>
          <p:cNvSpPr txBox="true"/>
          <p:nvPr/>
        </p:nvSpPr>
        <p:spPr>
          <a:xfrm rot="0">
            <a:off x="780477" y="1917369"/>
            <a:ext cx="4576018" cy="199411"/>
          </a:xfrm>
          <a:prstGeom prst="rect">
            <a:avLst/>
          </a:prstGeom>
        </p:spPr>
        <p:txBody>
          <a:bodyPr anchor="t" rtlCol="false" tIns="0" lIns="0" bIns="0" rIns="0">
            <a:spAutoFit/>
          </a:bodyPr>
          <a:lstStyle/>
          <a:p>
            <a:pPr algn="l">
              <a:lnSpc>
                <a:spcPts val="1608"/>
              </a:lnSpc>
            </a:pPr>
            <a:r>
              <a:rPr lang="en-US" sz="1149" b="true">
                <a:solidFill>
                  <a:srgbClr val="272030"/>
                </a:solidFill>
                <a:latin typeface="Montserrat Semi-Bold"/>
                <a:ea typeface="Montserrat Semi-Bold"/>
                <a:cs typeface="Montserrat Semi-Bold"/>
                <a:sym typeface="Montserrat Semi-Bold"/>
              </a:rPr>
              <a:t>SMART DEMENTIA CARE &amp; CAREGIVER SUPPORT PLATFORM</a:t>
            </a:r>
          </a:p>
        </p:txBody>
      </p:sp>
      <p:sp>
        <p:nvSpPr>
          <p:cNvPr name="TextBox 25" id="25"/>
          <p:cNvSpPr txBox="true"/>
          <p:nvPr/>
        </p:nvSpPr>
        <p:spPr>
          <a:xfrm rot="0">
            <a:off x="780477" y="2359526"/>
            <a:ext cx="6562425" cy="1036320"/>
          </a:xfrm>
          <a:prstGeom prst="rect">
            <a:avLst/>
          </a:prstGeom>
        </p:spPr>
        <p:txBody>
          <a:bodyPr anchor="t" rtlCol="false" tIns="0" lIns="0" bIns="0" rIns="0">
            <a:spAutoFit/>
          </a:bodyPr>
          <a:lstStyle/>
          <a:p>
            <a:pPr algn="l">
              <a:lnSpc>
                <a:spcPts val="1680"/>
              </a:lnSpc>
            </a:pPr>
            <a:r>
              <a:rPr lang="en-US" sz="1200">
                <a:solidFill>
                  <a:srgbClr val="000000"/>
                </a:solidFill>
                <a:latin typeface="Montserrat"/>
                <a:ea typeface="Montserrat"/>
                <a:cs typeface="Montserrat"/>
                <a:sym typeface="Montserrat"/>
              </a:rPr>
              <a:t>Dementia Care Anvayaa is a dedicated caregiving application designed to make dementia support more structured, personalized, and effective for both caregivers and families. It brings together tailored cognitive activities, smart reminders, expert consultations, and service booking in a single platform to simplify daily care management.</a:t>
            </a:r>
          </a:p>
        </p:txBody>
      </p:sp>
      <p:sp>
        <p:nvSpPr>
          <p:cNvPr name="TextBox 26" id="26"/>
          <p:cNvSpPr txBox="true"/>
          <p:nvPr/>
        </p:nvSpPr>
        <p:spPr>
          <a:xfrm rot="0">
            <a:off x="780477" y="5811224"/>
            <a:ext cx="1747116" cy="240665"/>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Technologies :</a:t>
            </a:r>
          </a:p>
        </p:txBody>
      </p:sp>
      <p:sp>
        <p:nvSpPr>
          <p:cNvPr name="TextBox 27" id="27"/>
          <p:cNvSpPr txBox="true"/>
          <p:nvPr/>
        </p:nvSpPr>
        <p:spPr>
          <a:xfrm rot="0">
            <a:off x="3258202" y="5832051"/>
            <a:ext cx="1115962" cy="318823"/>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TypeScript (Supabase)</a:t>
            </a:r>
          </a:p>
        </p:txBody>
      </p:sp>
      <p:sp>
        <p:nvSpPr>
          <p:cNvPr name="TextBox 28" id="28"/>
          <p:cNvSpPr txBox="true"/>
          <p:nvPr/>
        </p:nvSpPr>
        <p:spPr>
          <a:xfrm rot="0">
            <a:off x="1562122" y="3750310"/>
            <a:ext cx="2129091" cy="24066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Del</a:t>
            </a:r>
            <a:r>
              <a:rPr lang="en-US" b="true" sz="1400">
                <a:solidFill>
                  <a:srgbClr val="FFFFFF"/>
                </a:solidFill>
                <a:latin typeface="Montserrat Bold"/>
                <a:ea typeface="Montserrat Bold"/>
                <a:cs typeface="Montserrat Bold"/>
                <a:sym typeface="Montserrat Bold"/>
              </a:rPr>
              <a:t>ivered in 6 Months</a:t>
            </a:r>
          </a:p>
        </p:txBody>
      </p:sp>
      <p:sp>
        <p:nvSpPr>
          <p:cNvPr name="TextBox 29" id="29"/>
          <p:cNvSpPr txBox="true"/>
          <p:nvPr/>
        </p:nvSpPr>
        <p:spPr>
          <a:xfrm rot="0">
            <a:off x="4734892" y="3744528"/>
            <a:ext cx="1889328" cy="24066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6+ AI</a:t>
            </a:r>
            <a:r>
              <a:rPr lang="en-US" b="true" sz="1400">
                <a:solidFill>
                  <a:srgbClr val="FFFFFF"/>
                </a:solidFill>
                <a:latin typeface="Montserrat Bold"/>
                <a:ea typeface="Montserrat Bold"/>
                <a:cs typeface="Montserrat Bold"/>
                <a:sym typeface="Montserrat Bold"/>
              </a:rPr>
              <a:t> systems</a:t>
            </a:r>
          </a:p>
        </p:txBody>
      </p:sp>
      <p:sp>
        <p:nvSpPr>
          <p:cNvPr name="TextBox 30" id="30"/>
          <p:cNvSpPr txBox="true"/>
          <p:nvPr/>
        </p:nvSpPr>
        <p:spPr>
          <a:xfrm rot="0">
            <a:off x="3289353" y="6479475"/>
            <a:ext cx="1115962" cy="156898"/>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Next.js</a:t>
            </a:r>
          </a:p>
        </p:txBody>
      </p:sp>
      <p:sp>
        <p:nvSpPr>
          <p:cNvPr name="TextBox 31" id="31"/>
          <p:cNvSpPr txBox="true"/>
          <p:nvPr/>
        </p:nvSpPr>
        <p:spPr>
          <a:xfrm rot="0">
            <a:off x="5203863" y="5913014"/>
            <a:ext cx="1213574" cy="156898"/>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OpenAI</a:t>
            </a:r>
          </a:p>
        </p:txBody>
      </p:sp>
      <p:sp>
        <p:nvSpPr>
          <p:cNvPr name="TextBox 32" id="32"/>
          <p:cNvSpPr txBox="true"/>
          <p:nvPr/>
        </p:nvSpPr>
        <p:spPr>
          <a:xfrm rot="0">
            <a:off x="5220600" y="6574725"/>
            <a:ext cx="1180100" cy="156898"/>
          </a:xfrm>
          <a:prstGeom prst="rect">
            <a:avLst/>
          </a:prstGeom>
        </p:spPr>
        <p:txBody>
          <a:bodyPr anchor="t" rtlCol="false" tIns="0" lIns="0" bIns="0" rIns="0">
            <a:spAutoFit/>
          </a:bodyPr>
          <a:lstStyle/>
          <a:p>
            <a:pPr algn="l">
              <a:lnSpc>
                <a:spcPts val="1327"/>
              </a:lnSpc>
              <a:spcBef>
                <a:spcPct val="0"/>
              </a:spcBef>
            </a:pPr>
            <a:r>
              <a:rPr lang="en-US" sz="947">
                <a:solidFill>
                  <a:srgbClr val="000000"/>
                </a:solidFill>
                <a:latin typeface="Montserrat"/>
                <a:ea typeface="Montserrat"/>
                <a:cs typeface="Montserrat"/>
                <a:sym typeface="Montserrat"/>
              </a:rPr>
              <a:t>Resend</a:t>
            </a:r>
          </a:p>
        </p:txBody>
      </p:sp>
      <p:sp>
        <p:nvSpPr>
          <p:cNvPr name="TextBox 33" id="33"/>
          <p:cNvSpPr txBox="true"/>
          <p:nvPr/>
        </p:nvSpPr>
        <p:spPr>
          <a:xfrm rot="0">
            <a:off x="1562122" y="4468946"/>
            <a:ext cx="2129091" cy="73596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3x daily pat</a:t>
            </a:r>
            <a:r>
              <a:rPr lang="en-US" b="true" sz="1400">
                <a:solidFill>
                  <a:srgbClr val="FFFFFF"/>
                </a:solidFill>
                <a:latin typeface="Montserrat Bold"/>
                <a:ea typeface="Montserrat Bold"/>
                <a:cs typeface="Montserrat Bold"/>
                <a:sym typeface="Montserrat Bold"/>
              </a:rPr>
              <a:t>ient engagement with personalized games </a:t>
            </a:r>
          </a:p>
        </p:txBody>
      </p:sp>
      <p:sp>
        <p:nvSpPr>
          <p:cNvPr name="TextBox 34" id="34"/>
          <p:cNvSpPr txBox="true"/>
          <p:nvPr/>
        </p:nvSpPr>
        <p:spPr>
          <a:xfrm rot="0">
            <a:off x="4734892" y="4465315"/>
            <a:ext cx="1889328" cy="735965"/>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Montserrat Bold"/>
                <a:ea typeface="Montserrat Bold"/>
                <a:cs typeface="Montserrat Bold"/>
                <a:sym typeface="Montserrat Bold"/>
              </a:rPr>
              <a:t>5/5 sta</a:t>
            </a:r>
            <a:r>
              <a:rPr lang="en-US" b="true" sz="1400">
                <a:solidFill>
                  <a:srgbClr val="FFFFFF"/>
                </a:solidFill>
                <a:latin typeface="Montserrat Bold"/>
                <a:ea typeface="Montserrat Bold"/>
                <a:cs typeface="Montserrat Bold"/>
                <a:sym typeface="Montserrat Bold"/>
              </a:rPr>
              <a:t>r rating with positive family testimonials</a:t>
            </a:r>
          </a:p>
        </p:txBody>
      </p:sp>
      <p:sp>
        <p:nvSpPr>
          <p:cNvPr name="Freeform 35" id="35">
            <a:hlinkClick r:id="rId18" tooltip="https://anvayaa.com"/>
          </p:cNvPr>
          <p:cNvSpPr/>
          <p:nvPr/>
        </p:nvSpPr>
        <p:spPr>
          <a:xfrm flipH="false" flipV="false" rot="0">
            <a:off x="11245738" y="1182422"/>
            <a:ext cx="1708262" cy="639350"/>
          </a:xfrm>
          <a:custGeom>
            <a:avLst/>
            <a:gdLst/>
            <a:ahLst/>
            <a:cxnLst/>
            <a:rect r="r" b="b" t="t" l="l"/>
            <a:pathLst>
              <a:path h="639350" w="1708262">
                <a:moveTo>
                  <a:pt x="0" y="0"/>
                </a:moveTo>
                <a:lnTo>
                  <a:pt x="1708262" y="0"/>
                </a:lnTo>
                <a:lnTo>
                  <a:pt x="1708262" y="639350"/>
                </a:lnTo>
                <a:lnTo>
                  <a:pt x="0" y="639350"/>
                </a:lnTo>
                <a:lnTo>
                  <a:pt x="0" y="0"/>
                </a:lnTo>
                <a:close/>
              </a:path>
            </a:pathLst>
          </a:custGeom>
          <a:blipFill>
            <a:blip r:embed="rId17"/>
            <a:stretch>
              <a:fillRect l="0" t="0" r="0" b="0"/>
            </a:stretch>
          </a:blipFill>
        </p:spPr>
      </p:sp>
      <p:grpSp>
        <p:nvGrpSpPr>
          <p:cNvPr name="Group 36" id="36"/>
          <p:cNvGrpSpPr/>
          <p:nvPr/>
        </p:nvGrpSpPr>
        <p:grpSpPr>
          <a:xfrm rot="0">
            <a:off x="7888781" y="5640319"/>
            <a:ext cx="5260037" cy="1716412"/>
            <a:chOff x="0" y="0"/>
            <a:chExt cx="7013382" cy="2288550"/>
          </a:xfrm>
        </p:grpSpPr>
        <p:sp>
          <p:nvSpPr>
            <p:cNvPr name="TextBox 37" id="37"/>
            <p:cNvSpPr txBox="true"/>
            <p:nvPr/>
          </p:nvSpPr>
          <p:spPr>
            <a:xfrm rot="0">
              <a:off x="1650647" y="41490"/>
              <a:ext cx="5278857" cy="223308"/>
            </a:xfrm>
            <a:prstGeom prst="rect">
              <a:avLst/>
            </a:prstGeom>
          </p:spPr>
          <p:txBody>
            <a:bodyPr anchor="t" rtlCol="false" tIns="0" lIns="0" bIns="0" rIns="0">
              <a:spAutoFit/>
            </a:bodyPr>
            <a:lstStyle/>
            <a:p>
              <a:pPr algn="l">
                <a:lnSpc>
                  <a:spcPts val="1400"/>
                </a:lnSpc>
                <a:spcBef>
                  <a:spcPct val="0"/>
                </a:spcBef>
              </a:pPr>
              <a:r>
                <a:rPr lang="en-US" sz="1000">
                  <a:solidFill>
                    <a:srgbClr val="000000"/>
                  </a:solidFill>
                  <a:latin typeface="Montserrat"/>
                  <a:ea typeface="Montserrat"/>
                  <a:cs typeface="Montserrat"/>
                  <a:sym typeface="Montserrat"/>
                </a:rPr>
                <a:t>Healthcare, Elder Care, Dementia Care, Caregiver Support</a:t>
              </a:r>
            </a:p>
          </p:txBody>
        </p:sp>
        <p:sp>
          <p:nvSpPr>
            <p:cNvPr name="TextBox 38" id="38"/>
            <p:cNvSpPr txBox="true"/>
            <p:nvPr/>
          </p:nvSpPr>
          <p:spPr>
            <a:xfrm rot="0">
              <a:off x="1371835" y="-28575"/>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39" id="39"/>
            <p:cNvSpPr txBox="true"/>
            <p:nvPr/>
          </p:nvSpPr>
          <p:spPr>
            <a:xfrm rot="0">
              <a:off x="0" y="-28575"/>
              <a:ext cx="1407355" cy="311362"/>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Industry</a:t>
              </a:r>
            </a:p>
          </p:txBody>
        </p:sp>
        <p:sp>
          <p:nvSpPr>
            <p:cNvPr name="TextBox 40" id="40"/>
            <p:cNvSpPr txBox="true"/>
            <p:nvPr/>
          </p:nvSpPr>
          <p:spPr>
            <a:xfrm rot="0">
              <a:off x="0" y="539623"/>
              <a:ext cx="1407355" cy="311362"/>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Problem</a:t>
              </a:r>
            </a:p>
          </p:txBody>
        </p:sp>
        <p:sp>
          <p:nvSpPr>
            <p:cNvPr name="TextBox 41" id="41"/>
            <p:cNvSpPr txBox="true"/>
            <p:nvPr/>
          </p:nvSpPr>
          <p:spPr>
            <a:xfrm rot="0">
              <a:off x="1650647" y="584496"/>
              <a:ext cx="5362735" cy="451908"/>
            </a:xfrm>
            <a:prstGeom prst="rect">
              <a:avLst/>
            </a:prstGeom>
          </p:spPr>
          <p:txBody>
            <a:bodyPr anchor="t" rtlCol="false" tIns="0" lIns="0" bIns="0" rIns="0">
              <a:spAutoFit/>
            </a:bodyPr>
            <a:lstStyle/>
            <a:p>
              <a:pPr algn="l">
                <a:lnSpc>
                  <a:spcPts val="1400"/>
                </a:lnSpc>
                <a:spcBef>
                  <a:spcPct val="0"/>
                </a:spcBef>
              </a:pPr>
              <a:r>
                <a:rPr lang="en-US" sz="1000">
                  <a:solidFill>
                    <a:srgbClr val="000000"/>
                  </a:solidFill>
                  <a:latin typeface="Montserrat"/>
                  <a:ea typeface="Montserrat"/>
                  <a:cs typeface="Montserrat"/>
                  <a:sym typeface="Montserrat"/>
                </a:rPr>
                <a:t>Caregivers struggle to</a:t>
              </a:r>
              <a:r>
                <a:rPr lang="en-US" sz="1000">
                  <a:solidFill>
                    <a:srgbClr val="000000"/>
                  </a:solidFill>
                  <a:latin typeface="Montserrat"/>
                  <a:ea typeface="Montserrat"/>
                  <a:cs typeface="Montserrat"/>
                  <a:sym typeface="Montserrat"/>
                </a:rPr>
                <a:t> manage structured dementia care, track routines, and provide consistent cognitive engagement.</a:t>
              </a:r>
            </a:p>
          </p:txBody>
        </p:sp>
        <p:sp>
          <p:nvSpPr>
            <p:cNvPr name="TextBox 42" id="42"/>
            <p:cNvSpPr txBox="true"/>
            <p:nvPr/>
          </p:nvSpPr>
          <p:spPr>
            <a:xfrm rot="0">
              <a:off x="1371835" y="508296"/>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3" id="43"/>
            <p:cNvSpPr txBox="true"/>
            <p:nvPr/>
          </p:nvSpPr>
          <p:spPr>
            <a:xfrm rot="0">
              <a:off x="0" y="1116963"/>
              <a:ext cx="1407355" cy="311362"/>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Solution</a:t>
              </a:r>
            </a:p>
          </p:txBody>
        </p:sp>
        <p:sp>
          <p:nvSpPr>
            <p:cNvPr name="TextBox 44" id="44"/>
            <p:cNvSpPr txBox="true"/>
            <p:nvPr/>
          </p:nvSpPr>
          <p:spPr>
            <a:xfrm rot="0">
              <a:off x="1650647" y="1182454"/>
              <a:ext cx="5278857" cy="442383"/>
            </a:xfrm>
            <a:prstGeom prst="rect">
              <a:avLst/>
            </a:prstGeom>
          </p:spPr>
          <p:txBody>
            <a:bodyPr anchor="t" rtlCol="false" tIns="0" lIns="0" bIns="0" rIns="0">
              <a:spAutoFit/>
            </a:bodyPr>
            <a:lstStyle/>
            <a:p>
              <a:pPr algn="l">
                <a:lnSpc>
                  <a:spcPts val="1399"/>
                </a:lnSpc>
                <a:spcBef>
                  <a:spcPct val="0"/>
                </a:spcBef>
              </a:pPr>
              <a:r>
                <a:rPr lang="en-US" sz="999">
                  <a:solidFill>
                    <a:srgbClr val="000000"/>
                  </a:solidFill>
                  <a:latin typeface="Montserrat"/>
                  <a:ea typeface="Montserrat"/>
                  <a:cs typeface="Montserrat"/>
                  <a:sym typeface="Montserrat"/>
                </a:rPr>
                <a:t>A single platform for personalized activities, reminders, expert support, and service coordination.</a:t>
              </a:r>
            </a:p>
          </p:txBody>
        </p:sp>
        <p:sp>
          <p:nvSpPr>
            <p:cNvPr name="TextBox 45" id="45"/>
            <p:cNvSpPr txBox="true"/>
            <p:nvPr/>
          </p:nvSpPr>
          <p:spPr>
            <a:xfrm rot="0">
              <a:off x="1371835" y="1096541"/>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sp>
          <p:nvSpPr>
            <p:cNvPr name="TextBox 46" id="46"/>
            <p:cNvSpPr txBox="true"/>
            <p:nvPr/>
          </p:nvSpPr>
          <p:spPr>
            <a:xfrm rot="0">
              <a:off x="0" y="1781185"/>
              <a:ext cx="1173329" cy="311362"/>
            </a:xfrm>
            <a:prstGeom prst="rect">
              <a:avLst/>
            </a:prstGeom>
          </p:spPr>
          <p:txBody>
            <a:bodyPr anchor="t" rtlCol="false" tIns="0" lIns="0" bIns="0" rIns="0">
              <a:spAutoFit/>
            </a:bodyPr>
            <a:lstStyle/>
            <a:p>
              <a:pPr algn="l">
                <a:lnSpc>
                  <a:spcPts val="1960"/>
                </a:lnSpc>
              </a:pPr>
              <a:r>
                <a:rPr lang="en-US" sz="1400" b="true">
                  <a:solidFill>
                    <a:srgbClr val="000000"/>
                  </a:solidFill>
                  <a:latin typeface="Montserrat Bold"/>
                  <a:ea typeface="Montserrat Bold"/>
                  <a:cs typeface="Montserrat Bold"/>
                  <a:sym typeface="Montserrat Bold"/>
                </a:rPr>
                <a:t>Impact</a:t>
              </a:r>
            </a:p>
          </p:txBody>
        </p:sp>
        <p:sp>
          <p:nvSpPr>
            <p:cNvPr name="TextBox 47" id="47"/>
            <p:cNvSpPr txBox="true"/>
            <p:nvPr/>
          </p:nvSpPr>
          <p:spPr>
            <a:xfrm rot="0">
              <a:off x="1650647" y="1846166"/>
              <a:ext cx="5278857" cy="442383"/>
            </a:xfrm>
            <a:prstGeom prst="rect">
              <a:avLst/>
            </a:prstGeom>
          </p:spPr>
          <p:txBody>
            <a:bodyPr anchor="t" rtlCol="false" tIns="0" lIns="0" bIns="0" rIns="0">
              <a:spAutoFit/>
            </a:bodyPr>
            <a:lstStyle/>
            <a:p>
              <a:pPr algn="l">
                <a:lnSpc>
                  <a:spcPts val="1399"/>
                </a:lnSpc>
                <a:spcBef>
                  <a:spcPct val="0"/>
                </a:spcBef>
              </a:pPr>
              <a:r>
                <a:rPr lang="en-US" sz="999">
                  <a:solidFill>
                    <a:srgbClr val="000000"/>
                  </a:solidFill>
                  <a:latin typeface="Montserrat"/>
                  <a:ea typeface="Montserrat"/>
                  <a:cs typeface="Montserrat"/>
                  <a:sym typeface="Montserrat"/>
                </a:rPr>
                <a:t>Reduced c</a:t>
              </a:r>
              <a:r>
                <a:rPr lang="en-US" sz="999">
                  <a:solidFill>
                    <a:srgbClr val="000000"/>
                  </a:solidFill>
                  <a:latin typeface="Montserrat"/>
                  <a:ea typeface="Montserrat"/>
                  <a:cs typeface="Montserrat"/>
                  <a:sym typeface="Montserrat"/>
                </a:rPr>
                <a:t>aregiver burden, improved patient engagement, and better daily care consistency.</a:t>
              </a:r>
            </a:p>
          </p:txBody>
        </p:sp>
        <p:sp>
          <p:nvSpPr>
            <p:cNvPr name="TextBox 48" id="48"/>
            <p:cNvSpPr txBox="true"/>
            <p:nvPr/>
          </p:nvSpPr>
          <p:spPr>
            <a:xfrm rot="0">
              <a:off x="1371835" y="1765522"/>
              <a:ext cx="71041" cy="342688"/>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Montserrat Bold"/>
                  <a:ea typeface="Montserrat Bold"/>
                  <a:cs typeface="Montserrat Bold"/>
                  <a:sym typeface="Montserrat Bold"/>
                </a:rPr>
                <a: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DAHET2-IyO4</dc:identifier>
  <dcterms:modified xsi:type="dcterms:W3CDTF">2011-08-01T06:04:30Z</dcterms:modified>
  <cp:revision>1</cp:revision>
  <dc:title>Sales Collateral Document</dc:title>
</cp:coreProperties>
</file>