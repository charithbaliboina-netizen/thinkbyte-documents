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ThinkByte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B82F6"/>
                </a:solidFill>
                <a:latin typeface="Calibri"/>
              </a:defRPr>
            </a:pPr>
            <a:r>
              <a:t>Managed AI Teams That Deliver Enterprise AI</a:t>
            </a:r>
            <a:br/>
            <a:r>
              <a:t>at 70-88% Lower Cost with a 2x Speed Guarantee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017520"/>
            <a:ext cx="4114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32918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700" b="1">
                <a:solidFill>
                  <a:srgbClr val="F59E0B"/>
                </a:solidFill>
                <a:latin typeface="Calibri"/>
              </a:defRPr>
            </a:pPr>
            <a:r>
              <a:t>Managed AI Teams  |  DevByte-Accelerated Delivery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20+ Production AI Systems Shipped</a:t>
            </a: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30+ Agent Orchestration &amp; AI Engineers</a:t>
            </a: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India-US Talent Corridor: Silicon Valley Strategy + Bangalore Engineering</a:t>
            </a: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BITS Pilani + XLRI + MediBuddy Leadership Pedigree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7160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417320"/>
            <a:ext cx="329183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COST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1089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70-88% lower than US-native rates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PM + Tech Lead included at no extra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74320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2788920"/>
            <a:ext cx="32918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SPEED GUARANTEE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91840"/>
            <a:ext cx="31089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2x faster delivery or 15% refund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DevByte AI agents accelerate every sprint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114800"/>
            <a:ext cx="3474720" cy="10972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4160520"/>
            <a:ext cx="32918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297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PROVEN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663440"/>
            <a:ext cx="310896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860-3,080% growth across 4 case studies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99.5% system uptime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Confidential  |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Every Enterprise Will Be AI-Native by 2028.</a:t>
            </a:r>
            <a:br/>
            <a:r>
              <a:t>The Only Question Is Who Gets There First.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800" b="1">
                <a:solidFill>
                  <a:srgbClr val="2563EB"/>
                </a:solidFill>
                <a:latin typeface="Calibri"/>
              </a:defRPr>
            </a:pPr>
            <a:r>
              <a:t>The Platform Shift Is Structural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Cloud defined the 2010s. Mobile defined the 2015s.</a:t>
            </a:r>
          </a:p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AI Agents will define the rest of this decade.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Enterprises that operationalize AI-native workflows</a:t>
            </a: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first will compound advantages that late movers</a:t>
            </a: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cannot replicate. This is not incremental improvement.</a:t>
            </a:r>
          </a:p>
          <a:p>
            <a:pPr>
              <a:spcAft>
                <a:spcPts val="480"/>
              </a:spcAft>
              <a:defRPr sz="1400" b="0">
                <a:solidFill>
                  <a:srgbClr val="E5E7EB"/>
                </a:solidFill>
                <a:latin typeface="Calibri"/>
              </a:defRPr>
            </a:pPr>
            <a:r>
              <a:t>It is a structural shift in how work gets done.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The question isn't whether to adopt AI agents.</a:t>
            </a:r>
          </a:p>
          <a:p>
            <a:pPr>
              <a:spcAft>
                <a:spcPts val="480"/>
              </a:spcAft>
              <a:defRPr sz="1400" b="0">
                <a:solidFill>
                  <a:srgbClr val="F59E0B"/>
                </a:solidFill>
                <a:latin typeface="Calibri"/>
              </a:defRPr>
            </a:pPr>
            <a:r>
              <a:t>It's whether you have the team to ship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10312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2148839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2286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ENTERPRISE AI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651760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72% of Fortune 500 initiated AI agent projects in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3246120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3832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749039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agent market projected to exceed $65B by 2028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429768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4343400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4805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DEVELOPER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846320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26% increase in completed tasks with AI assistants (GitHub)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539496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5440680"/>
            <a:ext cx="43891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5577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ADOPTION 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943600"/>
            <a:ext cx="42062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51% of enterprise developers now using AI code copilots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87% of AI Projects Never Reach Production Because</a:t>
            </a:r>
            <a:br/>
            <a:r>
              <a:t>the Talent-Execution Gap Is Structural, Not Tactical.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201168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3774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423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TALENT SCARCITY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9260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&lt; 5,000 production-grade LangGraph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engineers exist worldwide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4-6 months average hiring time for AI roles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$180K-$250K/yr fully loaded cost (US)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Single hire = single point of failure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3774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423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EXECUTION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29260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Solo freelancers ghost on complex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projects ~60% of the time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Offshore shops deliver demos, not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production systems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No accountability after handoff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423160"/>
            <a:ext cx="310896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CAPITAL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926080"/>
            <a:ext cx="292608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Average failed AI pilot costs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$500K-$2M in wasted resources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Time, talent, and opportunity cost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compound with every failed attempt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Most pilots never reach production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STRATEGIC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How can enterprises operationalize AI at speed while mitigating technical risk and controlling cost?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ThinkByte's Managed AI Team Model Closes the</a:t>
            </a:r>
            <a:br/>
            <a:r>
              <a:t>Implementation Gap Through Three Interlocking Mechanisms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8288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945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79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INDIA-US TALENT CORRIDOR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Solves: Talent Scarcity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30+ vetted AI/ML engineers on bench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70-88% cost savings vs US market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Team deployed in 2 weeks, not 4-6 months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PM + Tech Lead + Architect included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No hiring risk. No single point of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945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240279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DEVBYTE AI ACCELERATION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Solves: Execution Failure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agents work alongside engineers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2-3x faster delivery velocity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90% one-shot success on routine tasks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3-tier knowledge = context quality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Every engineer becomes a 3x engineer.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194560"/>
            <a:ext cx="3291840" cy="3200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79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CONTRACTUAL GUARANTEES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43200"/>
            <a:ext cx="2926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Solves: Capital Risk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2x faster delivery or 15% refund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7-day engineer replacement SLA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12-month price lock guarantee</a:t>
            </a:r>
          </a:p>
          <a:p>
            <a:pPr>
              <a:spcAft>
                <a:spcPts val="359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100% IP ownership from day one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Risk transferred to ThinkByte.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THE FLYWHEEL:  Scope projects validate ROI  --&gt;  Managed teams scale delivery  --&gt;  DevByte accelerates every sprint  --&gt; 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MANAGED AI TEAMS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Managed AI Team Model Replaces the Hire-or-Outsource</a:t>
            </a:r>
            <a:br/>
            <a:r>
              <a:t>Dilemma with a Third Option That Outperforms Both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011680"/>
                <a:gridCol w="2011680"/>
                <a:gridCol w="30175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Internal Hire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Solo Freelancer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Offshore Shop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ThinkByte Managed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Time to Start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4-6 months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1-2 weeks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2-4 weeks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2 weeks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Monthly Cost (3 eng)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$35K-$45K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$15K-$25K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$8K-$15K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$5.5K-$6.5K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Accountability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Low (ghost risk)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Contractual SLA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AI Specialization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Rare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LangGraph-native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Scalability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Slow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7-day add/replace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IP Ownership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 guaranteed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Speed Guarantee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2x or 15% refund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Every Managed Team Includes: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166359"/>
            <a:ext cx="2377439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79"/>
            <a:ext cx="219456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Dedicated AI/ML engineers,</a:t>
            </a:r>
            <a:br/>
            <a:r>
              <a:t>backend, frontend specialists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59" y="512064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5166359"/>
            <a:ext cx="2377439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5669279"/>
            <a:ext cx="219456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PM coordination + Tech Lead +</a:t>
            </a:r>
            <a:br/>
            <a:r>
              <a:t>Architect at no extra cost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799" y="512064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39" y="5166359"/>
            <a:ext cx="2377439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5669279"/>
            <a:ext cx="219456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Daily standups, sprint cycles,</a:t>
            </a:r>
            <a:br/>
            <a:r>
              <a:t>weekly reports, Slack/Teams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5120640"/>
            <a:ext cx="256032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5166359"/>
            <a:ext cx="2377439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5303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ACCELERATION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19" y="5669279"/>
            <a:ext cx="219456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DevByte AI agents working</a:t>
            </a:r>
            <a:br/>
            <a:r>
              <a:t>alongside your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COST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India-US Talent Corridor Delivers a 70-88%</a:t>
            </a:r>
            <a:br/>
            <a:r>
              <a:t>Force Multiplier on Engineering Spend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46304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55448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ThinkByte / mo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 Market / mo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AI/ML Engineer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$13,000-15,000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78-81%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Backend Sr (Python)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$2,800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$12,000-14,000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77-80%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Frontend Engineer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$1,500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$10,000-12,000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85-88%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Full Stack (Mid-Sr)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$2,100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$11,000-13,000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81-84%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PM / Coordinator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$8,000-10,000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52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Tech Lead / Architect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Included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5E7EB"/>
                          </a:solidFill>
                          <a:latin typeface="Calibri"/>
                        </a:defRPr>
                      </a:pPr>
                      <a:r>
                        <a:t>$14,000-18,000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111B2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Sample Team Configurations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10312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2148839"/>
            <a:ext cx="3931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2286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STARTER: 3-ENGINEER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65176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ThinkByte: $5,500-$6,500/month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US Equivalent: $35,000-$45,000/month</a:t>
            </a:r>
          </a:p>
          <a:p>
            <a:pPr>
              <a:spcAft>
                <a:spcPts val="359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Savings: $29,500-$38,500/month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474720"/>
            <a:ext cx="411480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06640" y="3520439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36576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GROWTH: 5-ENGINEER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4023359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ThinkByte: $9,000-$11,000/month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US Equivalent: $55,000-$75,000/month</a:t>
            </a:r>
          </a:p>
          <a:p>
            <a:pPr>
              <a:spcAft>
                <a:spcPts val="359"/>
              </a:spcAft>
              <a:defRPr sz="1200" b="0">
                <a:solidFill>
                  <a:srgbClr val="F59E0B"/>
                </a:solidFill>
                <a:latin typeface="Calibri"/>
              </a:defRPr>
            </a:pPr>
            <a:r>
              <a:t>Savings: $46,000-$64,000/month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ANNUAL IMPACT: 3-ENGINEER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Annual Savings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$354K-$462K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Hiring Time Saved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12-18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Hidden Costs Avoided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Benefits, office,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9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Price 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5623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12-month guarantee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OPERATIONAL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From Discovery Call to Full Velocity in 14 Days.</a:t>
            </a:r>
            <a:br/>
            <a:r>
              <a:t>Not 14 Weeks of Recruiting.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46304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2024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Day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Discovery 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Project goals, team needs,</a:t>
            </a:r>
            <a:br/>
            <a:r>
              <a:t>constraints, ROI projection</a:t>
            </a:r>
          </a:p>
        </p:txBody>
      </p:sp>
      <p:sp>
        <p:nvSpPr>
          <p:cNvPr id="10" name="Oval 9"/>
          <p:cNvSpPr/>
          <p:nvPr/>
        </p:nvSpPr>
        <p:spPr>
          <a:xfrm>
            <a:off x="370332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7180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Day 3-5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Team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Custom configuration,</a:t>
            </a:r>
            <a:br/>
            <a:r>
              <a:t>pricing, team profiles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1208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Day 5-7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NDA, kick-off, repo setup,</a:t>
            </a:r>
            <a:br/>
            <a:r>
              <a:t>access provisioning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173736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41080" y="1965960"/>
            <a:ext cx="1783080" cy="0"/>
          </a:xfrm>
          <a:prstGeom prst="line">
            <a:avLst/>
          </a:prstGeom>
          <a:ln w="127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Sprint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Architecture planning,</a:t>
            </a:r>
            <a:br/>
            <a:r>
              <a:t>tooling setup, backlog</a:t>
            </a:r>
          </a:p>
        </p:txBody>
      </p:sp>
      <p:sp>
        <p:nvSpPr>
          <p:cNvPr id="25" name="Oval 24"/>
          <p:cNvSpPr/>
          <p:nvPr/>
        </p:nvSpPr>
        <p:spPr>
          <a:xfrm>
            <a:off x="10424160" y="17373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2860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Week 2+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Full Velocity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26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5E7EB"/>
                </a:solidFill>
                <a:latin typeface="Calibri"/>
              </a:defRPr>
            </a:pPr>
            <a:r>
              <a:t>Daily standups, sprints,</a:t>
            </a:r>
            <a:br/>
            <a:r>
              <a:t>weekly reports, demos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Engagement Models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29768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434340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Monthly FTE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46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for: Ongoing product development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Minimum: 6 months min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Payment: Monthly advance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29768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59" y="434340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Hourly Retainer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846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for: POC / exploration phase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Minimum: 10 hours min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Payment: Weekly prepaid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297680"/>
            <a:ext cx="3291840" cy="13716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434340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Fixed Scope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463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Best for: Defined deliverable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Minimum: $5K minimum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Payment: Milestone-based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Working Hours: Mon-Fri, 9-hour window within 09:00-21:00 IST  |  Overlaps US mornings + EU afternoons  |  Dedicated Slack/Teams channel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DEVBYTE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DevByte Turns Every Engineer into a 3x Engineer</a:t>
            </a:r>
            <a:br/>
            <a:r>
              <a:t>by Automating the Execution Layer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B82F6"/>
                </a:solidFill>
                <a:latin typeface="Calibri"/>
              </a:defRPr>
            </a:pPr>
            <a:r>
              <a:t>"Jira meets AI coding agents" - Project management + autonomous AI code execution in one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1.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planning agents create PRDs,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architecture docs, and stories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Agents: Analyst, PM, Architect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Output: Specs + knowledge 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214884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2.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51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AI coding agents execute tasks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 isolated Git worktrees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90% one-shot success rate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Parallel story development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Real-time progress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291840" cy="27432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4884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3. REVIEW &amp;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51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Human review + approval gates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Merge conflict resolution agent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Push to GitHub, raise PRs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Sequential merging ensures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code integrity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0D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66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WHY THIS MATTERS FOR YOUR MANAGED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40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Humans focus on: Strategy, architecture, complex logic, quality review, your business domain</a:t>
            </a:r>
          </a:p>
          <a:p>
            <a:pPr>
              <a:spcAft>
                <a:spcPts val="480"/>
              </a:spcAft>
              <a:defRPr sz="1300" b="0">
                <a:solidFill>
                  <a:srgbClr val="E5E7EB"/>
                </a:solidFill>
                <a:latin typeface="Calibri"/>
              </a:defRPr>
            </a:pPr>
            <a:r>
              <a:t>AI agents handle: Boilerplate, CRUD, testing, documentation, routine features, code generation</a:t>
            </a:r>
          </a:p>
          <a:p>
            <a:pPr>
              <a:spcAft>
                <a:spcPts val="48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80"/>
              </a:spcAft>
              <a:defRPr sz="1300" b="1">
                <a:solidFill>
                  <a:srgbClr val="F59E0B"/>
                </a:solidFill>
                <a:latin typeface="Calibri"/>
              </a:defRPr>
            </a:pPr>
            <a:r>
              <a:t>Result: A 3-engineer ThinkByte team delivers what normally requires 5-7 engineers.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PRODUCTION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860-3,080% Growth Across Four Production Deployments Proves the Model Works.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18872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4630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512064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SEOByte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Multi-Agent SEO Platform  |  5 months to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Keyword research:  1 week -&gt; 30 min (99.6% faster)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Traffic growth:  860-3,080% increases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API costs:  80%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59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GPT-4, Pinecone, 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5120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NinjaHire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7452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Recruitment Platform  |  6 months to 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9456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Screening:  2 days -&gt; 2 hours (90% faster)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Cost per hire:  60% reduction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Operations:  80% automated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7559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LangSmith, MS Teams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069080"/>
            <a:ext cx="512064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Anvayaa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Patent-Pending Dementia Care  |  6 months to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Caregiver stress:  40% reduction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Rating:  5/5 stars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Innovation:  Patent application filed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Flutter, LangGraph, TensorFlow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0233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4069080"/>
            <a:ext cx="51206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16052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Piaxis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34840"/>
            <a:ext cx="4937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Architectural AI Automation  |  4 months to production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54880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Detailing time:  80% reduction (1 wk -&gt; 8 hrs)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Firms using:  5-20 in production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Hours saved:  500-1,000+ per firm/year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897880"/>
            <a:ext cx="49377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Tech: LangGraph, .NET/C#, Weaviate, AWS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B82F6"/>
                </a:solidFill>
                <a:latin typeface="Calibri"/>
              </a:defRPr>
            </a:pPr>
            <a:r>
              <a:t>CASE STUDY: PIAXIS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4-Person Managed Team Delivered an Enterprise Revit Platform</a:t>
            </a:r>
            <a:br/>
            <a:r>
              <a:t>in 4 Months That Saves Firms 500-1,000+ Hours Per Year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6634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Architectural firms spend 30-40% of project time 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repetitive construction documentation in Autodesk Revit.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Piaxis needed production-ready AI automation without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disrupting existing Revit workflows or requiring data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54679"/>
            <a:ext cx="4846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WHAT WE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.NET/C# Revit plugin with intuitive toolbar + Design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Automation API integration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Python AI engine: LangGraph + Weaviate for intelligent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detail generation from architectural context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FastAPI backend with multi-tenant architecture on AWS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Next.js admin platform for firm analytics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Real-time Revit sync with zero data export required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Measured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Detailing Time</a:t>
            </a:r>
            <a:br/>
            <a:r>
              <a:t>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1 week -&gt; 8 hours</a:t>
            </a:r>
            <a:br/>
            <a:r>
              <a:t>per project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0116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5-20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Firms Using</a:t>
            </a:r>
            <a:br/>
            <a:r>
              <a:t>in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Active enterprise</a:t>
            </a:r>
            <a:br/>
            <a:r>
              <a:t>client 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3832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500-1K+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Annual Hours</a:t>
            </a:r>
            <a:br/>
            <a:r>
              <a:t>Saved Per Firm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Directly measurable</a:t>
            </a:r>
            <a:br/>
            <a:r>
              <a:t>ROI for clients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3832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System</a:t>
            </a:r>
            <a:br/>
            <a:r>
              <a:t>Uptime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Enterprise-grade</a:t>
            </a:r>
            <a:br/>
            <a:r>
              <a:t>reliability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2064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1663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MANAGED TEAM DELIVERY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44068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Team: 4-person focused squad</a:t>
            </a:r>
          </a:p>
          <a:p>
            <a:pPr>
              <a:spcAft>
                <a:spcPts val="48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Timeline: Concept to production in 4 months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Model: Monthly FTE engagement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4406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Tech Stack: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Python, LangGraph, Weaviate, FastAPI, .NET/C#,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React, Next.js, TypeScript, AWS (EC2, Lambda, S3),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PostgreSQL, Redis, Docker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CASE STUDY: DEVBYTE + GVS-DECK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 Managed Team Deployed AI-Driven Firmware Development</a:t>
            </a:r>
            <a:br/>
            <a:r>
              <a:t>with Zero MISRA Violations and 60-70% Compliance Time Reclaimed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4846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663440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GVS-DECK: Railway electronics for safety-critical systems.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6 firmware engineers spending 40-60 hrs/month on MISRA</a:t>
            </a:r>
          </a:p>
          <a:p>
            <a:pPr>
              <a:spcAft>
                <a:spcPts val="359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compliance documentation and manual verification.</a:t>
            </a:r>
          </a:p>
          <a:p>
            <a:pPr>
              <a:spcAft>
                <a:spcPts val="359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Needed: EN 50128 + MISRA C:2025 compliant AI automation.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3154679"/>
            <a:ext cx="48463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WHAT WE DELIVERED (9-WEEK ROLLOUT)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Phase 1 (Wk 1-3): Foundation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AI plugin on 6 STM32CubeIDE machines, CI/CD + MISRA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pipeline, Claude integration + MCP server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F59E0B"/>
                </a:solidFill>
                <a:latin typeface="Calibri"/>
              </a:defRPr>
            </a:pPr>
            <a:r>
              <a:t>Phase 2 (Wk 4-6): Knowledge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20+ modules indexed into knowledge base, coding standards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captured via RAG, GVS-specific prompts + templates</a:t>
            </a:r>
          </a:p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</a:p>
          <a:p>
            <a:pPr>
              <a:spcAft>
                <a:spcPts val="359"/>
              </a:spcAft>
              <a:defRPr sz="1200" b="1">
                <a:solidFill>
                  <a:srgbClr val="10B981"/>
                </a:solidFill>
                <a:latin typeface="Calibri"/>
              </a:defRPr>
            </a:pPr>
            <a:r>
              <a:t>Phase 3 (Wk 7-9): Custom Agents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MISRA Agent + MISRA Fixer, HAL Generator for peripheral</a:t>
            </a:r>
          </a:p>
          <a:p>
            <a:pPr>
              <a:spcAft>
                <a:spcPts val="359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init code, all 6 devs + IT admin 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Measured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0116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MISRA Violations</a:t>
            </a:r>
            <a:br/>
            <a:r>
              <a:t>on First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Compliant firmware</a:t>
            </a:r>
            <a:br/>
            <a:r>
              <a:t>generated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0116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60-70%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Compliance Time</a:t>
            </a:r>
            <a:br/>
            <a:r>
              <a:t>Reclaimed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30-40 hrs saved per</a:t>
            </a:r>
            <a:br/>
            <a:r>
              <a:t>engineer per month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3832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One-Shot Success</a:t>
            </a:r>
            <a:br/>
            <a:r>
              <a:t>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Routine tasks: HAL configs,</a:t>
            </a:r>
            <a:br/>
            <a:r>
              <a:t>protocol handlers, bug fixes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52560" y="3383280"/>
            <a:ext cx="2377440" cy="11887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Calibri"/>
              </a:defRPr>
            </a:pPr>
            <a:r>
              <a:t>6 wks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794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Faster Time</a:t>
            </a:r>
            <a:br/>
            <a:r>
              <a:t>to Market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1148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E7EB"/>
                </a:solidFill>
                <a:latin typeface="Calibri"/>
              </a:defRPr>
            </a:pPr>
            <a:r>
              <a:t>Per product release</a:t>
            </a:r>
            <a:br/>
            <a:r>
              <a:t>cycle improvement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54880"/>
            <a:ext cx="5212080" cy="82296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800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  <a:r>
              <a:t>MCU: STM32H743ZI  |  Flash: W25Q02 (QSPI)  |  ADC: MCP3564</a:t>
            </a:r>
          </a:p>
          <a:p>
            <a:pPr>
              <a:spcAft>
                <a:spcPts val="480"/>
              </a:spcAft>
              <a:defRPr sz="1000" b="0">
                <a:solidFill>
                  <a:srgbClr val="E5E7EB"/>
                </a:solidFill>
                <a:latin typeface="Calibri"/>
              </a:defRPr>
            </a:pPr>
            <a:r>
              <a:t>Protocols: KAVACH RS485 | QUADSPI | SPI DMA | UART DMA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76072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58064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MANAGED TEAM:  6 engineers on Embed-Byte  |  DevByte 3-tier knowledge powering all agent workflows</a:t>
            </a:r>
          </a:p>
          <a:p>
            <a:pPr>
              <a:spcAft>
                <a:spcPts val="480"/>
              </a:spcAft>
              <a:defRPr sz="1200" b="0">
                <a:solidFill>
                  <a:srgbClr val="10B981"/>
                </a:solidFill>
                <a:latin typeface="Calibri"/>
              </a:defRPr>
            </a:pPr>
            <a:r>
              <a:t>This is what ThinkByte's managed teams + DevByte platform look like in production - applied to safety-critical firmware.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RISK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Every Engagement Includes Contractual Guarantees</a:t>
            </a:r>
            <a:br/>
            <a:r>
              <a:t>That Transfer Risk from Client to ThinkByte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371600"/>
            <a:ext cx="384048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2x SPEED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If we don't deliver at 2x the speed</a:t>
            </a:r>
            <a:br/>
            <a:r>
              <a:t>of your current team, receive a</a:t>
            </a:r>
            <a:br/>
            <a:r>
              <a:t>15% refund on the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9164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7-DAY REPLACEMENT SLA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Any engineer not meeting standards</a:t>
            </a:r>
            <a:br/>
            <a:r>
              <a:t>is replaced within 7 business days.</a:t>
            </a:r>
            <a:br/>
            <a:r>
              <a:t>No disruption to your project.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9164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12-MONTH PRICE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Your rates are locked for 12 months.</a:t>
            </a:r>
            <a:br/>
            <a:r>
              <a:t>No surprise increases. Budget with</a:t>
            </a:r>
            <a:br/>
            <a:r>
              <a:t>complete certainty.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61188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100% IP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All code, documentation, and IP</a:t>
            </a:r>
            <a:br/>
            <a:r>
              <a:t>belong to you from day one.</a:t>
            </a:r>
            <a:br/>
            <a:r>
              <a:t>No licensing, no restrictions.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3611880"/>
            <a:ext cx="31089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STANDARD NDA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Full confidentiality agreement</a:t>
            </a:r>
            <a:br/>
            <a:r>
              <a:t>executed before any work begins.</a:t>
            </a:r>
            <a:br/>
            <a:r>
              <a:t>Your data stays your data.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566160"/>
            <a:ext cx="3291840" cy="16459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61188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749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SCOPE-TO-FTE BRIDGE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1148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50% of POC fees credited toward</a:t>
            </a:r>
            <a:br/>
            <a:r>
              <a:t>full-time engagement. Low-risk</a:t>
            </a:r>
            <a:br/>
            <a:r>
              <a:t>entry to long-term partnership.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109728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492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THE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Traditional outsourcing transfers risk TO the client. ThinkByte's model transfers risk FROM the client.</a:t>
            </a:r>
          </a:p>
          <a:p>
            <a:pPr>
              <a:spcAft>
                <a:spcPts val="480"/>
              </a:spcAft>
              <a:defRPr sz="1300" b="0">
                <a:solidFill>
                  <a:srgbClr val="10B981"/>
                </a:solidFill>
                <a:latin typeface="Calibri"/>
              </a:defRPr>
            </a:pPr>
            <a:r>
              <a:t>Every guarantee is contractual, not aspirational.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BITS Pilani Engineering + MediBuddy Scale +</a:t>
            </a:r>
            <a:br/>
            <a:r>
              <a:t>20+ Production AI Systems = Execution Certainty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280160"/>
            <a:ext cx="384048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554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SriHarsha Thota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Calibri"/>
              </a:defRPr>
            </a:pPr>
            <a:r>
              <a:t>Co-Founder &amp;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B.E., BITS Pilani (2009-2013)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VP Consumer Growth, MediBuddy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Delivered 15x business growth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Angel investor: Health, AI, Travel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12+ years tech leadership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54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Vinay Kumar Kovvuri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Calibri"/>
              </a:defRPr>
            </a:pPr>
            <a:r>
              <a:t>Co-Founder &amp; DevByte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BITS Pilani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10+ years AI/ML product leadership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Shipped 20+ production AI systems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Leads DevByte platform development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Deep LangGraph expertise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291840" cy="256032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Raghu Gorrela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563EB"/>
                </a:solidFill>
                <a:latin typeface="Calibri"/>
              </a:defRPr>
            </a:pPr>
            <a:r>
              <a:t>Co-Founder, GrowthByte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BITS Pilani + XLRI Jamshedpur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Global client engagements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Go-to-market strategy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  <a:r>
              <a:t>Growth + marketing expertise</a:t>
            </a:r>
          </a:p>
          <a:p>
            <a:pPr>
              <a:spcAft>
                <a:spcPts val="480"/>
              </a:spcAft>
              <a:defRPr sz="1100" b="0">
                <a:solidFill>
                  <a:srgbClr val="E5E7EB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Company Facts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Founded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HQ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Bangalore (Indiranagar)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Silicon Valley + Bangalore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59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Bootstrapped (revenue-funded)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30+ engineers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4754880"/>
            <a:ext cx="1737360" cy="91440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66960" y="4800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Deployments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5029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20+ production systems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ThinkByte Technologies Private Limited  |  CIN: U62013KA2023PTC179630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Start with Proof. Scale with Confidence.</a:t>
            </a:r>
            <a:br/>
            <a:r>
              <a:t>The First Step Takes 30 Minutes.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463040"/>
            <a:ext cx="3840480" cy="0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7373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310896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Discovery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Investment: 30 minutes of your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Timeline: This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Project assessment + team design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Custom ROI projection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Architecture recommendations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Zero commitment required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783080"/>
            <a:ext cx="31089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Scope-Based POC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Investment: $5K - $10K investment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Timeline: 2-4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Working proof-of-concept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Architecture blueprint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Go / no-go recommendation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50% credited toward FTE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37360"/>
            <a:ext cx="3291840" cy="2926080"/>
          </a:xfrm>
          <a:prstGeom prst="roundRect">
            <a:avLst>
              <a:gd name="adj" fmla="val 5000"/>
            </a:avLst>
          </a:prstGeom>
          <a:solidFill>
            <a:srgbClr val="11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783080"/>
            <a:ext cx="31089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Managed AI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Investment: $5,500 - $6,500/mo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5E7EB"/>
                </a:solidFill>
                <a:latin typeface="Calibri"/>
              </a:defRPr>
            </a:pPr>
            <a:r>
              <a:t>Timeline: Start in 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260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Dedicated 3-engineer team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PM + Tech Lead + Architect included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2x speed guarantee or 15% refund</a:t>
            </a:r>
          </a:p>
          <a:p>
            <a:pPr>
              <a:spcAft>
                <a:spcPts val="480"/>
              </a:spcAft>
              <a:defRPr sz="1200" b="0">
                <a:solidFill>
                  <a:srgbClr val="E5E7EB"/>
                </a:solidFill>
                <a:latin typeface="Calibri"/>
              </a:defRPr>
            </a:pPr>
            <a:r>
              <a:t>  12-month price lock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93776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15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83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Calibri"/>
              </a:defRPr>
            </a:pPr>
            <a:r>
              <a:t>BUILT-IN RISK MITIGATION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257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2x Faster or 15% Refund   |   7-Day Replacement SLA   |   12-Month Price Lock   |   100% IP Ownership   |   Standard 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thinkbyte.ai   |   linkedin.com/company/thinkbyte.ai   |   Schedule a call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